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lang="es-ES" sz="4400" b="0" u="none" strike="noStrike">
                <a:solidFill>
                  <a:srgbClr val="000000"/>
                </a:solidFill>
                <a:effectLst/>
                <a:uFillTx/>
                <a:latin typeface="Arial"/>
              </a:rPr>
              <a:t>Pulse para desplazar la diapositiva</a:t>
            </a:r>
            <a:endParaRPr lang="es-ES" sz="4400" b="0" u="none" strike="noStrik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73381EC5-FF20-4913-8C82-FE4CD641799B}"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sldImg"/>
          </p:nvPr>
        </p:nvSpPr>
        <p:spPr>
          <a:xfrm>
            <a:off x="685800" y="1143000"/>
            <a:ext cx="5485680" cy="3085560"/>
          </a:xfrm>
          <a:prstGeom prst="rect">
            <a:avLst/>
          </a:prstGeom>
          <a:ln w="0">
            <a:noFill/>
          </a:ln>
        </p:spPr>
      </p:sp>
      <p:sp>
        <p:nvSpPr>
          <p:cNvPr id="58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583"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5CA66142-161C-433A-BE75-65E52FFCD278}"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sldImg"/>
          </p:nvPr>
        </p:nvSpPr>
        <p:spPr>
          <a:xfrm>
            <a:off x="685800" y="1143000"/>
            <a:ext cx="5485680" cy="3085560"/>
          </a:xfrm>
          <a:prstGeom prst="rect">
            <a:avLst/>
          </a:prstGeom>
          <a:ln w="0">
            <a:noFill/>
          </a:ln>
        </p:spPr>
      </p:sp>
      <p:sp>
        <p:nvSpPr>
          <p:cNvPr id="58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586"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7BE91D25-2AC1-4886-81D5-59F68F2F3749}"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sldImg"/>
          </p:nvPr>
        </p:nvSpPr>
        <p:spPr>
          <a:xfrm>
            <a:off x="685800" y="1143000"/>
            <a:ext cx="5485680" cy="3085560"/>
          </a:xfrm>
          <a:prstGeom prst="rect">
            <a:avLst/>
          </a:prstGeom>
          <a:ln w="0">
            <a:noFill/>
          </a:ln>
        </p:spPr>
      </p:sp>
      <p:sp>
        <p:nvSpPr>
          <p:cNvPr id="58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589"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AB1CFDD2-DD3E-4D6C-B387-1B86C02EEB94}"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PlaceHolder 1"/>
          <p:cNvSpPr>
            <a:spLocks noGrp="1"/>
          </p:cNvSpPr>
          <p:nvPr>
            <p:ph type="sldImg"/>
          </p:nvPr>
        </p:nvSpPr>
        <p:spPr>
          <a:xfrm>
            <a:off x="685800" y="1143000"/>
            <a:ext cx="5485680" cy="3085560"/>
          </a:xfrm>
          <a:prstGeom prst="rect">
            <a:avLst/>
          </a:prstGeom>
          <a:ln w="0">
            <a:noFill/>
          </a:ln>
        </p:spPr>
      </p:sp>
      <p:sp>
        <p:nvSpPr>
          <p:cNvPr id="59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592"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36A8067D-1D00-4609-BED9-30E5574B7F33}"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sldImg"/>
          </p:nvPr>
        </p:nvSpPr>
        <p:spPr>
          <a:xfrm>
            <a:off x="685800" y="1143000"/>
            <a:ext cx="5485680" cy="3085560"/>
          </a:xfrm>
          <a:prstGeom prst="rect">
            <a:avLst/>
          </a:prstGeom>
          <a:ln w="0">
            <a:noFill/>
          </a:ln>
        </p:spPr>
      </p:sp>
      <p:sp>
        <p:nvSpPr>
          <p:cNvPr id="59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595"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91572568-6D78-43EF-B1BD-81C63B33BADA}"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PlaceHolder 1"/>
          <p:cNvSpPr>
            <a:spLocks noGrp="1"/>
          </p:cNvSpPr>
          <p:nvPr>
            <p:ph type="sldImg"/>
          </p:nvPr>
        </p:nvSpPr>
        <p:spPr>
          <a:xfrm>
            <a:off x="685800" y="1143000"/>
            <a:ext cx="5485680" cy="3085560"/>
          </a:xfrm>
          <a:prstGeom prst="rect">
            <a:avLst/>
          </a:prstGeom>
          <a:ln w="0">
            <a:noFill/>
          </a:ln>
        </p:spPr>
      </p:sp>
      <p:sp>
        <p:nvSpPr>
          <p:cNvPr id="59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598"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078946C3-B844-4D69-A342-AC492B9076F3}"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PlaceHolder 1"/>
          <p:cNvSpPr>
            <a:spLocks noGrp="1"/>
          </p:cNvSpPr>
          <p:nvPr>
            <p:ph type="sldImg"/>
          </p:nvPr>
        </p:nvSpPr>
        <p:spPr>
          <a:xfrm>
            <a:off x="685800" y="1143000"/>
            <a:ext cx="5485680" cy="3085560"/>
          </a:xfrm>
          <a:prstGeom prst="rect">
            <a:avLst/>
          </a:prstGeom>
          <a:ln w="0">
            <a:noFill/>
          </a:ln>
        </p:spPr>
      </p:sp>
      <p:sp>
        <p:nvSpPr>
          <p:cNvPr id="60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01"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937CC8F9-0174-474E-8D5A-EFEDAE8C27B5}"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PlaceHolder 1"/>
          <p:cNvSpPr>
            <a:spLocks noGrp="1"/>
          </p:cNvSpPr>
          <p:nvPr>
            <p:ph type="sldImg"/>
          </p:nvPr>
        </p:nvSpPr>
        <p:spPr>
          <a:xfrm>
            <a:off x="685800" y="1143000"/>
            <a:ext cx="5485680" cy="3085560"/>
          </a:xfrm>
          <a:prstGeom prst="rect">
            <a:avLst/>
          </a:prstGeom>
          <a:ln w="0">
            <a:noFill/>
          </a:ln>
        </p:spPr>
      </p:sp>
      <p:sp>
        <p:nvSpPr>
          <p:cNvPr id="60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04"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C858E57A-E037-47AD-B886-65162CE13264}"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5" name="PlaceHolder 1"/>
          <p:cNvSpPr>
            <a:spLocks noGrp="1"/>
          </p:cNvSpPr>
          <p:nvPr>
            <p:ph type="sldImg"/>
          </p:nvPr>
        </p:nvSpPr>
        <p:spPr>
          <a:xfrm>
            <a:off x="685800" y="1143000"/>
            <a:ext cx="5485680" cy="3085560"/>
          </a:xfrm>
          <a:prstGeom prst="rect">
            <a:avLst/>
          </a:prstGeom>
          <a:ln w="0">
            <a:noFill/>
          </a:ln>
        </p:spPr>
      </p:sp>
      <p:sp>
        <p:nvSpPr>
          <p:cNvPr id="60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07"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D9AB8D6E-CB32-4D3E-94C4-494BCB932EB4}"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8" name="PlaceHolder 1"/>
          <p:cNvSpPr>
            <a:spLocks noGrp="1"/>
          </p:cNvSpPr>
          <p:nvPr>
            <p:ph type="sldImg"/>
          </p:nvPr>
        </p:nvSpPr>
        <p:spPr>
          <a:xfrm>
            <a:off x="685800" y="1143000"/>
            <a:ext cx="5485680" cy="3085560"/>
          </a:xfrm>
          <a:prstGeom prst="rect">
            <a:avLst/>
          </a:prstGeom>
          <a:ln w="0">
            <a:noFill/>
          </a:ln>
        </p:spPr>
      </p:sp>
      <p:sp>
        <p:nvSpPr>
          <p:cNvPr id="60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10"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4766E915-F2A7-4749-930F-B914F7A1A6AB}"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sldImg"/>
          </p:nvPr>
        </p:nvSpPr>
        <p:spPr>
          <a:xfrm>
            <a:off x="685800" y="1143000"/>
            <a:ext cx="5485680" cy="3085560"/>
          </a:xfrm>
          <a:prstGeom prst="rect">
            <a:avLst/>
          </a:prstGeom>
          <a:ln w="0">
            <a:noFill/>
          </a:ln>
        </p:spPr>
      </p:sp>
      <p:sp>
        <p:nvSpPr>
          <p:cNvPr id="61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13"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43406C0A-B79B-48DC-8CA1-4421511B793D}"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sldImg"/>
          </p:nvPr>
        </p:nvSpPr>
        <p:spPr>
          <a:xfrm>
            <a:off x="685800" y="1143000"/>
            <a:ext cx="5485680" cy="3085560"/>
          </a:xfrm>
          <a:prstGeom prst="rect">
            <a:avLst/>
          </a:prstGeom>
          <a:ln w="0">
            <a:noFill/>
          </a:ln>
        </p:spPr>
      </p:sp>
      <p:sp>
        <p:nvSpPr>
          <p:cNvPr id="61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16"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B5F9938D-A8C4-4F0C-A7E4-33FAA584E4E3}"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685800" y="1143000"/>
            <a:ext cx="5485680" cy="3085560"/>
          </a:xfrm>
          <a:prstGeom prst="rect">
            <a:avLst/>
          </a:prstGeom>
          <a:ln w="0">
            <a:noFill/>
          </a:ln>
        </p:spPr>
      </p:sp>
      <p:sp>
        <p:nvSpPr>
          <p:cNvPr id="61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19"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274E0733-0B75-4A7D-AE4A-9F8EF954D3CB}"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PlaceHolder 1"/>
          <p:cNvSpPr>
            <a:spLocks noGrp="1"/>
          </p:cNvSpPr>
          <p:nvPr>
            <p:ph type="sldImg"/>
          </p:nvPr>
        </p:nvSpPr>
        <p:spPr>
          <a:xfrm>
            <a:off x="685800" y="1143000"/>
            <a:ext cx="5485680" cy="3085560"/>
          </a:xfrm>
          <a:prstGeom prst="rect">
            <a:avLst/>
          </a:prstGeom>
          <a:ln w="0">
            <a:noFill/>
          </a:ln>
        </p:spPr>
      </p:sp>
      <p:sp>
        <p:nvSpPr>
          <p:cNvPr id="62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22"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251731DC-7449-4D9D-90B0-EF4340FD49A1}"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685800" y="1143000"/>
            <a:ext cx="5485680" cy="3085560"/>
          </a:xfrm>
          <a:prstGeom prst="rect">
            <a:avLst/>
          </a:prstGeom>
          <a:ln w="0">
            <a:noFill/>
          </a:ln>
        </p:spPr>
      </p:sp>
      <p:sp>
        <p:nvSpPr>
          <p:cNvPr id="62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25"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8418FAE5-9147-402C-BA38-40D0A88B3810}"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sldImg"/>
          </p:nvPr>
        </p:nvSpPr>
        <p:spPr>
          <a:xfrm>
            <a:off x="685800" y="1143000"/>
            <a:ext cx="5485680" cy="3085560"/>
          </a:xfrm>
          <a:prstGeom prst="rect">
            <a:avLst/>
          </a:prstGeom>
          <a:ln w="0">
            <a:noFill/>
          </a:ln>
        </p:spPr>
      </p:sp>
      <p:sp>
        <p:nvSpPr>
          <p:cNvPr id="62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28"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B5A64E8D-6ACE-4E9C-998E-A32D1760E0CD}"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685800" y="1143000"/>
            <a:ext cx="5485680" cy="3085560"/>
          </a:xfrm>
          <a:prstGeom prst="rect">
            <a:avLst/>
          </a:prstGeom>
          <a:ln w="0">
            <a:noFill/>
          </a:ln>
        </p:spPr>
      </p:sp>
      <p:sp>
        <p:nvSpPr>
          <p:cNvPr id="63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s-ES" sz="1800" b="0" u="none" strike="noStrike">
              <a:solidFill>
                <a:srgbClr val="000000"/>
              </a:solidFill>
              <a:effectLst/>
              <a:uFillTx/>
              <a:latin typeface="Arial"/>
            </a:endParaRPr>
          </a:p>
        </p:txBody>
      </p:sp>
      <p:sp>
        <p:nvSpPr>
          <p:cNvPr id="631" name="PlaceHolder 3"/>
          <p:cNvSpPr>
            <a:spLocks noGrp="1"/>
          </p:cNvSpPr>
          <p:nvPr>
            <p:ph type="sldNum" idx="2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lang="en-US" sz="1200" b="0" u="none" strike="noStrike">
                <a:solidFill>
                  <a:schemeClr val="dk1"/>
                </a:solidFill>
                <a:effectLst/>
                <a:uFillTx/>
                <a:latin typeface="+mn-lt"/>
                <a:ea typeface="+mn-ea"/>
              </a:defRPr>
            </a:lvl1pPr>
          </a:lstStyle>
          <a:p>
            <a:pPr indent="0" algn="r" defTabSz="914400">
              <a:lnSpc>
                <a:spcPct val="100000"/>
              </a:lnSpc>
              <a:buNone/>
              <a:tabLst>
                <a:tab algn="l" pos="0"/>
              </a:tabLst>
            </a:pPr>
            <a:fld id="{70DE33C0-073D-437D-8243-DDBAE79AED38}" type="slidenum">
              <a:rPr lang="en-US" sz="1200" b="0" u="none" strike="noStrike">
                <a:solidFill>
                  <a:schemeClr val="dk1"/>
                </a:solidFill>
                <a:effectLst/>
                <a:uFillTx/>
                <a:latin typeface="+mn-lt"/>
                <a:ea typeface="+mn-ea"/>
              </a:rPr>
              <a:t>&lt;número&gt;</a:t>
            </a:fld>
            <a:endParaRPr lang="es-E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lang="es-ES" sz="4400" b="0" u="none" strike="noStrike">
                <a:solidFill>
                  <a:srgbClr val="000000"/>
                </a:solidFill>
                <a:effectLst/>
                <a:uFillTx/>
                <a:latin typeface="Arial"/>
              </a:rPr>
              <a:t>Pulse para editar el formato del texto de título</a:t>
            </a:r>
            <a:endParaRPr lang="es-ES" sz="4400" b="0" u="none" strike="noStrike">
              <a:solidFill>
                <a:srgbClr val="000000"/>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0" name="Shape 0"/>
          <p:cNvSpPr/>
          <p:nvPr/>
        </p:nvSpPr>
        <p:spPr>
          <a:xfrm>
            <a:off x="0" y="0"/>
            <a:ext cx="319320" cy="51429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1" name="Shape 1"/>
          <p:cNvSpPr/>
          <p:nvPr/>
        </p:nvSpPr>
        <p:spPr>
          <a:xfrm>
            <a:off x="0" y="0"/>
            <a:ext cx="9143280" cy="72360"/>
          </a:xfrm>
          <a:prstGeom prst="rect">
            <a:avLst/>
          </a:prstGeom>
          <a:solidFill>
            <a:srgbClr val="1e88e5"/>
          </a:solidFill>
          <a:ln w="12700">
            <a:solidFill>
              <a:srgbClr val="1e88e5"/>
            </a:solidFill>
            <a:round/>
          </a:ln>
        </p:spPr>
        <p:style>
          <a:lnRef idx="0"/>
          <a:fillRef idx="0"/>
          <a:effectRef idx="0"/>
          <a:fontRef idx="minor"/>
        </p:style>
        <p:txBody>
          <a:bodyPr lIns="90000" rIns="90000" tIns="28080" bIns="28080" anchor="t">
            <a:noAutofit/>
          </a:bodyPr>
          <a:p>
            <a:pPr>
              <a:lnSpc>
                <a:spcPct val="100000"/>
              </a:lnSpc>
            </a:pPr>
            <a:endParaRPr lang="es-ES" sz="1800" b="0" u="none" strike="noStrike">
              <a:solidFill>
                <a:srgbClr val="ffffff"/>
              </a:solidFill>
              <a:effectLst/>
              <a:uFillTx/>
              <a:latin typeface="Arial"/>
            </a:endParaRPr>
          </a:p>
        </p:txBody>
      </p:sp>
      <p:sp>
        <p:nvSpPr>
          <p:cNvPr id="12" name="Shape 2"/>
          <p:cNvSpPr/>
          <p:nvPr/>
        </p:nvSpPr>
        <p:spPr>
          <a:xfrm>
            <a:off x="0" y="5070240"/>
            <a:ext cx="9143280" cy="72360"/>
          </a:xfrm>
          <a:prstGeom prst="rect">
            <a:avLst/>
          </a:prstGeom>
          <a:solidFill>
            <a:srgbClr val="1565c0"/>
          </a:solidFill>
          <a:ln w="12700">
            <a:solidFill>
              <a:srgbClr val="1565c0"/>
            </a:solidFill>
            <a:round/>
          </a:ln>
        </p:spPr>
        <p:style>
          <a:lnRef idx="0"/>
          <a:fillRef idx="0"/>
          <a:effectRef idx="0"/>
          <a:fontRef idx="minor"/>
        </p:style>
        <p:txBody>
          <a:bodyPr lIns="90000" rIns="90000" tIns="28080" bIns="28080" anchor="t">
            <a:noAutofit/>
          </a:bodyPr>
          <a:p>
            <a:pPr>
              <a:lnSpc>
                <a:spcPct val="100000"/>
              </a:lnSpc>
            </a:pPr>
            <a:endParaRPr lang="es-ES" sz="1800" b="0" u="none" strike="noStrike">
              <a:solidFill>
                <a:srgbClr val="ffffff"/>
              </a:solidFill>
              <a:effectLst/>
              <a:uFillTx/>
              <a:latin typeface="Arial"/>
            </a:endParaRPr>
          </a:p>
        </p:txBody>
      </p:sp>
      <p:sp>
        <p:nvSpPr>
          <p:cNvPr id="13" name="Shape 3"/>
          <p:cNvSpPr/>
          <p:nvPr/>
        </p:nvSpPr>
        <p:spPr>
          <a:xfrm>
            <a:off x="685800" y="914400"/>
            <a:ext cx="1005120" cy="1005120"/>
          </a:xfrm>
          <a:prstGeom prst="rect">
            <a:avLst/>
          </a:prstGeom>
          <a:solidFill>
            <a:srgbClr val="1565c0"/>
          </a:solidFill>
          <a:ln w="25400">
            <a:solidFill>
              <a:srgbClr val="1e88e5"/>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4" name="Text 4"/>
          <p:cNvSpPr/>
          <p:nvPr/>
        </p:nvSpPr>
        <p:spPr>
          <a:xfrm>
            <a:off x="685800" y="914400"/>
            <a:ext cx="100512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lang="es-ES" sz="1800" b="0" u="none" strike="noStrike">
              <a:solidFill>
                <a:srgbClr val="ffffff"/>
              </a:solidFill>
              <a:effectLst/>
              <a:uFillTx/>
              <a:latin typeface="Arial"/>
            </a:endParaRPr>
          </a:p>
        </p:txBody>
      </p:sp>
      <p:sp>
        <p:nvSpPr>
          <p:cNvPr id="15" name="Text 5"/>
          <p:cNvSpPr/>
          <p:nvPr/>
        </p:nvSpPr>
        <p:spPr>
          <a:xfrm>
            <a:off x="1828800" y="868680"/>
            <a:ext cx="685728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400" b="1" u="none" spc="99" strike="noStrike">
                <a:solidFill>
                  <a:srgbClr val="ffffff"/>
                </a:solidFill>
                <a:effectLst/>
                <a:uFillTx/>
                <a:latin typeface="Calibri"/>
                <a:ea typeface="Calibri"/>
              </a:rPr>
              <a:t>INFORME PROYECTO FINAL</a:t>
            </a:r>
            <a:endParaRPr lang="es-ES" sz="2400" b="0" u="none" strike="noStrike">
              <a:solidFill>
                <a:srgbClr val="ffffff"/>
              </a:solidFill>
              <a:effectLst/>
              <a:uFillTx/>
              <a:latin typeface="Arial"/>
            </a:endParaRPr>
          </a:p>
        </p:txBody>
      </p:sp>
      <p:sp>
        <p:nvSpPr>
          <p:cNvPr id="16" name="Text 6"/>
          <p:cNvSpPr/>
          <p:nvPr/>
        </p:nvSpPr>
        <p:spPr>
          <a:xfrm>
            <a:off x="1828800" y="1481400"/>
            <a:ext cx="68572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0" i="1" u="none" strike="noStrike">
                <a:solidFill>
                  <a:srgbClr val="cfd8dc"/>
                </a:solidFill>
                <a:effectLst/>
                <a:uFillTx/>
                <a:latin typeface="Calibri"/>
                <a:ea typeface="Calibri"/>
              </a:rPr>
              <a:t>Presentación Final</a:t>
            </a:r>
            <a:endParaRPr lang="es-ES" sz="1400" b="0" u="none" strike="noStrike">
              <a:solidFill>
                <a:srgbClr val="ffffff"/>
              </a:solidFill>
              <a:effectLst/>
              <a:uFillTx/>
              <a:latin typeface="Arial"/>
            </a:endParaRPr>
          </a:p>
        </p:txBody>
      </p:sp>
      <p:sp>
        <p:nvSpPr>
          <p:cNvPr id="17" name="Shape 7"/>
          <p:cNvSpPr/>
          <p:nvPr/>
        </p:nvSpPr>
        <p:spPr>
          <a:xfrm>
            <a:off x="1828800" y="1965960"/>
            <a:ext cx="6858000" cy="360"/>
          </a:xfrm>
          <a:prstGeom prst="line">
            <a:avLst/>
          </a:prstGeom>
          <a:ln w="1270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8" name="Text 8"/>
          <p:cNvSpPr/>
          <p:nvPr/>
        </p:nvSpPr>
        <p:spPr>
          <a:xfrm>
            <a:off x="1828800" y="2103120"/>
            <a:ext cx="20109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90a4ae"/>
                </a:solidFill>
                <a:effectLst/>
                <a:uFillTx/>
                <a:latin typeface="Calibri"/>
                <a:ea typeface="Calibri"/>
              </a:rPr>
              <a:t>Cliente:</a:t>
            </a:r>
            <a:endParaRPr lang="es-ES" sz="1100" b="0" u="none" strike="noStrike">
              <a:solidFill>
                <a:srgbClr val="ffffff"/>
              </a:solidFill>
              <a:effectLst/>
              <a:uFillTx/>
              <a:latin typeface="Arial"/>
            </a:endParaRPr>
          </a:p>
        </p:txBody>
      </p:sp>
      <p:sp>
        <p:nvSpPr>
          <p:cNvPr id="19" name="Text 9"/>
          <p:cNvSpPr/>
          <p:nvPr/>
        </p:nvSpPr>
        <p:spPr>
          <a:xfrm>
            <a:off x="3886200" y="2103120"/>
            <a:ext cx="4799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ffffff"/>
                </a:solidFill>
                <a:effectLst/>
                <a:uFillTx/>
                <a:latin typeface="Calibri"/>
                <a:ea typeface="Calibri"/>
              </a:rPr>
              <a:t>4Geeks</a:t>
            </a:r>
            <a:endParaRPr lang="es-ES" sz="1100" b="0" u="none" strike="noStrike">
              <a:solidFill>
                <a:srgbClr val="ffffff"/>
              </a:solidFill>
              <a:effectLst/>
              <a:uFillTx/>
              <a:latin typeface="Arial"/>
            </a:endParaRPr>
          </a:p>
        </p:txBody>
      </p:sp>
      <p:sp>
        <p:nvSpPr>
          <p:cNvPr id="20" name="Text 10"/>
          <p:cNvSpPr/>
          <p:nvPr/>
        </p:nvSpPr>
        <p:spPr>
          <a:xfrm>
            <a:off x="1828800" y="2395800"/>
            <a:ext cx="20109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90a4ae"/>
                </a:solidFill>
                <a:effectLst/>
                <a:uFillTx/>
                <a:latin typeface="Calibri"/>
                <a:ea typeface="Calibri"/>
              </a:rPr>
              <a:t>Proyecto:</a:t>
            </a:r>
            <a:endParaRPr lang="es-ES" sz="1100" b="0" u="none" strike="noStrike">
              <a:solidFill>
                <a:srgbClr val="ffffff"/>
              </a:solidFill>
              <a:effectLst/>
              <a:uFillTx/>
              <a:latin typeface="Arial"/>
            </a:endParaRPr>
          </a:p>
        </p:txBody>
      </p:sp>
      <p:sp>
        <p:nvSpPr>
          <p:cNvPr id="21" name="Text 11"/>
          <p:cNvSpPr/>
          <p:nvPr/>
        </p:nvSpPr>
        <p:spPr>
          <a:xfrm>
            <a:off x="3886200" y="2395800"/>
            <a:ext cx="4799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ffffff"/>
                </a:solidFill>
                <a:effectLst/>
                <a:uFillTx/>
                <a:latin typeface="Calibri"/>
                <a:ea typeface="Calibri"/>
              </a:rPr>
              <a:t>Análisis Forense · Pentesting · Hardening</a:t>
            </a:r>
            <a:endParaRPr lang="es-ES" sz="1100" b="0" u="none" strike="noStrike">
              <a:solidFill>
                <a:srgbClr val="ffffff"/>
              </a:solidFill>
              <a:effectLst/>
              <a:uFillTx/>
              <a:latin typeface="Arial"/>
            </a:endParaRPr>
          </a:p>
        </p:txBody>
      </p:sp>
      <p:sp>
        <p:nvSpPr>
          <p:cNvPr id="22" name="Text 12"/>
          <p:cNvSpPr/>
          <p:nvPr/>
        </p:nvSpPr>
        <p:spPr>
          <a:xfrm>
            <a:off x="1828800" y="2688480"/>
            <a:ext cx="20109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90a4ae"/>
                </a:solidFill>
                <a:effectLst/>
                <a:uFillTx/>
                <a:latin typeface="Calibri"/>
                <a:ea typeface="Calibri"/>
              </a:rPr>
              <a:t>Fecha de ejecución:</a:t>
            </a:r>
            <a:endParaRPr lang="es-ES" sz="1100" b="0" u="none" strike="noStrike">
              <a:solidFill>
                <a:srgbClr val="ffffff"/>
              </a:solidFill>
              <a:effectLst/>
              <a:uFillTx/>
              <a:latin typeface="Arial"/>
            </a:endParaRPr>
          </a:p>
        </p:txBody>
      </p:sp>
      <p:sp>
        <p:nvSpPr>
          <p:cNvPr id="23" name="Text 13"/>
          <p:cNvSpPr/>
          <p:nvPr/>
        </p:nvSpPr>
        <p:spPr>
          <a:xfrm>
            <a:off x="3886200" y="2688480"/>
            <a:ext cx="4799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ffffff"/>
                </a:solidFill>
                <a:effectLst/>
                <a:uFillTx/>
                <a:latin typeface="Calibri"/>
                <a:ea typeface="Calibri"/>
              </a:rPr>
              <a:t>7 de febrero de 2026</a:t>
            </a:r>
            <a:endParaRPr lang="es-ES" sz="1100" b="0" u="none" strike="noStrike">
              <a:solidFill>
                <a:srgbClr val="ffffff"/>
              </a:solidFill>
              <a:effectLst/>
              <a:uFillTx/>
              <a:latin typeface="Arial"/>
            </a:endParaRPr>
          </a:p>
        </p:txBody>
      </p:sp>
      <p:sp>
        <p:nvSpPr>
          <p:cNvPr id="24" name="Text 14"/>
          <p:cNvSpPr/>
          <p:nvPr/>
        </p:nvSpPr>
        <p:spPr>
          <a:xfrm>
            <a:off x="1828800" y="2980800"/>
            <a:ext cx="20109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90a4ae"/>
                </a:solidFill>
                <a:effectLst/>
                <a:uFillTx/>
                <a:latin typeface="Calibri"/>
                <a:ea typeface="Calibri"/>
              </a:rPr>
              <a:t>Fecha del informe:</a:t>
            </a:r>
            <a:endParaRPr lang="es-ES" sz="1100" b="0" u="none" strike="noStrike">
              <a:solidFill>
                <a:srgbClr val="ffffff"/>
              </a:solidFill>
              <a:effectLst/>
              <a:uFillTx/>
              <a:latin typeface="Arial"/>
            </a:endParaRPr>
          </a:p>
        </p:txBody>
      </p:sp>
      <p:sp>
        <p:nvSpPr>
          <p:cNvPr id="25" name="Text 15"/>
          <p:cNvSpPr/>
          <p:nvPr/>
        </p:nvSpPr>
        <p:spPr>
          <a:xfrm>
            <a:off x="3886200" y="2980800"/>
            <a:ext cx="4799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ffffff"/>
                </a:solidFill>
                <a:effectLst/>
                <a:uFillTx/>
                <a:latin typeface="Calibri"/>
                <a:ea typeface="Calibri"/>
              </a:rPr>
              <a:t>9 – 16 de febrero de 2026</a:t>
            </a:r>
            <a:endParaRPr lang="es-ES" sz="1100" b="0" u="none" strike="noStrike">
              <a:solidFill>
                <a:srgbClr val="ffffff"/>
              </a:solidFill>
              <a:effectLst/>
              <a:uFillTx/>
              <a:latin typeface="Arial"/>
            </a:endParaRPr>
          </a:p>
        </p:txBody>
      </p:sp>
      <p:sp>
        <p:nvSpPr>
          <p:cNvPr id="26" name="Text 16"/>
          <p:cNvSpPr/>
          <p:nvPr/>
        </p:nvSpPr>
        <p:spPr>
          <a:xfrm>
            <a:off x="1828800" y="3273480"/>
            <a:ext cx="201096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90a4ae"/>
                </a:solidFill>
                <a:effectLst/>
                <a:uFillTx/>
                <a:latin typeface="Calibri"/>
                <a:ea typeface="Calibri"/>
              </a:rPr>
              <a:t>Elaborado por:</a:t>
            </a:r>
            <a:endParaRPr lang="es-ES" sz="1100" b="0" u="none" strike="noStrike">
              <a:solidFill>
                <a:srgbClr val="ffffff"/>
              </a:solidFill>
              <a:effectLst/>
              <a:uFillTx/>
              <a:latin typeface="Arial"/>
            </a:endParaRPr>
          </a:p>
        </p:txBody>
      </p:sp>
      <p:sp>
        <p:nvSpPr>
          <p:cNvPr id="27" name="Text 17"/>
          <p:cNvSpPr/>
          <p:nvPr/>
        </p:nvSpPr>
        <p:spPr>
          <a:xfrm>
            <a:off x="3886200" y="3273480"/>
            <a:ext cx="47998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ffffff"/>
                </a:solidFill>
                <a:effectLst/>
                <a:uFillTx/>
                <a:latin typeface="Calibri"/>
                <a:ea typeface="Calibri"/>
              </a:rPr>
              <a:t>Raúl Molina Villalba</a:t>
            </a:r>
            <a:endParaRPr lang="es-ES" sz="1100" b="0" u="none" strike="noStrike">
              <a:solidFill>
                <a:srgbClr val="ffffff"/>
              </a:solidFill>
              <a:effectLst/>
              <a:uFillTx/>
              <a:latin typeface="Arial"/>
            </a:endParaRPr>
          </a:p>
        </p:txBody>
      </p:sp>
      <p:sp>
        <p:nvSpPr>
          <p:cNvPr id="28" name="Text 18"/>
          <p:cNvSpPr/>
          <p:nvPr/>
        </p:nvSpPr>
        <p:spPr>
          <a:xfrm>
            <a:off x="1828800" y="4572000"/>
            <a:ext cx="685728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pc="400" strike="noStrike">
                <a:solidFill>
                  <a:srgbClr val="c62828"/>
                </a:solidFill>
                <a:effectLst/>
                <a:uFillTx/>
                <a:latin typeface="Calibri"/>
                <a:ea typeface="Calibri"/>
              </a:rPr>
              <a:t>CONFIDENCIAL</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9"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30"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AGENDA DE LA PRESENTACIÓN</a:t>
            </a:r>
            <a:endParaRPr lang="es-ES" sz="900" b="0" u="none" strike="noStrike">
              <a:solidFill>
                <a:srgbClr val="ffffff"/>
              </a:solidFill>
              <a:effectLst/>
              <a:uFillTx/>
              <a:latin typeface="Arial"/>
            </a:endParaRPr>
          </a:p>
        </p:txBody>
      </p:sp>
      <p:sp>
        <p:nvSpPr>
          <p:cNvPr id="31"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Estructura de la Presentación</a:t>
            </a:r>
            <a:endParaRPr lang="es-ES" sz="2800" b="0" u="none" strike="noStrike">
              <a:solidFill>
                <a:srgbClr val="ffffff"/>
              </a:solidFill>
              <a:effectLst/>
              <a:uFillTx/>
              <a:latin typeface="Arial"/>
            </a:endParaRPr>
          </a:p>
        </p:txBody>
      </p:sp>
      <p:sp>
        <p:nvSpPr>
          <p:cNvPr id="32"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33"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2 / 17</a:t>
            </a:r>
            <a:endParaRPr lang="es-ES" sz="900" b="0" u="none" strike="noStrike">
              <a:solidFill>
                <a:srgbClr val="ffffff"/>
              </a:solidFill>
              <a:effectLst/>
              <a:uFillTx/>
              <a:latin typeface="Arial"/>
            </a:endParaRPr>
          </a:p>
        </p:txBody>
      </p:sp>
      <p:sp>
        <p:nvSpPr>
          <p:cNvPr id="34" name="Shape 5"/>
          <p:cNvSpPr/>
          <p:nvPr/>
        </p:nvSpPr>
        <p:spPr>
          <a:xfrm>
            <a:off x="411480" y="132588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5" name="Shape 6"/>
          <p:cNvSpPr/>
          <p:nvPr/>
        </p:nvSpPr>
        <p:spPr>
          <a:xfrm>
            <a:off x="411480" y="132588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6" name="Text 7"/>
          <p:cNvSpPr/>
          <p:nvPr/>
        </p:nvSpPr>
        <p:spPr>
          <a:xfrm>
            <a:off x="411480" y="132588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01</a:t>
            </a:r>
            <a:endParaRPr lang="es-ES" sz="1400" b="0" u="none" strike="noStrike">
              <a:solidFill>
                <a:srgbClr val="ffffff"/>
              </a:solidFill>
              <a:effectLst/>
              <a:uFillTx/>
              <a:latin typeface="Arial"/>
            </a:endParaRPr>
          </a:p>
        </p:txBody>
      </p:sp>
      <p:sp>
        <p:nvSpPr>
          <p:cNvPr id="37" name="Text 8"/>
          <p:cNvSpPr/>
          <p:nvPr/>
        </p:nvSpPr>
        <p:spPr>
          <a:xfrm>
            <a:off x="1005840" y="139896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Resumen Ejecutivo</a:t>
            </a:r>
            <a:endParaRPr lang="es-ES" sz="1200" b="0" u="none" strike="noStrike">
              <a:solidFill>
                <a:srgbClr val="ffffff"/>
              </a:solidFill>
              <a:effectLst/>
              <a:uFillTx/>
              <a:latin typeface="Arial"/>
            </a:endParaRPr>
          </a:p>
        </p:txBody>
      </p:sp>
      <p:sp>
        <p:nvSpPr>
          <p:cNvPr id="38" name="Text 9"/>
          <p:cNvSpPr/>
          <p:nvPr/>
        </p:nvSpPr>
        <p:spPr>
          <a:xfrm>
            <a:off x="1005840" y="172836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Situación inicial y conclusiones clave</a:t>
            </a:r>
            <a:endParaRPr lang="es-ES" sz="1000" b="0" u="none" strike="noStrike">
              <a:solidFill>
                <a:srgbClr val="ffffff"/>
              </a:solidFill>
              <a:effectLst/>
              <a:uFillTx/>
              <a:latin typeface="Arial"/>
            </a:endParaRPr>
          </a:p>
        </p:txBody>
      </p:sp>
      <p:sp>
        <p:nvSpPr>
          <p:cNvPr id="39" name="Shape 10"/>
          <p:cNvSpPr/>
          <p:nvPr/>
        </p:nvSpPr>
        <p:spPr>
          <a:xfrm>
            <a:off x="411480" y="219456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0" name="Shape 11"/>
          <p:cNvSpPr/>
          <p:nvPr/>
        </p:nvSpPr>
        <p:spPr>
          <a:xfrm>
            <a:off x="411480" y="219456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1" name="Text 12"/>
          <p:cNvSpPr/>
          <p:nvPr/>
        </p:nvSpPr>
        <p:spPr>
          <a:xfrm>
            <a:off x="411480" y="219456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02</a:t>
            </a:r>
            <a:endParaRPr lang="es-ES" sz="1400" b="0" u="none" strike="noStrike">
              <a:solidFill>
                <a:srgbClr val="ffffff"/>
              </a:solidFill>
              <a:effectLst/>
              <a:uFillTx/>
              <a:latin typeface="Arial"/>
            </a:endParaRPr>
          </a:p>
        </p:txBody>
      </p:sp>
      <p:sp>
        <p:nvSpPr>
          <p:cNvPr id="42" name="Text 13"/>
          <p:cNvSpPr/>
          <p:nvPr/>
        </p:nvSpPr>
        <p:spPr>
          <a:xfrm>
            <a:off x="1005840" y="226764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Alcance del Análisis</a:t>
            </a:r>
            <a:endParaRPr lang="es-ES" sz="1200" b="0" u="none" strike="noStrike">
              <a:solidFill>
                <a:srgbClr val="ffffff"/>
              </a:solidFill>
              <a:effectLst/>
              <a:uFillTx/>
              <a:latin typeface="Arial"/>
            </a:endParaRPr>
          </a:p>
        </p:txBody>
      </p:sp>
      <p:sp>
        <p:nvSpPr>
          <p:cNvPr id="43" name="Text 14"/>
          <p:cNvSpPr/>
          <p:nvPr/>
        </p:nvSpPr>
        <p:spPr>
          <a:xfrm>
            <a:off x="1005840" y="259704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Las 3 fases del proyecto</a:t>
            </a:r>
            <a:endParaRPr lang="es-ES" sz="1000" b="0" u="none" strike="noStrike">
              <a:solidFill>
                <a:srgbClr val="ffffff"/>
              </a:solidFill>
              <a:effectLst/>
              <a:uFillTx/>
              <a:latin typeface="Arial"/>
            </a:endParaRPr>
          </a:p>
        </p:txBody>
      </p:sp>
      <p:sp>
        <p:nvSpPr>
          <p:cNvPr id="44" name="Shape 15"/>
          <p:cNvSpPr/>
          <p:nvPr/>
        </p:nvSpPr>
        <p:spPr>
          <a:xfrm>
            <a:off x="411480" y="306324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5" name="Shape 16"/>
          <p:cNvSpPr/>
          <p:nvPr/>
        </p:nvSpPr>
        <p:spPr>
          <a:xfrm>
            <a:off x="411480" y="306324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6" name="Text 17"/>
          <p:cNvSpPr/>
          <p:nvPr/>
        </p:nvSpPr>
        <p:spPr>
          <a:xfrm>
            <a:off x="411480" y="306324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03</a:t>
            </a:r>
            <a:endParaRPr lang="es-ES" sz="1400" b="0" u="none" strike="noStrike">
              <a:solidFill>
                <a:srgbClr val="ffffff"/>
              </a:solidFill>
              <a:effectLst/>
              <a:uFillTx/>
              <a:latin typeface="Arial"/>
            </a:endParaRPr>
          </a:p>
        </p:txBody>
      </p:sp>
      <p:sp>
        <p:nvSpPr>
          <p:cNvPr id="47" name="Text 18"/>
          <p:cNvSpPr/>
          <p:nvPr/>
        </p:nvSpPr>
        <p:spPr>
          <a:xfrm>
            <a:off x="1005840" y="313632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Fase 1 · Forense</a:t>
            </a:r>
            <a:endParaRPr lang="es-ES" sz="1200" b="0" u="none" strike="noStrike">
              <a:solidFill>
                <a:srgbClr val="ffffff"/>
              </a:solidFill>
              <a:effectLst/>
              <a:uFillTx/>
              <a:latin typeface="Arial"/>
            </a:endParaRPr>
          </a:p>
        </p:txBody>
      </p:sp>
      <p:sp>
        <p:nvSpPr>
          <p:cNvPr id="48" name="Text 19"/>
          <p:cNvSpPr/>
          <p:nvPr/>
        </p:nvSpPr>
        <p:spPr>
          <a:xfrm>
            <a:off x="1005840" y="346572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Hallazgos, vectores de ataque y evidencias</a:t>
            </a:r>
            <a:endParaRPr lang="es-ES" sz="1000" b="0" u="none" strike="noStrike">
              <a:solidFill>
                <a:srgbClr val="ffffff"/>
              </a:solidFill>
              <a:effectLst/>
              <a:uFillTx/>
              <a:latin typeface="Arial"/>
            </a:endParaRPr>
          </a:p>
        </p:txBody>
      </p:sp>
      <p:sp>
        <p:nvSpPr>
          <p:cNvPr id="49" name="Shape 20"/>
          <p:cNvSpPr/>
          <p:nvPr/>
        </p:nvSpPr>
        <p:spPr>
          <a:xfrm>
            <a:off x="411480" y="393192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0" name="Shape 21"/>
          <p:cNvSpPr/>
          <p:nvPr/>
        </p:nvSpPr>
        <p:spPr>
          <a:xfrm>
            <a:off x="411480" y="393192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1" name="Text 22"/>
          <p:cNvSpPr/>
          <p:nvPr/>
        </p:nvSpPr>
        <p:spPr>
          <a:xfrm>
            <a:off x="411480" y="393192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04</a:t>
            </a:r>
            <a:endParaRPr lang="es-ES" sz="1400" b="0" u="none" strike="noStrike">
              <a:solidFill>
                <a:srgbClr val="ffffff"/>
              </a:solidFill>
              <a:effectLst/>
              <a:uFillTx/>
              <a:latin typeface="Arial"/>
            </a:endParaRPr>
          </a:p>
        </p:txBody>
      </p:sp>
      <p:sp>
        <p:nvSpPr>
          <p:cNvPr id="52" name="Text 23"/>
          <p:cNvSpPr/>
          <p:nvPr/>
        </p:nvSpPr>
        <p:spPr>
          <a:xfrm>
            <a:off x="1005840" y="400500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Fase 2 · Pentesting</a:t>
            </a:r>
            <a:endParaRPr lang="es-ES" sz="1200" b="0" u="none" strike="noStrike">
              <a:solidFill>
                <a:srgbClr val="ffffff"/>
              </a:solidFill>
              <a:effectLst/>
              <a:uFillTx/>
              <a:latin typeface="Arial"/>
            </a:endParaRPr>
          </a:p>
        </p:txBody>
      </p:sp>
      <p:sp>
        <p:nvSpPr>
          <p:cNvPr id="53" name="Text 24"/>
          <p:cNvSpPr/>
          <p:nvPr/>
        </p:nvSpPr>
        <p:spPr>
          <a:xfrm>
            <a:off x="1005840" y="433440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Vulnerabilidades y explotación confirmada</a:t>
            </a:r>
            <a:endParaRPr lang="es-ES" sz="1000" b="0" u="none" strike="noStrike">
              <a:solidFill>
                <a:srgbClr val="ffffff"/>
              </a:solidFill>
              <a:effectLst/>
              <a:uFillTx/>
              <a:latin typeface="Arial"/>
            </a:endParaRPr>
          </a:p>
        </p:txBody>
      </p:sp>
      <p:sp>
        <p:nvSpPr>
          <p:cNvPr id="54" name="Shape 25"/>
          <p:cNvSpPr/>
          <p:nvPr/>
        </p:nvSpPr>
        <p:spPr>
          <a:xfrm>
            <a:off x="4800600" y="132588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5" name="Shape 26"/>
          <p:cNvSpPr/>
          <p:nvPr/>
        </p:nvSpPr>
        <p:spPr>
          <a:xfrm>
            <a:off x="4800600" y="132588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6" name="Text 27"/>
          <p:cNvSpPr/>
          <p:nvPr/>
        </p:nvSpPr>
        <p:spPr>
          <a:xfrm>
            <a:off x="4800600" y="132588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05</a:t>
            </a:r>
            <a:endParaRPr lang="es-ES" sz="1400" b="0" u="none" strike="noStrike">
              <a:solidFill>
                <a:srgbClr val="ffffff"/>
              </a:solidFill>
              <a:effectLst/>
              <a:uFillTx/>
              <a:latin typeface="Arial"/>
            </a:endParaRPr>
          </a:p>
        </p:txBody>
      </p:sp>
      <p:sp>
        <p:nvSpPr>
          <p:cNvPr id="57" name="Text 28"/>
          <p:cNvSpPr/>
          <p:nvPr/>
        </p:nvSpPr>
        <p:spPr>
          <a:xfrm>
            <a:off x="5394960" y="139896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Fase 3 · Hardening</a:t>
            </a:r>
            <a:endParaRPr lang="es-ES" sz="1200" b="0" u="none" strike="noStrike">
              <a:solidFill>
                <a:srgbClr val="ffffff"/>
              </a:solidFill>
              <a:effectLst/>
              <a:uFillTx/>
              <a:latin typeface="Arial"/>
            </a:endParaRPr>
          </a:p>
        </p:txBody>
      </p:sp>
      <p:sp>
        <p:nvSpPr>
          <p:cNvPr id="58" name="Text 29"/>
          <p:cNvSpPr/>
          <p:nvPr/>
        </p:nvSpPr>
        <p:spPr>
          <a:xfrm>
            <a:off x="5394960" y="172836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Medidas correctivas aplicadas</a:t>
            </a:r>
            <a:endParaRPr lang="es-ES" sz="1000" b="0" u="none" strike="noStrike">
              <a:solidFill>
                <a:srgbClr val="ffffff"/>
              </a:solidFill>
              <a:effectLst/>
              <a:uFillTx/>
              <a:latin typeface="Arial"/>
            </a:endParaRPr>
          </a:p>
        </p:txBody>
      </p:sp>
      <p:sp>
        <p:nvSpPr>
          <p:cNvPr id="59" name="Shape 30"/>
          <p:cNvSpPr/>
          <p:nvPr/>
        </p:nvSpPr>
        <p:spPr>
          <a:xfrm>
            <a:off x="4800600" y="219456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60" name="Shape 31"/>
          <p:cNvSpPr/>
          <p:nvPr/>
        </p:nvSpPr>
        <p:spPr>
          <a:xfrm>
            <a:off x="4800600" y="219456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61" name="Text 32"/>
          <p:cNvSpPr/>
          <p:nvPr/>
        </p:nvSpPr>
        <p:spPr>
          <a:xfrm>
            <a:off x="4800600" y="219456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06</a:t>
            </a:r>
            <a:endParaRPr lang="es-ES" sz="1400" b="0" u="none" strike="noStrike">
              <a:solidFill>
                <a:srgbClr val="ffffff"/>
              </a:solidFill>
              <a:effectLst/>
              <a:uFillTx/>
              <a:latin typeface="Arial"/>
            </a:endParaRPr>
          </a:p>
        </p:txBody>
      </p:sp>
      <p:sp>
        <p:nvSpPr>
          <p:cNvPr id="62" name="Text 33"/>
          <p:cNvSpPr/>
          <p:nvPr/>
        </p:nvSpPr>
        <p:spPr>
          <a:xfrm>
            <a:off x="5394960" y="226764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Marco GRC</a:t>
            </a:r>
            <a:endParaRPr lang="es-ES" sz="1200" b="0" u="none" strike="noStrike">
              <a:solidFill>
                <a:srgbClr val="ffffff"/>
              </a:solidFill>
              <a:effectLst/>
              <a:uFillTx/>
              <a:latin typeface="Arial"/>
            </a:endParaRPr>
          </a:p>
        </p:txBody>
      </p:sp>
      <p:sp>
        <p:nvSpPr>
          <p:cNvPr id="63" name="Text 34"/>
          <p:cNvSpPr/>
          <p:nvPr/>
        </p:nvSpPr>
        <p:spPr>
          <a:xfrm>
            <a:off x="5394960" y="259704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Gobernanza, riesgo y cumplimiento</a:t>
            </a:r>
            <a:endParaRPr lang="es-ES" sz="1000" b="0" u="none" strike="noStrike">
              <a:solidFill>
                <a:srgbClr val="ffffff"/>
              </a:solidFill>
              <a:effectLst/>
              <a:uFillTx/>
              <a:latin typeface="Arial"/>
            </a:endParaRPr>
          </a:p>
        </p:txBody>
      </p:sp>
      <p:sp>
        <p:nvSpPr>
          <p:cNvPr id="64" name="Shape 35"/>
          <p:cNvSpPr/>
          <p:nvPr/>
        </p:nvSpPr>
        <p:spPr>
          <a:xfrm>
            <a:off x="4800600" y="306324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65" name="Shape 36"/>
          <p:cNvSpPr/>
          <p:nvPr/>
        </p:nvSpPr>
        <p:spPr>
          <a:xfrm>
            <a:off x="4800600" y="306324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66" name="Text 37"/>
          <p:cNvSpPr/>
          <p:nvPr/>
        </p:nvSpPr>
        <p:spPr>
          <a:xfrm>
            <a:off x="4800600" y="306324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07</a:t>
            </a:r>
            <a:endParaRPr lang="es-ES" sz="1400" b="0" u="none" strike="noStrike">
              <a:solidFill>
                <a:srgbClr val="ffffff"/>
              </a:solidFill>
              <a:effectLst/>
              <a:uFillTx/>
              <a:latin typeface="Arial"/>
            </a:endParaRPr>
          </a:p>
        </p:txBody>
      </p:sp>
      <p:sp>
        <p:nvSpPr>
          <p:cNvPr id="67" name="Text 38"/>
          <p:cNvSpPr/>
          <p:nvPr/>
        </p:nvSpPr>
        <p:spPr>
          <a:xfrm>
            <a:off x="5394960" y="313632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Roadmap</a:t>
            </a:r>
            <a:endParaRPr lang="es-ES" sz="1200" b="0" u="none" strike="noStrike">
              <a:solidFill>
                <a:srgbClr val="ffffff"/>
              </a:solidFill>
              <a:effectLst/>
              <a:uFillTx/>
              <a:latin typeface="Arial"/>
            </a:endParaRPr>
          </a:p>
        </p:txBody>
      </p:sp>
      <p:sp>
        <p:nvSpPr>
          <p:cNvPr id="68" name="Text 39"/>
          <p:cNvSpPr/>
          <p:nvPr/>
        </p:nvSpPr>
        <p:spPr>
          <a:xfrm>
            <a:off x="5394960" y="346572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Plan estratégico recomendado</a:t>
            </a:r>
            <a:endParaRPr lang="es-ES" sz="1000" b="0" u="none" strike="noStrike">
              <a:solidFill>
                <a:srgbClr val="ffffff"/>
              </a:solidFill>
              <a:effectLst/>
              <a:uFillTx/>
              <a:latin typeface="Arial"/>
            </a:endParaRPr>
          </a:p>
        </p:txBody>
      </p:sp>
      <p:sp>
        <p:nvSpPr>
          <p:cNvPr id="69" name="Shape 40"/>
          <p:cNvSpPr/>
          <p:nvPr/>
        </p:nvSpPr>
        <p:spPr>
          <a:xfrm>
            <a:off x="4800600" y="3931920"/>
            <a:ext cx="4205520" cy="749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70" name="Shape 41"/>
          <p:cNvSpPr/>
          <p:nvPr/>
        </p:nvSpPr>
        <p:spPr>
          <a:xfrm>
            <a:off x="4800600" y="3931920"/>
            <a:ext cx="502200" cy="74916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71" name="Text 42"/>
          <p:cNvSpPr/>
          <p:nvPr/>
        </p:nvSpPr>
        <p:spPr>
          <a:xfrm>
            <a:off x="4800600" y="3931920"/>
            <a:ext cx="502200" cy="749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08</a:t>
            </a:r>
            <a:endParaRPr lang="es-ES" sz="1400" b="0" u="none" strike="noStrike">
              <a:solidFill>
                <a:srgbClr val="ffffff"/>
              </a:solidFill>
              <a:effectLst/>
              <a:uFillTx/>
              <a:latin typeface="Arial"/>
            </a:endParaRPr>
          </a:p>
        </p:txBody>
      </p:sp>
      <p:sp>
        <p:nvSpPr>
          <p:cNvPr id="72" name="Text 43"/>
          <p:cNvSpPr/>
          <p:nvPr/>
        </p:nvSpPr>
        <p:spPr>
          <a:xfrm>
            <a:off x="5394960" y="400500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Conclusiones</a:t>
            </a:r>
            <a:endParaRPr lang="es-ES" sz="1200" b="0" u="none" strike="noStrike">
              <a:solidFill>
                <a:srgbClr val="ffffff"/>
              </a:solidFill>
              <a:effectLst/>
              <a:uFillTx/>
              <a:latin typeface="Arial"/>
            </a:endParaRPr>
          </a:p>
        </p:txBody>
      </p:sp>
      <p:sp>
        <p:nvSpPr>
          <p:cNvPr id="73" name="Text 44"/>
          <p:cNvSpPr/>
          <p:nvPr/>
        </p:nvSpPr>
        <p:spPr>
          <a:xfrm>
            <a:off x="5394960" y="4334400"/>
            <a:ext cx="35197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Próximos pasos</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74"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75"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RESUMEN EJECUTIVO</a:t>
            </a:r>
            <a:endParaRPr lang="es-ES" sz="900" b="0" u="none" strike="noStrike">
              <a:solidFill>
                <a:srgbClr val="ffffff"/>
              </a:solidFill>
              <a:effectLst/>
              <a:uFillTx/>
              <a:latin typeface="Arial"/>
            </a:endParaRPr>
          </a:p>
        </p:txBody>
      </p:sp>
      <p:sp>
        <p:nvSpPr>
          <p:cNvPr id="76"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El Sistema Fue Comprometido Completamente</a:t>
            </a:r>
            <a:endParaRPr lang="es-ES" sz="2800" b="0" u="none" strike="noStrike">
              <a:solidFill>
                <a:srgbClr val="ffffff"/>
              </a:solidFill>
              <a:effectLst/>
              <a:uFillTx/>
              <a:latin typeface="Arial"/>
            </a:endParaRPr>
          </a:p>
        </p:txBody>
      </p:sp>
      <p:sp>
        <p:nvSpPr>
          <p:cNvPr id="77"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78"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3 / 17</a:t>
            </a:r>
            <a:endParaRPr lang="es-ES" sz="900" b="0" u="none" strike="noStrike">
              <a:solidFill>
                <a:srgbClr val="ffffff"/>
              </a:solidFill>
              <a:effectLst/>
              <a:uFillTx/>
              <a:latin typeface="Arial"/>
            </a:endParaRPr>
          </a:p>
        </p:txBody>
      </p:sp>
      <p:sp>
        <p:nvSpPr>
          <p:cNvPr id="79" name="Shape 5"/>
          <p:cNvSpPr/>
          <p:nvPr/>
        </p:nvSpPr>
        <p:spPr>
          <a:xfrm>
            <a:off x="411480" y="1417320"/>
            <a:ext cx="191952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80" name="Text 6"/>
          <p:cNvSpPr/>
          <p:nvPr/>
        </p:nvSpPr>
        <p:spPr>
          <a:xfrm>
            <a:off x="457200" y="1463040"/>
            <a:ext cx="18280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1e88e5"/>
                </a:solidFill>
                <a:effectLst/>
                <a:uFillTx/>
                <a:latin typeface="Calibri"/>
                <a:ea typeface="Calibri"/>
              </a:rPr>
              <a:t>3</a:t>
            </a:r>
            <a:endParaRPr lang="es-ES" sz="3200" b="0" u="none" strike="noStrike">
              <a:solidFill>
                <a:srgbClr val="ffffff"/>
              </a:solidFill>
              <a:effectLst/>
              <a:uFillTx/>
              <a:latin typeface="Arial"/>
            </a:endParaRPr>
          </a:p>
        </p:txBody>
      </p:sp>
      <p:sp>
        <p:nvSpPr>
          <p:cNvPr id="81" name="Text 7"/>
          <p:cNvSpPr/>
          <p:nvPr/>
        </p:nvSpPr>
        <p:spPr>
          <a:xfrm>
            <a:off x="457200" y="2011680"/>
            <a:ext cx="18280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Fases de análisis</a:t>
            </a:r>
            <a:endParaRPr lang="es-ES" sz="1000" b="0" u="none" strike="noStrike">
              <a:solidFill>
                <a:srgbClr val="ffffff"/>
              </a:solidFill>
              <a:effectLst/>
              <a:uFillTx/>
              <a:latin typeface="Arial"/>
            </a:endParaRPr>
          </a:p>
        </p:txBody>
      </p:sp>
      <p:sp>
        <p:nvSpPr>
          <p:cNvPr id="82" name="Shape 8"/>
          <p:cNvSpPr/>
          <p:nvPr/>
        </p:nvSpPr>
        <p:spPr>
          <a:xfrm>
            <a:off x="2468880" y="1417320"/>
            <a:ext cx="191952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83" name="Text 9"/>
          <p:cNvSpPr/>
          <p:nvPr/>
        </p:nvSpPr>
        <p:spPr>
          <a:xfrm>
            <a:off x="2514600" y="1463040"/>
            <a:ext cx="18280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ef5350"/>
                </a:solidFill>
                <a:effectLst/>
                <a:uFillTx/>
                <a:latin typeface="Calibri"/>
                <a:ea typeface="Calibri"/>
              </a:rPr>
              <a:t>4</a:t>
            </a:r>
            <a:endParaRPr lang="es-ES" sz="3200" b="0" u="none" strike="noStrike">
              <a:solidFill>
                <a:srgbClr val="ffffff"/>
              </a:solidFill>
              <a:effectLst/>
              <a:uFillTx/>
              <a:latin typeface="Arial"/>
            </a:endParaRPr>
          </a:p>
        </p:txBody>
      </p:sp>
      <p:sp>
        <p:nvSpPr>
          <p:cNvPr id="84" name="Text 10"/>
          <p:cNvSpPr/>
          <p:nvPr/>
        </p:nvSpPr>
        <p:spPr>
          <a:xfrm>
            <a:off x="2514600" y="2011680"/>
            <a:ext cx="18280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CVEs Críticos (9.8–10)</a:t>
            </a:r>
            <a:endParaRPr lang="es-ES" sz="1000" b="0" u="none" strike="noStrike">
              <a:solidFill>
                <a:srgbClr val="ffffff"/>
              </a:solidFill>
              <a:effectLst/>
              <a:uFillTx/>
              <a:latin typeface="Arial"/>
            </a:endParaRPr>
          </a:p>
        </p:txBody>
      </p:sp>
      <p:sp>
        <p:nvSpPr>
          <p:cNvPr id="85" name="Shape 11"/>
          <p:cNvSpPr/>
          <p:nvPr/>
        </p:nvSpPr>
        <p:spPr>
          <a:xfrm>
            <a:off x="4526280" y="1417320"/>
            <a:ext cx="191952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86" name="Text 12"/>
          <p:cNvSpPr/>
          <p:nvPr/>
        </p:nvSpPr>
        <p:spPr>
          <a:xfrm>
            <a:off x="4572000" y="1463040"/>
            <a:ext cx="18280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c62828"/>
                </a:solidFill>
                <a:effectLst/>
                <a:uFillTx/>
                <a:latin typeface="Calibri"/>
                <a:ea typeface="Calibri"/>
              </a:rPr>
              <a:t>100%</a:t>
            </a:r>
            <a:endParaRPr lang="es-ES" sz="3200" b="0" u="none" strike="noStrike">
              <a:solidFill>
                <a:srgbClr val="ffffff"/>
              </a:solidFill>
              <a:effectLst/>
              <a:uFillTx/>
              <a:latin typeface="Arial"/>
            </a:endParaRPr>
          </a:p>
        </p:txBody>
      </p:sp>
      <p:sp>
        <p:nvSpPr>
          <p:cNvPr id="87" name="Text 13"/>
          <p:cNvSpPr/>
          <p:nvPr/>
        </p:nvSpPr>
        <p:spPr>
          <a:xfrm>
            <a:off x="4572000" y="2011680"/>
            <a:ext cx="18280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Control del atacante</a:t>
            </a:r>
            <a:endParaRPr lang="es-ES" sz="1000" b="0" u="none" strike="noStrike">
              <a:solidFill>
                <a:srgbClr val="ffffff"/>
              </a:solidFill>
              <a:effectLst/>
              <a:uFillTx/>
              <a:latin typeface="Arial"/>
            </a:endParaRPr>
          </a:p>
        </p:txBody>
      </p:sp>
      <p:sp>
        <p:nvSpPr>
          <p:cNvPr id="88" name="Shape 14"/>
          <p:cNvSpPr/>
          <p:nvPr/>
        </p:nvSpPr>
        <p:spPr>
          <a:xfrm>
            <a:off x="6583680" y="1417320"/>
            <a:ext cx="210240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89" name="Text 15"/>
          <p:cNvSpPr/>
          <p:nvPr/>
        </p:nvSpPr>
        <p:spPr>
          <a:xfrm>
            <a:off x="6629400" y="1463040"/>
            <a:ext cx="201096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43a047"/>
                </a:solidFill>
                <a:effectLst/>
                <a:uFillTx/>
                <a:latin typeface="Calibri"/>
                <a:ea typeface="Calibri"/>
              </a:rPr>
              <a:t>BAJO</a:t>
            </a:r>
            <a:endParaRPr lang="es-ES" sz="3200" b="0" u="none" strike="noStrike">
              <a:solidFill>
                <a:srgbClr val="ffffff"/>
              </a:solidFill>
              <a:effectLst/>
              <a:uFillTx/>
              <a:latin typeface="Arial"/>
            </a:endParaRPr>
          </a:p>
        </p:txBody>
      </p:sp>
      <p:sp>
        <p:nvSpPr>
          <p:cNvPr id="90" name="Text 16"/>
          <p:cNvSpPr/>
          <p:nvPr/>
        </p:nvSpPr>
        <p:spPr>
          <a:xfrm>
            <a:off x="6629400" y="2011680"/>
            <a:ext cx="201096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Riesgo residual post-hardening</a:t>
            </a:r>
            <a:endParaRPr lang="es-ES" sz="1000" b="0" u="none" strike="noStrike">
              <a:solidFill>
                <a:srgbClr val="ffffff"/>
              </a:solidFill>
              <a:effectLst/>
              <a:uFillTx/>
              <a:latin typeface="Arial"/>
            </a:endParaRPr>
          </a:p>
        </p:txBody>
      </p:sp>
      <p:sp>
        <p:nvSpPr>
          <p:cNvPr id="91" name="Text 17"/>
          <p:cNvSpPr/>
          <p:nvPr/>
        </p:nvSpPr>
        <p:spPr>
          <a:xfrm>
            <a:off x="411480" y="2633400"/>
            <a:ext cx="8320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cfd8dc"/>
                </a:solidFill>
                <a:effectLst/>
                <a:uFillTx/>
                <a:latin typeface="Calibri"/>
                <a:ea typeface="Calibri"/>
              </a:rPr>
              <a:t>Posible secuencia del ataque:</a:t>
            </a:r>
            <a:endParaRPr lang="es-ES" sz="1200" b="0" u="none" strike="noStrike">
              <a:solidFill>
                <a:srgbClr val="ffffff"/>
              </a:solidFill>
              <a:effectLst/>
              <a:uFillTx/>
              <a:latin typeface="Arial"/>
            </a:endParaRPr>
          </a:p>
        </p:txBody>
      </p:sp>
      <p:sp>
        <p:nvSpPr>
          <p:cNvPr id="92" name="Shape 18"/>
          <p:cNvSpPr/>
          <p:nvPr/>
        </p:nvSpPr>
        <p:spPr>
          <a:xfrm>
            <a:off x="411480" y="2999160"/>
            <a:ext cx="1508040" cy="65772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93" name="Text 19"/>
          <p:cNvSpPr/>
          <p:nvPr/>
        </p:nvSpPr>
        <p:spPr>
          <a:xfrm>
            <a:off x="411480" y="2999160"/>
            <a:ext cx="150804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1</a:t>
            </a:r>
            <a:endParaRPr lang="es-ES" sz="1400" b="0" u="none" strike="noStrike">
              <a:solidFill>
                <a:srgbClr val="ffffff"/>
              </a:solidFill>
              <a:effectLst/>
              <a:uFillTx/>
              <a:latin typeface="Arial"/>
            </a:endParaRPr>
          </a:p>
        </p:txBody>
      </p:sp>
      <p:sp>
        <p:nvSpPr>
          <p:cNvPr id="94" name="Text 20"/>
          <p:cNvSpPr/>
          <p:nvPr/>
        </p:nvSpPr>
        <p:spPr>
          <a:xfrm>
            <a:off x="411480" y="3255120"/>
            <a:ext cx="150804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50" b="0" u="none" strike="noStrike">
                <a:solidFill>
                  <a:srgbClr val="ffffff"/>
                </a:solidFill>
                <a:effectLst/>
                <a:uFillTx/>
                <a:latin typeface="Calibri"/>
                <a:ea typeface="Calibri"/>
              </a:rPr>
              <a:t>Reconocimiento FTP</a:t>
            </a:r>
            <a:endParaRPr lang="es-ES" sz="950" b="0" u="none" strike="noStrike">
              <a:solidFill>
                <a:srgbClr val="ffffff"/>
              </a:solidFill>
              <a:effectLst/>
              <a:uFillTx/>
              <a:latin typeface="Arial"/>
            </a:endParaRPr>
          </a:p>
        </p:txBody>
      </p:sp>
      <p:sp>
        <p:nvSpPr>
          <p:cNvPr id="95" name="Text 21"/>
          <p:cNvSpPr/>
          <p:nvPr/>
        </p:nvSpPr>
        <p:spPr>
          <a:xfrm>
            <a:off x="1938600" y="3090600"/>
            <a:ext cx="1638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90a4ae"/>
                </a:solidFill>
                <a:effectLst/>
                <a:uFillTx/>
                <a:latin typeface="Calibri"/>
                <a:ea typeface="Calibri"/>
              </a:rPr>
              <a:t>→</a:t>
            </a:r>
            <a:endParaRPr lang="es-ES" sz="1600" b="0" u="none" strike="noStrike">
              <a:solidFill>
                <a:srgbClr val="ffffff"/>
              </a:solidFill>
              <a:effectLst/>
              <a:uFillTx/>
              <a:latin typeface="Arial"/>
            </a:endParaRPr>
          </a:p>
        </p:txBody>
      </p:sp>
      <p:sp>
        <p:nvSpPr>
          <p:cNvPr id="96" name="Shape 22"/>
          <p:cNvSpPr/>
          <p:nvPr/>
        </p:nvSpPr>
        <p:spPr>
          <a:xfrm>
            <a:off x="2103120" y="2999160"/>
            <a:ext cx="1508040" cy="6577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97" name="Text 23"/>
          <p:cNvSpPr/>
          <p:nvPr/>
        </p:nvSpPr>
        <p:spPr>
          <a:xfrm>
            <a:off x="2103120" y="2999160"/>
            <a:ext cx="150804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2</a:t>
            </a:r>
            <a:endParaRPr lang="es-ES" sz="1400" b="0" u="none" strike="noStrike">
              <a:solidFill>
                <a:srgbClr val="ffffff"/>
              </a:solidFill>
              <a:effectLst/>
              <a:uFillTx/>
              <a:latin typeface="Arial"/>
            </a:endParaRPr>
          </a:p>
        </p:txBody>
      </p:sp>
      <p:sp>
        <p:nvSpPr>
          <p:cNvPr id="98" name="Text 24"/>
          <p:cNvSpPr/>
          <p:nvPr/>
        </p:nvSpPr>
        <p:spPr>
          <a:xfrm>
            <a:off x="2103120" y="3255120"/>
            <a:ext cx="150804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50" b="0" u="none" strike="noStrike">
                <a:solidFill>
                  <a:srgbClr val="ffffff"/>
                </a:solidFill>
                <a:effectLst/>
                <a:uFillTx/>
                <a:latin typeface="Calibri"/>
                <a:ea typeface="Calibri"/>
              </a:rPr>
              <a:t>Fuerza bruta SSH</a:t>
            </a:r>
            <a:endParaRPr lang="es-ES" sz="950" b="0" u="none" strike="noStrike">
              <a:solidFill>
                <a:srgbClr val="ffffff"/>
              </a:solidFill>
              <a:effectLst/>
              <a:uFillTx/>
              <a:latin typeface="Arial"/>
            </a:endParaRPr>
          </a:p>
        </p:txBody>
      </p:sp>
      <p:sp>
        <p:nvSpPr>
          <p:cNvPr id="99" name="Text 25"/>
          <p:cNvSpPr/>
          <p:nvPr/>
        </p:nvSpPr>
        <p:spPr>
          <a:xfrm>
            <a:off x="3630240" y="3090600"/>
            <a:ext cx="1638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90a4ae"/>
                </a:solidFill>
                <a:effectLst/>
                <a:uFillTx/>
                <a:latin typeface="Calibri"/>
                <a:ea typeface="Calibri"/>
              </a:rPr>
              <a:t>→</a:t>
            </a:r>
            <a:endParaRPr lang="es-ES" sz="1600" b="0" u="none" strike="noStrike">
              <a:solidFill>
                <a:srgbClr val="ffffff"/>
              </a:solidFill>
              <a:effectLst/>
              <a:uFillTx/>
              <a:latin typeface="Arial"/>
            </a:endParaRPr>
          </a:p>
        </p:txBody>
      </p:sp>
      <p:sp>
        <p:nvSpPr>
          <p:cNvPr id="100" name="Shape 26"/>
          <p:cNvSpPr/>
          <p:nvPr/>
        </p:nvSpPr>
        <p:spPr>
          <a:xfrm>
            <a:off x="3794760" y="2999160"/>
            <a:ext cx="1508040" cy="6577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01" name="Text 27"/>
          <p:cNvSpPr/>
          <p:nvPr/>
        </p:nvSpPr>
        <p:spPr>
          <a:xfrm>
            <a:off x="3794760" y="2999160"/>
            <a:ext cx="150804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3</a:t>
            </a:r>
            <a:endParaRPr lang="es-ES" sz="1400" b="0" u="none" strike="noStrike">
              <a:solidFill>
                <a:srgbClr val="ffffff"/>
              </a:solidFill>
              <a:effectLst/>
              <a:uFillTx/>
              <a:latin typeface="Arial"/>
            </a:endParaRPr>
          </a:p>
        </p:txBody>
      </p:sp>
      <p:sp>
        <p:nvSpPr>
          <p:cNvPr id="102" name="Text 28"/>
          <p:cNvSpPr/>
          <p:nvPr/>
        </p:nvSpPr>
        <p:spPr>
          <a:xfrm>
            <a:off x="3794760" y="3255120"/>
            <a:ext cx="150804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50" b="0" u="none" strike="noStrike">
                <a:solidFill>
                  <a:srgbClr val="ffffff"/>
                </a:solidFill>
                <a:effectLst/>
                <a:uFillTx/>
                <a:latin typeface="Calibri"/>
                <a:ea typeface="Calibri"/>
              </a:rPr>
              <a:t>Acceso como 'debian'</a:t>
            </a:r>
            <a:endParaRPr lang="es-ES" sz="950" b="0" u="none" strike="noStrike">
              <a:solidFill>
                <a:srgbClr val="ffffff"/>
              </a:solidFill>
              <a:effectLst/>
              <a:uFillTx/>
              <a:latin typeface="Arial"/>
            </a:endParaRPr>
          </a:p>
        </p:txBody>
      </p:sp>
      <p:sp>
        <p:nvSpPr>
          <p:cNvPr id="103" name="Text 29"/>
          <p:cNvSpPr/>
          <p:nvPr/>
        </p:nvSpPr>
        <p:spPr>
          <a:xfrm>
            <a:off x="5321880" y="3090600"/>
            <a:ext cx="1638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90a4ae"/>
                </a:solidFill>
                <a:effectLst/>
                <a:uFillTx/>
                <a:latin typeface="Calibri"/>
                <a:ea typeface="Calibri"/>
              </a:rPr>
              <a:t>→</a:t>
            </a:r>
            <a:endParaRPr lang="es-ES" sz="1600" b="0" u="none" strike="noStrike">
              <a:solidFill>
                <a:srgbClr val="ffffff"/>
              </a:solidFill>
              <a:effectLst/>
              <a:uFillTx/>
              <a:latin typeface="Arial"/>
            </a:endParaRPr>
          </a:p>
        </p:txBody>
      </p:sp>
      <p:sp>
        <p:nvSpPr>
          <p:cNvPr id="104" name="Shape 30"/>
          <p:cNvSpPr/>
          <p:nvPr/>
        </p:nvSpPr>
        <p:spPr>
          <a:xfrm>
            <a:off x="5486400" y="2999160"/>
            <a:ext cx="1508040" cy="6577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05" name="Text 31"/>
          <p:cNvSpPr/>
          <p:nvPr/>
        </p:nvSpPr>
        <p:spPr>
          <a:xfrm>
            <a:off x="5486400" y="2999160"/>
            <a:ext cx="150804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4</a:t>
            </a:r>
            <a:endParaRPr lang="es-ES" sz="1400" b="0" u="none" strike="noStrike">
              <a:solidFill>
                <a:srgbClr val="ffffff"/>
              </a:solidFill>
              <a:effectLst/>
              <a:uFillTx/>
              <a:latin typeface="Arial"/>
            </a:endParaRPr>
          </a:p>
        </p:txBody>
      </p:sp>
      <p:sp>
        <p:nvSpPr>
          <p:cNvPr id="106" name="Text 32"/>
          <p:cNvSpPr/>
          <p:nvPr/>
        </p:nvSpPr>
        <p:spPr>
          <a:xfrm>
            <a:off x="5486400" y="3255120"/>
            <a:ext cx="150804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50" b="0" u="none" strike="noStrike">
                <a:solidFill>
                  <a:srgbClr val="ffffff"/>
                </a:solidFill>
                <a:effectLst/>
                <a:uFillTx/>
                <a:latin typeface="Calibri"/>
                <a:ea typeface="Calibri"/>
              </a:rPr>
              <a:t>Escalada a root (sudo)</a:t>
            </a:r>
            <a:endParaRPr lang="es-ES" sz="950" b="0" u="none" strike="noStrike">
              <a:solidFill>
                <a:srgbClr val="ffffff"/>
              </a:solidFill>
              <a:effectLst/>
              <a:uFillTx/>
              <a:latin typeface="Arial"/>
            </a:endParaRPr>
          </a:p>
        </p:txBody>
      </p:sp>
      <p:sp>
        <p:nvSpPr>
          <p:cNvPr id="107" name="Text 33"/>
          <p:cNvSpPr/>
          <p:nvPr/>
        </p:nvSpPr>
        <p:spPr>
          <a:xfrm>
            <a:off x="7013520" y="3090600"/>
            <a:ext cx="16380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90a4ae"/>
                </a:solidFill>
                <a:effectLst/>
                <a:uFillTx/>
                <a:latin typeface="Calibri"/>
                <a:ea typeface="Calibri"/>
              </a:rPr>
              <a:t>→</a:t>
            </a:r>
            <a:endParaRPr lang="es-ES" sz="1600" b="0" u="none" strike="noStrike">
              <a:solidFill>
                <a:srgbClr val="ffffff"/>
              </a:solidFill>
              <a:effectLst/>
              <a:uFillTx/>
              <a:latin typeface="Arial"/>
            </a:endParaRPr>
          </a:p>
        </p:txBody>
      </p:sp>
      <p:sp>
        <p:nvSpPr>
          <p:cNvPr id="108" name="Shape 34"/>
          <p:cNvSpPr/>
          <p:nvPr/>
        </p:nvSpPr>
        <p:spPr>
          <a:xfrm>
            <a:off x="7178040" y="2999160"/>
            <a:ext cx="1508040" cy="6577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09" name="Text 35"/>
          <p:cNvSpPr/>
          <p:nvPr/>
        </p:nvSpPr>
        <p:spPr>
          <a:xfrm>
            <a:off x="7178040" y="2999160"/>
            <a:ext cx="1508040" cy="255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ffffff"/>
                </a:solidFill>
                <a:effectLst/>
                <a:uFillTx/>
                <a:latin typeface="Calibri"/>
                <a:ea typeface="Calibri"/>
              </a:rPr>
              <a:t>5</a:t>
            </a:r>
            <a:endParaRPr lang="es-ES" sz="1400" b="0" u="none" strike="noStrike">
              <a:solidFill>
                <a:srgbClr val="ffffff"/>
              </a:solidFill>
              <a:effectLst/>
              <a:uFillTx/>
              <a:latin typeface="Arial"/>
            </a:endParaRPr>
          </a:p>
        </p:txBody>
      </p:sp>
      <p:sp>
        <p:nvSpPr>
          <p:cNvPr id="110" name="Text 36"/>
          <p:cNvSpPr/>
          <p:nvPr/>
        </p:nvSpPr>
        <p:spPr>
          <a:xfrm>
            <a:off x="7178040" y="3255120"/>
            <a:ext cx="1508040" cy="401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50" b="0" u="none" strike="noStrike">
                <a:solidFill>
                  <a:srgbClr val="ffffff"/>
                </a:solidFill>
                <a:effectLst/>
                <a:uFillTx/>
                <a:latin typeface="Calibri"/>
                <a:ea typeface="Calibri"/>
              </a:rPr>
              <a:t>Persistencia</a:t>
            </a:r>
            <a:endParaRPr lang="es-ES" sz="950" b="0" u="none" strike="noStrike">
              <a:solidFill>
                <a:srgbClr val="ffffff"/>
              </a:solidFill>
              <a:effectLst/>
              <a:uFillTx/>
              <a:latin typeface="Arial"/>
            </a:endParaRPr>
          </a:p>
        </p:txBody>
      </p:sp>
      <p:sp>
        <p:nvSpPr>
          <p:cNvPr id="111" name="Text 37"/>
          <p:cNvSpPr/>
          <p:nvPr/>
        </p:nvSpPr>
        <p:spPr>
          <a:xfrm>
            <a:off x="411480" y="3822120"/>
            <a:ext cx="832032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cfd8dc"/>
                </a:solidFill>
                <a:effectLst/>
                <a:uFillTx/>
                <a:latin typeface="Calibri"/>
                <a:ea typeface="Calibri"/>
              </a:rPr>
              <a:t>El sistema fue accedido mediante FTP anónimo para reconocimiento, seguido de ataque de fuerza bruta SSH que resultó en escalada de privilegios completa. Las credenciales de WordPress también quedaron expuestas en texto plano.</a:t>
            </a:r>
            <a:endParaRPr lang="es-E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12"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13"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ALCANCE DEL PROYECTO</a:t>
            </a:r>
            <a:endParaRPr lang="es-ES" sz="900" b="0" u="none" strike="noStrike">
              <a:solidFill>
                <a:srgbClr val="ffffff"/>
              </a:solidFill>
              <a:effectLst/>
              <a:uFillTx/>
              <a:latin typeface="Arial"/>
            </a:endParaRPr>
          </a:p>
        </p:txBody>
      </p:sp>
      <p:sp>
        <p:nvSpPr>
          <p:cNvPr id="114"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Tres Fases de Análisis Integral</a:t>
            </a:r>
            <a:endParaRPr lang="es-ES" sz="2800" b="0" u="none" strike="noStrike">
              <a:solidFill>
                <a:srgbClr val="ffffff"/>
              </a:solidFill>
              <a:effectLst/>
              <a:uFillTx/>
              <a:latin typeface="Arial"/>
            </a:endParaRPr>
          </a:p>
        </p:txBody>
      </p:sp>
      <p:sp>
        <p:nvSpPr>
          <p:cNvPr id="115"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116"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4 / 17</a:t>
            </a:r>
            <a:endParaRPr lang="es-ES" sz="900" b="0" u="none" strike="noStrike">
              <a:solidFill>
                <a:srgbClr val="ffffff"/>
              </a:solidFill>
              <a:effectLst/>
              <a:uFillTx/>
              <a:latin typeface="Arial"/>
            </a:endParaRPr>
          </a:p>
        </p:txBody>
      </p:sp>
      <p:sp>
        <p:nvSpPr>
          <p:cNvPr id="117" name="Shape 5"/>
          <p:cNvSpPr/>
          <p:nvPr/>
        </p:nvSpPr>
        <p:spPr>
          <a:xfrm>
            <a:off x="411480" y="1326240"/>
            <a:ext cx="2696760" cy="35197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18" name="Shape 6"/>
          <p:cNvSpPr/>
          <p:nvPr/>
        </p:nvSpPr>
        <p:spPr>
          <a:xfrm>
            <a:off x="411480" y="1325880"/>
            <a:ext cx="2696760" cy="38340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19" name="Text 7"/>
          <p:cNvSpPr/>
          <p:nvPr/>
        </p:nvSpPr>
        <p:spPr>
          <a:xfrm>
            <a:off x="411480" y="1325880"/>
            <a:ext cx="269676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pc="201" strike="noStrike">
                <a:solidFill>
                  <a:srgbClr val="ffffff"/>
                </a:solidFill>
                <a:effectLst/>
                <a:uFillTx/>
                <a:latin typeface="Calibri"/>
                <a:ea typeface="Calibri"/>
              </a:rPr>
              <a:t>FASE 1</a:t>
            </a:r>
            <a:endParaRPr lang="es-ES" sz="1100" b="0" u="none" strike="noStrike">
              <a:solidFill>
                <a:srgbClr val="ffffff"/>
              </a:solidFill>
              <a:effectLst/>
              <a:uFillTx/>
              <a:latin typeface="Arial"/>
            </a:endParaRPr>
          </a:p>
        </p:txBody>
      </p:sp>
      <p:sp>
        <p:nvSpPr>
          <p:cNvPr id="120" name="Text 8"/>
          <p:cNvSpPr/>
          <p:nvPr/>
        </p:nvSpPr>
        <p:spPr>
          <a:xfrm>
            <a:off x="521280" y="1783080"/>
            <a:ext cx="248652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Análisis Forense Digital</a:t>
            </a:r>
            <a:endParaRPr lang="es-ES" sz="1200" b="0" u="none" strike="noStrike">
              <a:solidFill>
                <a:srgbClr val="ffffff"/>
              </a:solidFill>
              <a:effectLst/>
              <a:uFillTx/>
              <a:latin typeface="Arial"/>
            </a:endParaRPr>
          </a:p>
        </p:txBody>
      </p:sp>
      <p:sp>
        <p:nvSpPr>
          <p:cNvPr id="121" name="Text 9"/>
          <p:cNvSpPr/>
          <p:nvPr/>
        </p:nvSpPr>
        <p:spPr>
          <a:xfrm>
            <a:off x="521280" y="2130480"/>
            <a:ext cx="2486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i="1" u="none" strike="noStrike">
                <a:solidFill>
                  <a:srgbClr val="1e88e5"/>
                </a:solidFill>
                <a:effectLst/>
                <a:uFillTx/>
                <a:latin typeface="Calibri"/>
                <a:ea typeface="Calibri"/>
              </a:rPr>
              <a:t>7–9 Feb 2026</a:t>
            </a:r>
            <a:endParaRPr lang="es-ES" sz="900" b="0" u="none" strike="noStrike">
              <a:solidFill>
                <a:srgbClr val="ffffff"/>
              </a:solidFill>
              <a:effectLst/>
              <a:uFillTx/>
              <a:latin typeface="Arial"/>
            </a:endParaRPr>
          </a:p>
        </p:txBody>
      </p:sp>
      <p:sp>
        <p:nvSpPr>
          <p:cNvPr id="122" name="Text 10"/>
          <p:cNvSpPr/>
          <p:nvPr/>
        </p:nvSpPr>
        <p:spPr>
          <a:xfrm>
            <a:off x="521280" y="2331720"/>
            <a:ext cx="2486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Herramientas: Autopsy 4.22.1</a:t>
            </a:r>
            <a:endParaRPr lang="es-ES" sz="900" b="0" u="none" strike="noStrike">
              <a:solidFill>
                <a:srgbClr val="ffffff"/>
              </a:solidFill>
              <a:effectLst/>
              <a:uFillTx/>
              <a:latin typeface="Arial"/>
            </a:endParaRPr>
          </a:p>
        </p:txBody>
      </p:sp>
      <p:sp>
        <p:nvSpPr>
          <p:cNvPr id="123" name="Shape 11"/>
          <p:cNvSpPr/>
          <p:nvPr/>
        </p:nvSpPr>
        <p:spPr>
          <a:xfrm>
            <a:off x="520920" y="2560320"/>
            <a:ext cx="248724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24" name="Text 12"/>
          <p:cNvSpPr/>
          <p:nvPr/>
        </p:nvSpPr>
        <p:spPr>
          <a:xfrm>
            <a:off x="521280" y="265176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e88e5"/>
                </a:solidFill>
                <a:effectLst/>
                <a:uFillTx/>
                <a:latin typeface="Calibri"/>
                <a:ea typeface="Calibri"/>
              </a:rPr>
              <a:t>▸ </a:t>
            </a:r>
            <a:r>
              <a:rPr lang="en-US" sz="1000" b="0" u="none" strike="noStrike">
                <a:solidFill>
                  <a:srgbClr val="cfd8dc"/>
                </a:solidFill>
                <a:effectLst/>
                <a:uFillTx/>
                <a:latin typeface="Calibri"/>
                <a:ea typeface="Calibri"/>
              </a:rPr>
              <a:t>Análisis post-mortem de imagen de disco</a:t>
            </a:r>
            <a:endParaRPr lang="es-ES" sz="1000" b="0" u="none" strike="noStrike">
              <a:solidFill>
                <a:srgbClr val="ffffff"/>
              </a:solidFill>
              <a:effectLst/>
              <a:uFillTx/>
              <a:latin typeface="Arial"/>
            </a:endParaRPr>
          </a:p>
        </p:txBody>
      </p:sp>
      <p:sp>
        <p:nvSpPr>
          <p:cNvPr id="125" name="Text 13"/>
          <p:cNvSpPr/>
          <p:nvPr/>
        </p:nvSpPr>
        <p:spPr>
          <a:xfrm>
            <a:off x="521280" y="294444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s-ES" sz="1800" b="0" u="none" strike="noStrike">
              <a:solidFill>
                <a:srgbClr val="ffffff"/>
              </a:solidFill>
              <a:effectLst/>
              <a:uFillTx/>
              <a:latin typeface="Arial"/>
            </a:endParaRPr>
          </a:p>
        </p:txBody>
      </p:sp>
      <p:sp>
        <p:nvSpPr>
          <p:cNvPr id="126" name="Text 14"/>
          <p:cNvSpPr/>
          <p:nvPr/>
        </p:nvSpPr>
        <p:spPr>
          <a:xfrm>
            <a:off x="521280" y="2944440"/>
            <a:ext cx="2486520" cy="29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e88e5"/>
                </a:solidFill>
                <a:effectLst/>
                <a:uFillTx/>
                <a:latin typeface="Calibri"/>
                <a:ea typeface="Calibri"/>
              </a:rPr>
              <a:t>▸ </a:t>
            </a:r>
            <a:r>
              <a:rPr lang="en-US" sz="1000" b="0" u="none" strike="noStrike">
                <a:solidFill>
                  <a:srgbClr val="cfd8dc"/>
                </a:solidFill>
                <a:effectLst/>
                <a:uFillTx/>
                <a:latin typeface="Calibri"/>
                <a:ea typeface="Calibri"/>
              </a:rPr>
              <a:t>Identificación de artefactos y evidencias</a:t>
            </a:r>
            <a:endParaRPr lang="es-ES" sz="1000" b="0" u="none" strike="noStrike">
              <a:solidFill>
                <a:srgbClr val="ffffff"/>
              </a:solidFill>
              <a:effectLst/>
              <a:uFillTx/>
              <a:latin typeface="Arial"/>
            </a:endParaRPr>
          </a:p>
        </p:txBody>
      </p:sp>
      <p:sp>
        <p:nvSpPr>
          <p:cNvPr id="127" name="Text 15"/>
          <p:cNvSpPr/>
          <p:nvPr/>
        </p:nvSpPr>
        <p:spPr>
          <a:xfrm>
            <a:off x="521280" y="3200040"/>
            <a:ext cx="2486520" cy="399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e88e5"/>
                </a:solidFill>
                <a:effectLst/>
                <a:uFillTx/>
                <a:latin typeface="Calibri"/>
                <a:ea typeface="Calibri"/>
              </a:rPr>
              <a:t>▸ </a:t>
            </a:r>
            <a:r>
              <a:rPr lang="en-US" sz="1000" b="0" u="none" strike="noStrike">
                <a:solidFill>
                  <a:srgbClr val="cfd8dc"/>
                </a:solidFill>
                <a:effectLst/>
                <a:uFillTx/>
                <a:latin typeface="Calibri"/>
                <a:ea typeface="Calibri"/>
              </a:rPr>
              <a:t>Sin interacción con sistema en producción</a:t>
            </a:r>
            <a:endParaRPr lang="es-ES" sz="1000" b="0" u="none" strike="noStrike">
              <a:solidFill>
                <a:srgbClr val="ffffff"/>
              </a:solidFill>
              <a:effectLst/>
              <a:uFillTx/>
              <a:latin typeface="Arial"/>
            </a:endParaRPr>
          </a:p>
        </p:txBody>
      </p:sp>
      <p:sp>
        <p:nvSpPr>
          <p:cNvPr id="128" name="Shape 16"/>
          <p:cNvSpPr/>
          <p:nvPr/>
        </p:nvSpPr>
        <p:spPr>
          <a:xfrm>
            <a:off x="3337560" y="1325880"/>
            <a:ext cx="2696760" cy="35197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29" name="Shape 17"/>
          <p:cNvSpPr/>
          <p:nvPr/>
        </p:nvSpPr>
        <p:spPr>
          <a:xfrm>
            <a:off x="3337560" y="1325880"/>
            <a:ext cx="2696760" cy="38340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30" name="Text 18"/>
          <p:cNvSpPr/>
          <p:nvPr/>
        </p:nvSpPr>
        <p:spPr>
          <a:xfrm>
            <a:off x="3337560" y="1325880"/>
            <a:ext cx="269676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pc="201" strike="noStrike">
                <a:solidFill>
                  <a:srgbClr val="ffffff"/>
                </a:solidFill>
                <a:effectLst/>
                <a:uFillTx/>
                <a:latin typeface="Calibri"/>
                <a:ea typeface="Calibri"/>
              </a:rPr>
              <a:t>FASE 2</a:t>
            </a:r>
            <a:endParaRPr lang="es-ES" sz="1100" b="0" u="none" strike="noStrike">
              <a:solidFill>
                <a:srgbClr val="ffffff"/>
              </a:solidFill>
              <a:effectLst/>
              <a:uFillTx/>
              <a:latin typeface="Arial"/>
            </a:endParaRPr>
          </a:p>
        </p:txBody>
      </p:sp>
      <p:sp>
        <p:nvSpPr>
          <p:cNvPr id="131" name="Text 19"/>
          <p:cNvSpPr/>
          <p:nvPr/>
        </p:nvSpPr>
        <p:spPr>
          <a:xfrm>
            <a:off x="3447360" y="1783080"/>
            <a:ext cx="248652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Pentesting</a:t>
            </a:r>
            <a:endParaRPr lang="es-ES" sz="1200" b="0" u="none" strike="noStrike">
              <a:solidFill>
                <a:srgbClr val="ffffff"/>
              </a:solidFill>
              <a:effectLst/>
              <a:uFillTx/>
              <a:latin typeface="Arial"/>
            </a:endParaRPr>
          </a:p>
        </p:txBody>
      </p:sp>
      <p:sp>
        <p:nvSpPr>
          <p:cNvPr id="132" name="Text 20"/>
          <p:cNvSpPr/>
          <p:nvPr/>
        </p:nvSpPr>
        <p:spPr>
          <a:xfrm>
            <a:off x="3447360" y="2130480"/>
            <a:ext cx="2486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i="1" u="none" strike="noStrike">
                <a:solidFill>
                  <a:srgbClr val="ef5350"/>
                </a:solidFill>
                <a:effectLst/>
                <a:uFillTx/>
                <a:latin typeface="Calibri"/>
                <a:ea typeface="Calibri"/>
              </a:rPr>
              <a:t>13–14 Feb 2026</a:t>
            </a:r>
            <a:endParaRPr lang="es-ES" sz="900" b="0" u="none" strike="noStrike">
              <a:solidFill>
                <a:srgbClr val="ffffff"/>
              </a:solidFill>
              <a:effectLst/>
              <a:uFillTx/>
              <a:latin typeface="Arial"/>
            </a:endParaRPr>
          </a:p>
        </p:txBody>
      </p:sp>
      <p:sp>
        <p:nvSpPr>
          <p:cNvPr id="133" name="Text 21"/>
          <p:cNvSpPr/>
          <p:nvPr/>
        </p:nvSpPr>
        <p:spPr>
          <a:xfrm>
            <a:off x="3447360" y="2331720"/>
            <a:ext cx="2486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Herramientas: Nmap · WPScan · Python</a:t>
            </a:r>
            <a:endParaRPr lang="es-ES" sz="900" b="0" u="none" strike="noStrike">
              <a:solidFill>
                <a:srgbClr val="ffffff"/>
              </a:solidFill>
              <a:effectLst/>
              <a:uFillTx/>
              <a:latin typeface="Arial"/>
            </a:endParaRPr>
          </a:p>
        </p:txBody>
      </p:sp>
      <p:sp>
        <p:nvSpPr>
          <p:cNvPr id="134" name="Shape 22"/>
          <p:cNvSpPr/>
          <p:nvPr/>
        </p:nvSpPr>
        <p:spPr>
          <a:xfrm>
            <a:off x="3447000" y="2560320"/>
            <a:ext cx="248724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35" name="Text 23"/>
          <p:cNvSpPr/>
          <p:nvPr/>
        </p:nvSpPr>
        <p:spPr>
          <a:xfrm>
            <a:off x="3447360" y="265176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Reconocimiento de red y servicios</a:t>
            </a:r>
            <a:endParaRPr lang="es-ES" sz="1000" b="0" u="none" strike="noStrike">
              <a:solidFill>
                <a:srgbClr val="ffffff"/>
              </a:solidFill>
              <a:effectLst/>
              <a:uFillTx/>
              <a:latin typeface="Arial"/>
            </a:endParaRPr>
          </a:p>
        </p:txBody>
      </p:sp>
      <p:sp>
        <p:nvSpPr>
          <p:cNvPr id="136" name="Text 24"/>
          <p:cNvSpPr/>
          <p:nvPr/>
        </p:nvSpPr>
        <p:spPr>
          <a:xfrm>
            <a:off x="3447360" y="294444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Análisis de vulnerabilidades (CVE)</a:t>
            </a:r>
            <a:endParaRPr lang="es-ES" sz="1000" b="0" u="none" strike="noStrike">
              <a:solidFill>
                <a:srgbClr val="ffffff"/>
              </a:solidFill>
              <a:effectLst/>
              <a:uFillTx/>
              <a:latin typeface="Arial"/>
            </a:endParaRPr>
          </a:p>
        </p:txBody>
      </p:sp>
      <p:sp>
        <p:nvSpPr>
          <p:cNvPr id="137" name="Text 25"/>
          <p:cNvSpPr/>
          <p:nvPr/>
        </p:nvSpPr>
        <p:spPr>
          <a:xfrm>
            <a:off x="3447360" y="323712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Explotación controlada (DoS SSH)</a:t>
            </a:r>
            <a:endParaRPr lang="es-ES" sz="1000" b="0" u="none" strike="noStrike">
              <a:solidFill>
                <a:srgbClr val="ffffff"/>
              </a:solidFill>
              <a:effectLst/>
              <a:uFillTx/>
              <a:latin typeface="Arial"/>
            </a:endParaRPr>
          </a:p>
        </p:txBody>
      </p:sp>
      <p:sp>
        <p:nvSpPr>
          <p:cNvPr id="138" name="Text 26"/>
          <p:cNvSpPr/>
          <p:nvPr/>
        </p:nvSpPr>
        <p:spPr>
          <a:xfrm>
            <a:off x="3447360" y="352944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Auditoría de WordPress</a:t>
            </a:r>
            <a:endParaRPr lang="es-ES" sz="1000" b="0" u="none" strike="noStrike">
              <a:solidFill>
                <a:srgbClr val="ffffff"/>
              </a:solidFill>
              <a:effectLst/>
              <a:uFillTx/>
              <a:latin typeface="Arial"/>
            </a:endParaRPr>
          </a:p>
        </p:txBody>
      </p:sp>
      <p:sp>
        <p:nvSpPr>
          <p:cNvPr id="139" name="Shape 27"/>
          <p:cNvSpPr/>
          <p:nvPr/>
        </p:nvSpPr>
        <p:spPr>
          <a:xfrm>
            <a:off x="6263640" y="1325880"/>
            <a:ext cx="2696760" cy="35197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40" name="Shape 28"/>
          <p:cNvSpPr/>
          <p:nvPr/>
        </p:nvSpPr>
        <p:spPr>
          <a:xfrm>
            <a:off x="6263640" y="1325880"/>
            <a:ext cx="2696760" cy="38340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41" name="Text 29"/>
          <p:cNvSpPr/>
          <p:nvPr/>
        </p:nvSpPr>
        <p:spPr>
          <a:xfrm>
            <a:off x="6263640" y="1325880"/>
            <a:ext cx="2696760" cy="383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pc="201" strike="noStrike">
                <a:solidFill>
                  <a:srgbClr val="ffffff"/>
                </a:solidFill>
                <a:effectLst/>
                <a:uFillTx/>
                <a:latin typeface="Calibri"/>
                <a:ea typeface="Calibri"/>
              </a:rPr>
              <a:t>FASE 3</a:t>
            </a:r>
            <a:endParaRPr lang="es-ES" sz="1100" b="0" u="none" strike="noStrike">
              <a:solidFill>
                <a:srgbClr val="ffffff"/>
              </a:solidFill>
              <a:effectLst/>
              <a:uFillTx/>
              <a:latin typeface="Arial"/>
            </a:endParaRPr>
          </a:p>
        </p:txBody>
      </p:sp>
      <p:sp>
        <p:nvSpPr>
          <p:cNvPr id="142" name="Text 30"/>
          <p:cNvSpPr/>
          <p:nvPr/>
        </p:nvSpPr>
        <p:spPr>
          <a:xfrm>
            <a:off x="6373440" y="1783080"/>
            <a:ext cx="248652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Blue Team · Hardening</a:t>
            </a:r>
            <a:endParaRPr lang="es-ES" sz="1200" b="0" u="none" strike="noStrike">
              <a:solidFill>
                <a:srgbClr val="ffffff"/>
              </a:solidFill>
              <a:effectLst/>
              <a:uFillTx/>
              <a:latin typeface="Arial"/>
            </a:endParaRPr>
          </a:p>
        </p:txBody>
      </p:sp>
      <p:sp>
        <p:nvSpPr>
          <p:cNvPr id="143" name="Text 31"/>
          <p:cNvSpPr/>
          <p:nvPr/>
        </p:nvSpPr>
        <p:spPr>
          <a:xfrm>
            <a:off x="6373440" y="2130480"/>
            <a:ext cx="2486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i="1" u="none" strike="noStrike">
                <a:solidFill>
                  <a:srgbClr val="43a047"/>
                </a:solidFill>
                <a:effectLst/>
                <a:uFillTx/>
                <a:latin typeface="Calibri"/>
                <a:ea typeface="Calibri"/>
              </a:rPr>
              <a:t>15–16 Feb 2026</a:t>
            </a:r>
            <a:endParaRPr lang="es-ES" sz="900" b="0" u="none" strike="noStrike">
              <a:solidFill>
                <a:srgbClr val="ffffff"/>
              </a:solidFill>
              <a:effectLst/>
              <a:uFillTx/>
              <a:latin typeface="Arial"/>
            </a:endParaRPr>
          </a:p>
        </p:txBody>
      </p:sp>
      <p:sp>
        <p:nvSpPr>
          <p:cNvPr id="144" name="Text 32"/>
          <p:cNvSpPr/>
          <p:nvPr/>
        </p:nvSpPr>
        <p:spPr>
          <a:xfrm>
            <a:off x="6373440" y="2331720"/>
            <a:ext cx="2486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Herramientas: SSH · Apache · MariaDB</a:t>
            </a:r>
            <a:endParaRPr lang="es-ES" sz="900" b="0" u="none" strike="noStrike">
              <a:solidFill>
                <a:srgbClr val="ffffff"/>
              </a:solidFill>
              <a:effectLst/>
              <a:uFillTx/>
              <a:latin typeface="Arial"/>
            </a:endParaRPr>
          </a:p>
        </p:txBody>
      </p:sp>
      <p:sp>
        <p:nvSpPr>
          <p:cNvPr id="145" name="Shape 33"/>
          <p:cNvSpPr/>
          <p:nvPr/>
        </p:nvSpPr>
        <p:spPr>
          <a:xfrm>
            <a:off x="6373080" y="2560320"/>
            <a:ext cx="248724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46" name="Text 34"/>
          <p:cNvSpPr/>
          <p:nvPr/>
        </p:nvSpPr>
        <p:spPr>
          <a:xfrm>
            <a:off x="6373440" y="265176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Aplicación de controles técnicos</a:t>
            </a:r>
            <a:endParaRPr lang="es-ES" sz="1000" b="0" u="none" strike="noStrike">
              <a:solidFill>
                <a:srgbClr val="ffffff"/>
              </a:solidFill>
              <a:effectLst/>
              <a:uFillTx/>
              <a:latin typeface="Arial"/>
            </a:endParaRPr>
          </a:p>
        </p:txBody>
      </p:sp>
      <p:sp>
        <p:nvSpPr>
          <p:cNvPr id="147" name="Text 35"/>
          <p:cNvSpPr/>
          <p:nvPr/>
        </p:nvSpPr>
        <p:spPr>
          <a:xfrm>
            <a:off x="6373440" y="294444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Hardening de servicios críticos</a:t>
            </a:r>
            <a:endParaRPr lang="es-ES" sz="1000" b="0" u="none" strike="noStrike">
              <a:solidFill>
                <a:srgbClr val="ffffff"/>
              </a:solidFill>
              <a:effectLst/>
              <a:uFillTx/>
              <a:latin typeface="Arial"/>
            </a:endParaRPr>
          </a:p>
        </p:txBody>
      </p:sp>
      <p:sp>
        <p:nvSpPr>
          <p:cNvPr id="148" name="Text 36"/>
          <p:cNvSpPr/>
          <p:nvPr/>
        </p:nvSpPr>
        <p:spPr>
          <a:xfrm>
            <a:off x="6373440" y="323712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Gestión de identidades</a:t>
            </a:r>
            <a:endParaRPr lang="es-ES" sz="1000" b="0" u="none" strike="noStrike">
              <a:solidFill>
                <a:srgbClr val="ffffff"/>
              </a:solidFill>
              <a:effectLst/>
              <a:uFillTx/>
              <a:latin typeface="Arial"/>
            </a:endParaRPr>
          </a:p>
        </p:txBody>
      </p:sp>
      <p:sp>
        <p:nvSpPr>
          <p:cNvPr id="149" name="Text 37"/>
          <p:cNvSpPr/>
          <p:nvPr/>
        </p:nvSpPr>
        <p:spPr>
          <a:xfrm>
            <a:off x="6373440" y="3529440"/>
            <a:ext cx="24865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Plan de recuperación (DRP)</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50"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51"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1 · ANÁLISIS FORENSE DIGITAL</a:t>
            </a:r>
            <a:endParaRPr lang="es-ES" sz="900" b="0" u="none" strike="noStrike">
              <a:solidFill>
                <a:srgbClr val="ffffff"/>
              </a:solidFill>
              <a:effectLst/>
              <a:uFillTx/>
              <a:latin typeface="Arial"/>
            </a:endParaRPr>
          </a:p>
        </p:txBody>
      </p:sp>
      <p:sp>
        <p:nvSpPr>
          <p:cNvPr id="152"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Metodología Forense y Herramientas</a:t>
            </a:r>
            <a:endParaRPr lang="es-ES" sz="2800" b="0" u="none" strike="noStrike">
              <a:solidFill>
                <a:srgbClr val="ffffff"/>
              </a:solidFill>
              <a:effectLst/>
              <a:uFillTx/>
              <a:latin typeface="Arial"/>
            </a:endParaRPr>
          </a:p>
        </p:txBody>
      </p:sp>
      <p:sp>
        <p:nvSpPr>
          <p:cNvPr id="153"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154"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5 / 17</a:t>
            </a:r>
            <a:endParaRPr lang="es-ES" sz="900" b="0" u="none" strike="noStrike">
              <a:solidFill>
                <a:srgbClr val="ffffff"/>
              </a:solidFill>
              <a:effectLst/>
              <a:uFillTx/>
              <a:latin typeface="Arial"/>
            </a:endParaRPr>
          </a:p>
        </p:txBody>
      </p:sp>
      <p:sp>
        <p:nvSpPr>
          <p:cNvPr id="155" name="Shape 5"/>
          <p:cNvSpPr/>
          <p:nvPr/>
        </p:nvSpPr>
        <p:spPr>
          <a:xfrm>
            <a:off x="411480" y="1325880"/>
            <a:ext cx="4022640" cy="35470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56" name="Shape 6"/>
          <p:cNvSpPr/>
          <p:nvPr/>
        </p:nvSpPr>
        <p:spPr>
          <a:xfrm>
            <a:off x="411480" y="1325880"/>
            <a:ext cx="63360" cy="3547080"/>
          </a:xfrm>
          <a:prstGeom prst="rect">
            <a:avLst/>
          </a:prstGeom>
          <a:solidFill>
            <a:srgbClr val="1e88e5"/>
          </a:solidFill>
          <a:ln w="12700">
            <a:solidFill>
              <a:srgbClr val="1e88e5"/>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57" name="Text 7"/>
          <p:cNvSpPr/>
          <p:nvPr/>
        </p:nvSpPr>
        <p:spPr>
          <a:xfrm>
            <a:off x="594360" y="1463040"/>
            <a:ext cx="374832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ffffff"/>
                </a:solidFill>
                <a:effectLst/>
                <a:uFillTx/>
                <a:latin typeface="Calibri"/>
                <a:ea typeface="Calibri"/>
              </a:rPr>
              <a:t>Autopsy 4.22.1</a:t>
            </a:r>
            <a:endParaRPr lang="es-ES" sz="1400" b="0" u="none" strike="noStrike">
              <a:solidFill>
                <a:srgbClr val="ffffff"/>
              </a:solidFill>
              <a:effectLst/>
              <a:uFillTx/>
              <a:latin typeface="Arial"/>
            </a:endParaRPr>
          </a:p>
        </p:txBody>
      </p:sp>
      <p:sp>
        <p:nvSpPr>
          <p:cNvPr id="158" name="Text 8"/>
          <p:cNvSpPr/>
          <p:nvPr/>
        </p:nvSpPr>
        <p:spPr>
          <a:xfrm>
            <a:off x="594360" y="1847160"/>
            <a:ext cx="374832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0" u="none" strike="noStrike">
                <a:solidFill>
                  <a:srgbClr val="cfd8dc"/>
                </a:solidFill>
                <a:effectLst/>
                <a:uFillTx/>
                <a:latin typeface="Calibri"/>
                <a:ea typeface="Calibri"/>
              </a:rPr>
              <a:t>Plataforma forense digital open source utilizada para analizar la imagen de disco sin alterar la evidencia original (img debian-disk001.vmdk).</a:t>
            </a:r>
            <a:endParaRPr lang="es-ES" sz="1050" b="0" u="none" strike="noStrike">
              <a:solidFill>
                <a:srgbClr val="ffffff"/>
              </a:solidFill>
              <a:effectLst/>
              <a:uFillTx/>
              <a:latin typeface="Arial"/>
            </a:endParaRPr>
          </a:p>
        </p:txBody>
      </p:sp>
      <p:sp>
        <p:nvSpPr>
          <p:cNvPr id="159" name="Text 9"/>
          <p:cNvSpPr/>
          <p:nvPr/>
        </p:nvSpPr>
        <p:spPr>
          <a:xfrm>
            <a:off x="594360" y="2578680"/>
            <a:ext cx="3748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e88e5"/>
                </a:solidFill>
                <a:effectLst/>
                <a:uFillTx/>
                <a:latin typeface="Calibri"/>
                <a:ea typeface="Calibri"/>
              </a:rPr>
              <a:t>Módulos de ingesta utilizados:</a:t>
            </a:r>
            <a:endParaRPr lang="es-ES" sz="1000" b="0" u="none" strike="noStrike">
              <a:solidFill>
                <a:srgbClr val="ffffff"/>
              </a:solidFill>
              <a:effectLst/>
              <a:uFillTx/>
              <a:latin typeface="Arial"/>
            </a:endParaRPr>
          </a:p>
        </p:txBody>
      </p:sp>
      <p:sp>
        <p:nvSpPr>
          <p:cNvPr id="160" name="Text 10"/>
          <p:cNvSpPr/>
          <p:nvPr/>
        </p:nvSpPr>
        <p:spPr>
          <a:xfrm>
            <a:off x="594360" y="285300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Recent Activity – historial de navegación y descargas</a:t>
            </a:r>
            <a:endParaRPr lang="es-ES" sz="1000" b="0" u="none" strike="noStrike">
              <a:solidFill>
                <a:srgbClr val="ffffff"/>
              </a:solidFill>
              <a:effectLst/>
              <a:uFillTx/>
              <a:latin typeface="Arial"/>
            </a:endParaRPr>
          </a:p>
        </p:txBody>
      </p:sp>
      <p:sp>
        <p:nvSpPr>
          <p:cNvPr id="161" name="Text 11"/>
          <p:cNvSpPr/>
          <p:nvPr/>
        </p:nvSpPr>
        <p:spPr>
          <a:xfrm>
            <a:off x="594360" y="317304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File Type Identification – detección por magic bytes</a:t>
            </a:r>
            <a:endParaRPr lang="es-ES" sz="1000" b="0" u="none" strike="noStrike">
              <a:solidFill>
                <a:srgbClr val="ffffff"/>
              </a:solidFill>
              <a:effectLst/>
              <a:uFillTx/>
              <a:latin typeface="Arial"/>
            </a:endParaRPr>
          </a:p>
        </p:txBody>
      </p:sp>
      <p:sp>
        <p:nvSpPr>
          <p:cNvPr id="162" name="Text 12"/>
          <p:cNvSpPr/>
          <p:nvPr/>
        </p:nvSpPr>
        <p:spPr>
          <a:xfrm>
            <a:off x="594360" y="349308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Keyword Search – búsqueda indexada en todo el disco</a:t>
            </a:r>
            <a:endParaRPr lang="es-ES" sz="1000" b="0" u="none" strike="noStrike">
              <a:solidFill>
                <a:srgbClr val="ffffff"/>
              </a:solidFill>
              <a:effectLst/>
              <a:uFillTx/>
              <a:latin typeface="Arial"/>
            </a:endParaRPr>
          </a:p>
        </p:txBody>
      </p:sp>
      <p:sp>
        <p:nvSpPr>
          <p:cNvPr id="163" name="Text 13"/>
          <p:cNvSpPr/>
          <p:nvPr/>
        </p:nvSpPr>
        <p:spPr>
          <a:xfrm>
            <a:off x="594360" y="3813120"/>
            <a:ext cx="3748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43a047"/>
                </a:solidFill>
                <a:effectLst/>
                <a:uFillTx/>
                <a:latin typeface="Calibri"/>
                <a:ea typeface="Calibri"/>
              </a:rPr>
              <a:t>✓ </a:t>
            </a:r>
            <a:r>
              <a:rPr lang="en-US" sz="1000" b="0" u="none" strike="noStrike">
                <a:solidFill>
                  <a:srgbClr val="cfd8dc"/>
                </a:solidFill>
                <a:effectLst/>
                <a:uFillTx/>
                <a:latin typeface="Calibri"/>
                <a:ea typeface="Calibri"/>
              </a:rPr>
              <a:t>Log Parsing – análisis cronológico de eventos</a:t>
            </a:r>
            <a:endParaRPr lang="es-ES" sz="1000" b="0" u="none" strike="noStrike">
              <a:solidFill>
                <a:srgbClr val="ffffff"/>
              </a:solidFill>
              <a:effectLst/>
              <a:uFillTx/>
              <a:latin typeface="Arial"/>
            </a:endParaRPr>
          </a:p>
        </p:txBody>
      </p:sp>
      <p:sp>
        <p:nvSpPr>
          <p:cNvPr id="164" name="Text 14"/>
          <p:cNvSpPr/>
          <p:nvPr/>
        </p:nvSpPr>
        <p:spPr>
          <a:xfrm>
            <a:off x="594360" y="4617720"/>
            <a:ext cx="37483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i="1" u="none" strike="noStrike">
                <a:solidFill>
                  <a:srgbClr val="90a4ae"/>
                </a:solidFill>
                <a:effectLst/>
                <a:uFillTx/>
                <a:latin typeface="Calibri"/>
                <a:ea typeface="Calibri"/>
              </a:rPr>
              <a:t>Sujeto: img debian-disk001.vmdk  ·  Partición: vol_vol2 (Ext4)</a:t>
            </a:r>
            <a:endParaRPr lang="es-ES" sz="900" b="0" u="none" strike="noStrike">
              <a:solidFill>
                <a:srgbClr val="ffffff"/>
              </a:solidFill>
              <a:effectLst/>
              <a:uFillTx/>
              <a:latin typeface="Arial"/>
            </a:endParaRPr>
          </a:p>
        </p:txBody>
      </p:sp>
      <p:sp>
        <p:nvSpPr>
          <p:cNvPr id="165" name="Shape 15"/>
          <p:cNvSpPr/>
          <p:nvPr/>
        </p:nvSpPr>
        <p:spPr>
          <a:xfrm>
            <a:off x="4617720" y="1325880"/>
            <a:ext cx="4114080" cy="35470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66" name="Text 16"/>
          <p:cNvSpPr/>
          <p:nvPr/>
        </p:nvSpPr>
        <p:spPr>
          <a:xfrm>
            <a:off x="4754880" y="1463040"/>
            <a:ext cx="383976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Pasos de la Metodología</a:t>
            </a:r>
            <a:endParaRPr lang="es-ES" sz="1200" b="0" u="none" strike="noStrike">
              <a:solidFill>
                <a:srgbClr val="ffffff"/>
              </a:solidFill>
              <a:effectLst/>
              <a:uFillTx/>
              <a:latin typeface="Arial"/>
            </a:endParaRPr>
          </a:p>
        </p:txBody>
      </p:sp>
      <p:sp>
        <p:nvSpPr>
          <p:cNvPr id="167" name="Shape 17"/>
          <p:cNvSpPr/>
          <p:nvPr/>
        </p:nvSpPr>
        <p:spPr>
          <a:xfrm>
            <a:off x="4617720" y="1828800"/>
            <a:ext cx="310320" cy="31032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68" name="Text 18"/>
          <p:cNvSpPr/>
          <p:nvPr/>
        </p:nvSpPr>
        <p:spPr>
          <a:xfrm>
            <a:off x="4617720" y="1828800"/>
            <a:ext cx="310320" cy="310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1</a:t>
            </a:r>
            <a:endParaRPr lang="es-ES" sz="1100" b="0" u="none" strike="noStrike">
              <a:solidFill>
                <a:srgbClr val="ffffff"/>
              </a:solidFill>
              <a:effectLst/>
              <a:uFillTx/>
              <a:latin typeface="Arial"/>
            </a:endParaRPr>
          </a:p>
        </p:txBody>
      </p:sp>
      <p:sp>
        <p:nvSpPr>
          <p:cNvPr id="169" name="Text 19"/>
          <p:cNvSpPr/>
          <p:nvPr/>
        </p:nvSpPr>
        <p:spPr>
          <a:xfrm>
            <a:off x="4983480" y="1828800"/>
            <a:ext cx="36385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1. Adquisición</a:t>
            </a:r>
            <a:endParaRPr lang="es-ES" sz="1000" b="0" u="none" strike="noStrike">
              <a:solidFill>
                <a:srgbClr val="ffffff"/>
              </a:solidFill>
              <a:effectLst/>
              <a:uFillTx/>
              <a:latin typeface="Arial"/>
            </a:endParaRPr>
          </a:p>
        </p:txBody>
      </p:sp>
      <p:sp>
        <p:nvSpPr>
          <p:cNvPr id="170" name="Text 20"/>
          <p:cNvSpPr/>
          <p:nvPr/>
        </p:nvSpPr>
        <p:spPr>
          <a:xfrm>
            <a:off x="4983480" y="2011680"/>
            <a:ext cx="3638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Montaje de imagen en entorno aislado, sin escritura en el original.</a:t>
            </a:r>
            <a:endParaRPr lang="es-ES" sz="950" b="0" u="none" strike="noStrike">
              <a:solidFill>
                <a:srgbClr val="ffffff"/>
              </a:solidFill>
              <a:effectLst/>
              <a:uFillTx/>
              <a:latin typeface="Arial"/>
            </a:endParaRPr>
          </a:p>
        </p:txBody>
      </p:sp>
      <p:sp>
        <p:nvSpPr>
          <p:cNvPr id="171" name="Shape 21"/>
          <p:cNvSpPr/>
          <p:nvPr/>
        </p:nvSpPr>
        <p:spPr>
          <a:xfrm>
            <a:off x="4617720" y="2441520"/>
            <a:ext cx="310320" cy="31032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72" name="Text 22"/>
          <p:cNvSpPr/>
          <p:nvPr/>
        </p:nvSpPr>
        <p:spPr>
          <a:xfrm>
            <a:off x="4617720" y="2441520"/>
            <a:ext cx="310320" cy="310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2</a:t>
            </a:r>
            <a:endParaRPr lang="es-ES" sz="1100" b="0" u="none" strike="noStrike">
              <a:solidFill>
                <a:srgbClr val="ffffff"/>
              </a:solidFill>
              <a:effectLst/>
              <a:uFillTx/>
              <a:latin typeface="Arial"/>
            </a:endParaRPr>
          </a:p>
        </p:txBody>
      </p:sp>
      <p:sp>
        <p:nvSpPr>
          <p:cNvPr id="173" name="Text 23"/>
          <p:cNvSpPr/>
          <p:nvPr/>
        </p:nvSpPr>
        <p:spPr>
          <a:xfrm>
            <a:off x="4983480" y="2441520"/>
            <a:ext cx="36385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2. Preservación</a:t>
            </a:r>
            <a:endParaRPr lang="es-ES" sz="1000" b="0" u="none" strike="noStrike">
              <a:solidFill>
                <a:srgbClr val="ffffff"/>
              </a:solidFill>
              <a:effectLst/>
              <a:uFillTx/>
              <a:latin typeface="Arial"/>
            </a:endParaRPr>
          </a:p>
        </p:txBody>
      </p:sp>
      <p:sp>
        <p:nvSpPr>
          <p:cNvPr id="174" name="Text 24"/>
          <p:cNvSpPr/>
          <p:nvPr/>
        </p:nvSpPr>
        <p:spPr>
          <a:xfrm>
            <a:off x="4983480" y="2624400"/>
            <a:ext cx="3638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Verificación de integridad mediante hash MD5/SHA-256.</a:t>
            </a:r>
            <a:endParaRPr lang="es-ES" sz="950" b="0" u="none" strike="noStrike">
              <a:solidFill>
                <a:srgbClr val="ffffff"/>
              </a:solidFill>
              <a:effectLst/>
              <a:uFillTx/>
              <a:latin typeface="Arial"/>
            </a:endParaRPr>
          </a:p>
        </p:txBody>
      </p:sp>
      <p:sp>
        <p:nvSpPr>
          <p:cNvPr id="175" name="Shape 25"/>
          <p:cNvSpPr/>
          <p:nvPr/>
        </p:nvSpPr>
        <p:spPr>
          <a:xfrm>
            <a:off x="4617720" y="3054240"/>
            <a:ext cx="310320" cy="31032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76" name="Text 26"/>
          <p:cNvSpPr/>
          <p:nvPr/>
        </p:nvSpPr>
        <p:spPr>
          <a:xfrm>
            <a:off x="4617720" y="3054240"/>
            <a:ext cx="310320" cy="310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3</a:t>
            </a:r>
            <a:endParaRPr lang="es-ES" sz="1100" b="0" u="none" strike="noStrike">
              <a:solidFill>
                <a:srgbClr val="ffffff"/>
              </a:solidFill>
              <a:effectLst/>
              <a:uFillTx/>
              <a:latin typeface="Arial"/>
            </a:endParaRPr>
          </a:p>
        </p:txBody>
      </p:sp>
      <p:sp>
        <p:nvSpPr>
          <p:cNvPr id="177" name="Text 27"/>
          <p:cNvSpPr/>
          <p:nvPr/>
        </p:nvSpPr>
        <p:spPr>
          <a:xfrm>
            <a:off x="4983480" y="3054240"/>
            <a:ext cx="36385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3. Ingesta</a:t>
            </a:r>
            <a:endParaRPr lang="es-ES" sz="1000" b="0" u="none" strike="noStrike">
              <a:solidFill>
                <a:srgbClr val="ffffff"/>
              </a:solidFill>
              <a:effectLst/>
              <a:uFillTx/>
              <a:latin typeface="Arial"/>
            </a:endParaRPr>
          </a:p>
        </p:txBody>
      </p:sp>
      <p:sp>
        <p:nvSpPr>
          <p:cNvPr id="178" name="Text 28"/>
          <p:cNvSpPr/>
          <p:nvPr/>
        </p:nvSpPr>
        <p:spPr>
          <a:xfrm>
            <a:off x="4983480" y="3237120"/>
            <a:ext cx="3638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Configuración de módulos de análisis en Autopsy.</a:t>
            </a:r>
            <a:endParaRPr lang="es-ES" sz="950" b="0" u="none" strike="noStrike">
              <a:solidFill>
                <a:srgbClr val="ffffff"/>
              </a:solidFill>
              <a:effectLst/>
              <a:uFillTx/>
              <a:latin typeface="Arial"/>
            </a:endParaRPr>
          </a:p>
        </p:txBody>
      </p:sp>
      <p:sp>
        <p:nvSpPr>
          <p:cNvPr id="179" name="Shape 29"/>
          <p:cNvSpPr/>
          <p:nvPr/>
        </p:nvSpPr>
        <p:spPr>
          <a:xfrm>
            <a:off x="4617720" y="3666600"/>
            <a:ext cx="310320" cy="31032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80" name="Text 30"/>
          <p:cNvSpPr/>
          <p:nvPr/>
        </p:nvSpPr>
        <p:spPr>
          <a:xfrm>
            <a:off x="4617720" y="3666600"/>
            <a:ext cx="310320" cy="310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4</a:t>
            </a:r>
            <a:endParaRPr lang="es-ES" sz="1100" b="0" u="none" strike="noStrike">
              <a:solidFill>
                <a:srgbClr val="ffffff"/>
              </a:solidFill>
              <a:effectLst/>
              <a:uFillTx/>
              <a:latin typeface="Arial"/>
            </a:endParaRPr>
          </a:p>
        </p:txBody>
      </p:sp>
      <p:sp>
        <p:nvSpPr>
          <p:cNvPr id="181" name="Text 31"/>
          <p:cNvSpPr/>
          <p:nvPr/>
        </p:nvSpPr>
        <p:spPr>
          <a:xfrm>
            <a:off x="4983480" y="3666600"/>
            <a:ext cx="36385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4. Análisis</a:t>
            </a:r>
            <a:endParaRPr lang="es-ES" sz="1000" b="0" u="none" strike="noStrike">
              <a:solidFill>
                <a:srgbClr val="ffffff"/>
              </a:solidFill>
              <a:effectLst/>
              <a:uFillTx/>
              <a:latin typeface="Arial"/>
            </a:endParaRPr>
          </a:p>
        </p:txBody>
      </p:sp>
      <p:sp>
        <p:nvSpPr>
          <p:cNvPr id="182" name="Text 32"/>
          <p:cNvSpPr/>
          <p:nvPr/>
        </p:nvSpPr>
        <p:spPr>
          <a:xfrm>
            <a:off x="4983480" y="3849480"/>
            <a:ext cx="3638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Examen de btmp, /etc/, .bash_history, logs, wp-config.</a:t>
            </a:r>
            <a:endParaRPr lang="es-ES" sz="950" b="0" u="none" strike="noStrike">
              <a:solidFill>
                <a:srgbClr val="ffffff"/>
              </a:solidFill>
              <a:effectLst/>
              <a:uFillTx/>
              <a:latin typeface="Arial"/>
            </a:endParaRPr>
          </a:p>
        </p:txBody>
      </p:sp>
      <p:sp>
        <p:nvSpPr>
          <p:cNvPr id="183" name="Shape 33"/>
          <p:cNvSpPr/>
          <p:nvPr/>
        </p:nvSpPr>
        <p:spPr>
          <a:xfrm>
            <a:off x="4617720" y="4279320"/>
            <a:ext cx="310320" cy="31032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84" name="Text 34"/>
          <p:cNvSpPr/>
          <p:nvPr/>
        </p:nvSpPr>
        <p:spPr>
          <a:xfrm>
            <a:off x="4617720" y="4279320"/>
            <a:ext cx="310320" cy="310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5</a:t>
            </a:r>
            <a:endParaRPr lang="es-ES" sz="1100" b="0" u="none" strike="noStrike">
              <a:solidFill>
                <a:srgbClr val="ffffff"/>
              </a:solidFill>
              <a:effectLst/>
              <a:uFillTx/>
              <a:latin typeface="Arial"/>
            </a:endParaRPr>
          </a:p>
        </p:txBody>
      </p:sp>
      <p:sp>
        <p:nvSpPr>
          <p:cNvPr id="185" name="Text 35"/>
          <p:cNvSpPr/>
          <p:nvPr/>
        </p:nvSpPr>
        <p:spPr>
          <a:xfrm>
            <a:off x="4983480" y="4279320"/>
            <a:ext cx="36385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5. Documentación</a:t>
            </a:r>
            <a:endParaRPr lang="es-ES" sz="1000" b="0" u="none" strike="noStrike">
              <a:solidFill>
                <a:srgbClr val="ffffff"/>
              </a:solidFill>
              <a:effectLst/>
              <a:uFillTx/>
              <a:latin typeface="Arial"/>
            </a:endParaRPr>
          </a:p>
        </p:txBody>
      </p:sp>
      <p:sp>
        <p:nvSpPr>
          <p:cNvPr id="186" name="Text 36"/>
          <p:cNvSpPr/>
          <p:nvPr/>
        </p:nvSpPr>
        <p:spPr>
          <a:xfrm>
            <a:off x="4983480" y="4462200"/>
            <a:ext cx="36385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Registro de hallazgos con capturas de evidencia.</a:t>
            </a:r>
            <a:endParaRPr lang="es-E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87"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188"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1 · HALLAZGOS FORENSES</a:t>
            </a:r>
            <a:endParaRPr lang="es-ES" sz="900" b="0" u="none" strike="noStrike">
              <a:solidFill>
                <a:srgbClr val="ffffff"/>
              </a:solidFill>
              <a:effectLst/>
              <a:uFillTx/>
              <a:latin typeface="Arial"/>
            </a:endParaRPr>
          </a:p>
        </p:txBody>
      </p:sp>
      <p:sp>
        <p:nvSpPr>
          <p:cNvPr id="189"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Servicios Comprometidos Identificados</a:t>
            </a:r>
            <a:endParaRPr lang="es-ES" sz="2800" b="0" u="none" strike="noStrike">
              <a:solidFill>
                <a:srgbClr val="ffffff"/>
              </a:solidFill>
              <a:effectLst/>
              <a:uFillTx/>
              <a:latin typeface="Arial"/>
            </a:endParaRPr>
          </a:p>
        </p:txBody>
      </p:sp>
      <p:sp>
        <p:nvSpPr>
          <p:cNvPr id="190"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191"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6 / 17</a:t>
            </a:r>
            <a:endParaRPr lang="es-ES" sz="900" b="0" u="none" strike="noStrike">
              <a:solidFill>
                <a:srgbClr val="ffffff"/>
              </a:solidFill>
              <a:effectLst/>
              <a:uFillTx/>
              <a:latin typeface="Arial"/>
            </a:endParaRPr>
          </a:p>
        </p:txBody>
      </p:sp>
      <p:sp>
        <p:nvSpPr>
          <p:cNvPr id="192" name="Shape 5"/>
          <p:cNvSpPr/>
          <p:nvPr/>
        </p:nvSpPr>
        <p:spPr>
          <a:xfrm>
            <a:off x="411480" y="1325880"/>
            <a:ext cx="4022640" cy="17823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93" name="Shape 6"/>
          <p:cNvSpPr/>
          <p:nvPr/>
        </p:nvSpPr>
        <p:spPr>
          <a:xfrm>
            <a:off x="411480" y="1325880"/>
            <a:ext cx="4022640" cy="31932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194" name="Text 7"/>
          <p:cNvSpPr/>
          <p:nvPr/>
        </p:nvSpPr>
        <p:spPr>
          <a:xfrm>
            <a:off x="530280" y="1325880"/>
            <a:ext cx="3794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FTP · Puerto 21 · CRÍTICO</a:t>
            </a:r>
            <a:endParaRPr lang="es-ES" sz="1100" b="0" u="none" strike="noStrike">
              <a:solidFill>
                <a:srgbClr val="ffffff"/>
              </a:solidFill>
              <a:effectLst/>
              <a:uFillTx/>
              <a:latin typeface="Arial"/>
            </a:endParaRPr>
          </a:p>
        </p:txBody>
      </p:sp>
      <p:sp>
        <p:nvSpPr>
          <p:cNvPr id="195" name="Text 8"/>
          <p:cNvSpPr/>
          <p:nvPr/>
        </p:nvSpPr>
        <p:spPr>
          <a:xfrm>
            <a:off x="548640" y="171900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Archivo: /etc/vsftpd.conf</a:t>
            </a:r>
            <a:endParaRPr lang="es-ES" sz="1000" b="0" u="none" strike="noStrike">
              <a:solidFill>
                <a:srgbClr val="ffffff"/>
              </a:solidFill>
              <a:effectLst/>
              <a:uFillTx/>
              <a:latin typeface="Arial"/>
            </a:endParaRPr>
          </a:p>
        </p:txBody>
      </p:sp>
      <p:sp>
        <p:nvSpPr>
          <p:cNvPr id="196" name="Text 9"/>
          <p:cNvSpPr/>
          <p:nvPr/>
        </p:nvSpPr>
        <p:spPr>
          <a:xfrm>
            <a:off x="548640" y="202068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anonymous_enable = YES (habilitado)</a:t>
            </a:r>
            <a:endParaRPr lang="es-ES" sz="1000" b="0" u="none" strike="noStrike">
              <a:solidFill>
                <a:srgbClr val="ffffff"/>
              </a:solidFill>
              <a:effectLst/>
              <a:uFillTx/>
              <a:latin typeface="Arial"/>
            </a:endParaRPr>
          </a:p>
        </p:txBody>
      </p:sp>
      <p:sp>
        <p:nvSpPr>
          <p:cNvPr id="197" name="Text 10"/>
          <p:cNvSpPr/>
          <p:nvPr/>
        </p:nvSpPr>
        <p:spPr>
          <a:xfrm>
            <a:off x="548640" y="232272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Acceso sin autenticación al sistema de archivos</a:t>
            </a:r>
            <a:endParaRPr lang="es-ES" sz="1000" b="0" u="none" strike="noStrike">
              <a:solidFill>
                <a:srgbClr val="ffffff"/>
              </a:solidFill>
              <a:effectLst/>
              <a:uFillTx/>
              <a:latin typeface="Arial"/>
            </a:endParaRPr>
          </a:p>
        </p:txBody>
      </p:sp>
      <p:sp>
        <p:nvSpPr>
          <p:cNvPr id="198" name="Text 11"/>
          <p:cNvSpPr/>
          <p:nvPr/>
        </p:nvSpPr>
        <p:spPr>
          <a:xfrm>
            <a:off x="548640" y="262440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Permite enumerar usuarios y estructura de directorios</a:t>
            </a:r>
            <a:endParaRPr lang="es-ES" sz="1000" b="0" u="none" strike="noStrike">
              <a:solidFill>
                <a:srgbClr val="ffffff"/>
              </a:solidFill>
              <a:effectLst/>
              <a:uFillTx/>
              <a:latin typeface="Arial"/>
            </a:endParaRPr>
          </a:p>
        </p:txBody>
      </p:sp>
      <p:sp>
        <p:nvSpPr>
          <p:cNvPr id="199" name="Shape 12"/>
          <p:cNvSpPr/>
          <p:nvPr/>
        </p:nvSpPr>
        <p:spPr>
          <a:xfrm>
            <a:off x="4617720" y="1325880"/>
            <a:ext cx="4114080" cy="17823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00" name="Shape 13"/>
          <p:cNvSpPr/>
          <p:nvPr/>
        </p:nvSpPr>
        <p:spPr>
          <a:xfrm>
            <a:off x="4617720" y="1325880"/>
            <a:ext cx="4114080" cy="3193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01" name="Text 14"/>
          <p:cNvSpPr/>
          <p:nvPr/>
        </p:nvSpPr>
        <p:spPr>
          <a:xfrm>
            <a:off x="4736520" y="1325880"/>
            <a:ext cx="38854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SSH · Puerto 22 · CRÍTICO</a:t>
            </a:r>
            <a:endParaRPr lang="es-ES" sz="1100" b="0" u="none" strike="noStrike">
              <a:solidFill>
                <a:srgbClr val="ffffff"/>
              </a:solidFill>
              <a:effectLst/>
              <a:uFillTx/>
              <a:latin typeface="Arial"/>
            </a:endParaRPr>
          </a:p>
        </p:txBody>
      </p:sp>
      <p:sp>
        <p:nvSpPr>
          <p:cNvPr id="202" name="Text 15"/>
          <p:cNvSpPr/>
          <p:nvPr/>
        </p:nvSpPr>
        <p:spPr>
          <a:xfrm>
            <a:off x="4754880" y="171900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Registro: /var/log/btmp.1 (intentos fallidos)</a:t>
            </a:r>
            <a:endParaRPr lang="es-ES" sz="1000" b="0" u="none" strike="noStrike">
              <a:solidFill>
                <a:srgbClr val="ffffff"/>
              </a:solidFill>
              <a:effectLst/>
              <a:uFillTx/>
              <a:latin typeface="Arial"/>
            </a:endParaRPr>
          </a:p>
        </p:txBody>
      </p:sp>
      <p:sp>
        <p:nvSpPr>
          <p:cNvPr id="203" name="Text 16"/>
          <p:cNvSpPr/>
          <p:nvPr/>
        </p:nvSpPr>
        <p:spPr>
          <a:xfrm>
            <a:off x="4754880" y="202068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Ataque de fuerza bruta desde usuario 'kali'</a:t>
            </a:r>
            <a:endParaRPr lang="es-ES" sz="1000" b="0" u="none" strike="noStrike">
              <a:solidFill>
                <a:srgbClr val="ffffff"/>
              </a:solidFill>
              <a:effectLst/>
              <a:uFillTx/>
              <a:latin typeface="Arial"/>
            </a:endParaRPr>
          </a:p>
        </p:txBody>
      </p:sp>
      <p:sp>
        <p:nvSpPr>
          <p:cNvPr id="204" name="Text 17"/>
          <p:cNvSpPr/>
          <p:nvPr/>
        </p:nvSpPr>
        <p:spPr>
          <a:xfrm>
            <a:off x="4754880" y="232272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PermitRootLogin: habilitado (fallo crítico)</a:t>
            </a:r>
            <a:endParaRPr lang="es-ES" sz="1000" b="0" u="none" strike="noStrike">
              <a:solidFill>
                <a:srgbClr val="ffffff"/>
              </a:solidFill>
              <a:effectLst/>
              <a:uFillTx/>
              <a:latin typeface="Arial"/>
            </a:endParaRPr>
          </a:p>
        </p:txBody>
      </p:sp>
      <p:sp>
        <p:nvSpPr>
          <p:cNvPr id="205" name="Text 18"/>
          <p:cNvSpPr/>
          <p:nvPr/>
        </p:nvSpPr>
        <p:spPr>
          <a:xfrm>
            <a:off x="4754880" y="262440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PasswordAuthentication: habilitado</a:t>
            </a:r>
            <a:endParaRPr lang="es-ES" sz="1000" b="0" u="none" strike="noStrike">
              <a:solidFill>
                <a:srgbClr val="ffffff"/>
              </a:solidFill>
              <a:effectLst/>
              <a:uFillTx/>
              <a:latin typeface="Arial"/>
            </a:endParaRPr>
          </a:p>
        </p:txBody>
      </p:sp>
      <p:sp>
        <p:nvSpPr>
          <p:cNvPr id="206" name="Shape 19"/>
          <p:cNvSpPr/>
          <p:nvPr/>
        </p:nvSpPr>
        <p:spPr>
          <a:xfrm>
            <a:off x="411480" y="3218760"/>
            <a:ext cx="4022640" cy="1572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07" name="Shape 20"/>
          <p:cNvSpPr/>
          <p:nvPr/>
        </p:nvSpPr>
        <p:spPr>
          <a:xfrm>
            <a:off x="411480" y="3218760"/>
            <a:ext cx="4022640" cy="3193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08" name="Text 21"/>
          <p:cNvSpPr/>
          <p:nvPr/>
        </p:nvSpPr>
        <p:spPr>
          <a:xfrm>
            <a:off x="530280" y="3218760"/>
            <a:ext cx="3794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WordPress · wp-config.php · CRÍTICO</a:t>
            </a:r>
            <a:endParaRPr lang="es-ES" sz="1100" b="0" u="none" strike="noStrike">
              <a:solidFill>
                <a:srgbClr val="ffffff"/>
              </a:solidFill>
              <a:effectLst/>
              <a:uFillTx/>
              <a:latin typeface="Arial"/>
            </a:endParaRPr>
          </a:p>
        </p:txBody>
      </p:sp>
      <p:sp>
        <p:nvSpPr>
          <p:cNvPr id="209" name="Text 22"/>
          <p:cNvSpPr/>
          <p:nvPr/>
        </p:nvSpPr>
        <p:spPr>
          <a:xfrm>
            <a:off x="548640" y="361188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Credenciales en texto plano</a:t>
            </a:r>
            <a:endParaRPr lang="es-ES" sz="1000" b="0" u="none" strike="noStrike">
              <a:solidFill>
                <a:srgbClr val="ffffff"/>
              </a:solidFill>
              <a:effectLst/>
              <a:uFillTx/>
              <a:latin typeface="Arial"/>
            </a:endParaRPr>
          </a:p>
        </p:txBody>
      </p:sp>
      <p:sp>
        <p:nvSpPr>
          <p:cNvPr id="210" name="Text 23"/>
          <p:cNvSpPr/>
          <p:nvPr/>
        </p:nvSpPr>
        <p:spPr>
          <a:xfrm>
            <a:off x="548640" y="393192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Usuario: wordpressuser / Contraseña: 123456</a:t>
            </a:r>
            <a:endParaRPr lang="es-ES" sz="1000" b="0" u="none" strike="noStrike">
              <a:solidFill>
                <a:srgbClr val="ffffff"/>
              </a:solidFill>
              <a:effectLst/>
              <a:uFillTx/>
              <a:latin typeface="Arial"/>
            </a:endParaRPr>
          </a:p>
        </p:txBody>
      </p:sp>
      <p:sp>
        <p:nvSpPr>
          <p:cNvPr id="211" name="Text 24"/>
          <p:cNvSpPr/>
          <p:nvPr/>
        </p:nvSpPr>
        <p:spPr>
          <a:xfrm>
            <a:off x="548640" y="4251960"/>
            <a:ext cx="379404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Permisos de lectura global (no chmod 600)</a:t>
            </a:r>
            <a:endParaRPr lang="es-ES" sz="1000" b="0" u="none" strike="noStrike">
              <a:solidFill>
                <a:srgbClr val="ffffff"/>
              </a:solidFill>
              <a:effectLst/>
              <a:uFillTx/>
              <a:latin typeface="Arial"/>
            </a:endParaRPr>
          </a:p>
        </p:txBody>
      </p:sp>
      <p:sp>
        <p:nvSpPr>
          <p:cNvPr id="212" name="Shape 25"/>
          <p:cNvSpPr/>
          <p:nvPr/>
        </p:nvSpPr>
        <p:spPr>
          <a:xfrm>
            <a:off x="4617720" y="3218760"/>
            <a:ext cx="4114080" cy="1572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13" name="Shape 26"/>
          <p:cNvSpPr/>
          <p:nvPr/>
        </p:nvSpPr>
        <p:spPr>
          <a:xfrm>
            <a:off x="4617720" y="3218760"/>
            <a:ext cx="4114080" cy="3193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14" name="Text 27"/>
          <p:cNvSpPr/>
          <p:nvPr/>
        </p:nvSpPr>
        <p:spPr>
          <a:xfrm>
            <a:off x="4736520" y="3218760"/>
            <a:ext cx="38854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Escalada de Privilegios · Root · CRÍTICO</a:t>
            </a:r>
            <a:endParaRPr lang="es-ES" sz="1050" b="0" u="none" strike="noStrike">
              <a:solidFill>
                <a:srgbClr val="ffffff"/>
              </a:solidFill>
              <a:effectLst/>
              <a:uFillTx/>
              <a:latin typeface="Arial"/>
            </a:endParaRPr>
          </a:p>
        </p:txBody>
      </p:sp>
      <p:sp>
        <p:nvSpPr>
          <p:cNvPr id="215" name="Text 28"/>
          <p:cNvSpPr/>
          <p:nvPr/>
        </p:nvSpPr>
        <p:spPr>
          <a:xfrm>
            <a:off x="4754880" y="361188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Historial .bash_history: sudo visudo ejecutado</a:t>
            </a:r>
            <a:endParaRPr lang="es-ES" sz="1000" b="0" u="none" strike="noStrike">
              <a:solidFill>
                <a:srgbClr val="ffffff"/>
              </a:solidFill>
              <a:effectLst/>
              <a:uFillTx/>
              <a:latin typeface="Arial"/>
            </a:endParaRPr>
          </a:p>
        </p:txBody>
      </p:sp>
      <p:sp>
        <p:nvSpPr>
          <p:cNvPr id="216" name="Text 29"/>
          <p:cNvSpPr/>
          <p:nvPr/>
        </p:nvSpPr>
        <p:spPr>
          <a:xfrm>
            <a:off x="4754880" y="393192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Atacante modificó sudoers para persistencia</a:t>
            </a:r>
            <a:endParaRPr lang="es-ES" sz="1000" b="0" u="none" strike="noStrike">
              <a:solidFill>
                <a:srgbClr val="ffffff"/>
              </a:solidFill>
              <a:effectLst/>
              <a:uFillTx/>
              <a:latin typeface="Arial"/>
            </a:endParaRPr>
          </a:p>
        </p:txBody>
      </p:sp>
      <p:sp>
        <p:nvSpPr>
          <p:cNvPr id="217" name="Text 30"/>
          <p:cNvSpPr/>
          <p:nvPr/>
        </p:nvSpPr>
        <p:spPr>
          <a:xfrm>
            <a:off x="4754880" y="4251960"/>
            <a:ext cx="38854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f5350"/>
                </a:solidFill>
                <a:effectLst/>
                <a:uFillTx/>
                <a:latin typeface="Calibri"/>
                <a:ea typeface="Calibri"/>
              </a:rPr>
              <a:t>› </a:t>
            </a:r>
            <a:r>
              <a:rPr lang="en-US" sz="1000" b="0" u="none" strike="noStrike">
                <a:solidFill>
                  <a:srgbClr val="cfd8dc"/>
                </a:solidFill>
                <a:effectLst/>
                <a:uFillTx/>
                <a:latin typeface="Calibri"/>
                <a:ea typeface="Calibri"/>
              </a:rPr>
              <a:t>Desactivó speech-dispatcher para reducir ruido</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18"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219"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1 · LÍNEA DE TIEMPO DEL ATAQUE</a:t>
            </a:r>
            <a:endParaRPr lang="es-ES" sz="900" b="0" u="none" strike="noStrike">
              <a:solidFill>
                <a:srgbClr val="ffffff"/>
              </a:solidFill>
              <a:effectLst/>
              <a:uFillTx/>
              <a:latin typeface="Arial"/>
            </a:endParaRPr>
          </a:p>
        </p:txBody>
      </p:sp>
      <p:sp>
        <p:nvSpPr>
          <p:cNvPr id="220"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400" b="1" u="none" strike="noStrike">
                <a:solidFill>
                  <a:srgbClr val="ffffff"/>
                </a:solidFill>
                <a:effectLst/>
                <a:uFillTx/>
                <a:latin typeface="Calibri"/>
                <a:ea typeface="Calibri"/>
              </a:rPr>
              <a:t>Reconstrucción Cronológica de la Intrusión</a:t>
            </a:r>
            <a:endParaRPr lang="es-ES" sz="2400" b="0" u="none" strike="noStrike">
              <a:solidFill>
                <a:srgbClr val="ffffff"/>
              </a:solidFill>
              <a:effectLst/>
              <a:uFillTx/>
              <a:latin typeface="Arial"/>
            </a:endParaRPr>
          </a:p>
        </p:txBody>
      </p:sp>
      <p:sp>
        <p:nvSpPr>
          <p:cNvPr id="221"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222"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7 / 17</a:t>
            </a:r>
            <a:endParaRPr lang="es-ES" sz="900" b="0" u="none" strike="noStrike">
              <a:solidFill>
                <a:srgbClr val="ffffff"/>
              </a:solidFill>
              <a:effectLst/>
              <a:uFillTx/>
              <a:latin typeface="Arial"/>
            </a:endParaRPr>
          </a:p>
        </p:txBody>
      </p:sp>
      <p:sp>
        <p:nvSpPr>
          <p:cNvPr id="223" name="Shape 5"/>
          <p:cNvSpPr/>
          <p:nvPr/>
        </p:nvSpPr>
        <p:spPr>
          <a:xfrm>
            <a:off x="1691640" y="1298160"/>
            <a:ext cx="360" cy="3493080"/>
          </a:xfrm>
          <a:prstGeom prst="line">
            <a:avLst/>
          </a:prstGeom>
          <a:ln w="25400">
            <a:solidFill>
              <a:srgbClr val="1565c0"/>
            </a:solidFill>
            <a:round/>
          </a:ln>
        </p:spPr>
        <p:style>
          <a:lnRef idx="0"/>
          <a:fillRef idx="0"/>
          <a:effectRef idx="0"/>
          <a:fontRef idx="minor"/>
        </p:style>
        <p:txBody>
          <a:bodyPr lIns="90000" rIns="90000" tIns="45000" bIns="45000" anchor="t" anchorCtr="1">
            <a:noAutofit/>
          </a:bodyPr>
          <a:p>
            <a:endParaRPr lang="es-ES" sz="1800" b="0" u="none" strike="noStrike">
              <a:solidFill>
                <a:srgbClr val="ffffff"/>
              </a:solidFill>
              <a:effectLst/>
              <a:uFillTx/>
              <a:latin typeface="Arial"/>
            </a:endParaRPr>
          </a:p>
        </p:txBody>
      </p:sp>
      <p:sp>
        <p:nvSpPr>
          <p:cNvPr id="224" name="Shape 6"/>
          <p:cNvSpPr/>
          <p:nvPr/>
        </p:nvSpPr>
        <p:spPr>
          <a:xfrm>
            <a:off x="1481400" y="1170360"/>
            <a:ext cx="419760" cy="419760"/>
          </a:xfrm>
          <a:prstGeom prst="ellipse">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25" name="Text 7"/>
          <p:cNvSpPr/>
          <p:nvPr/>
        </p:nvSpPr>
        <p:spPr>
          <a:xfrm>
            <a:off x="1481400" y="1170360"/>
            <a:ext cx="4197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T+0</a:t>
            </a:r>
            <a:endParaRPr lang="es-ES" sz="750" b="0" u="none" strike="noStrike">
              <a:solidFill>
                <a:srgbClr val="ffffff"/>
              </a:solidFill>
              <a:effectLst/>
              <a:uFillTx/>
              <a:latin typeface="Arial"/>
            </a:endParaRPr>
          </a:p>
        </p:txBody>
      </p:sp>
      <p:sp>
        <p:nvSpPr>
          <p:cNvPr id="226" name="Shape 8"/>
          <p:cNvSpPr/>
          <p:nvPr/>
        </p:nvSpPr>
        <p:spPr>
          <a:xfrm>
            <a:off x="2240280" y="1170360"/>
            <a:ext cx="6445800" cy="4564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27" name="Shape 9"/>
          <p:cNvSpPr/>
          <p:nvPr/>
        </p:nvSpPr>
        <p:spPr>
          <a:xfrm>
            <a:off x="2240280" y="1170360"/>
            <a:ext cx="54000" cy="45648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28" name="Text 10"/>
          <p:cNvSpPr/>
          <p:nvPr/>
        </p:nvSpPr>
        <p:spPr>
          <a:xfrm>
            <a:off x="2395800" y="1207080"/>
            <a:ext cx="6171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Reconocimiento FTP</a:t>
            </a:r>
            <a:endParaRPr lang="es-ES" sz="1100" b="0" u="none" strike="noStrike">
              <a:solidFill>
                <a:srgbClr val="ffffff"/>
              </a:solidFill>
              <a:effectLst/>
              <a:uFillTx/>
              <a:latin typeface="Arial"/>
            </a:endParaRPr>
          </a:p>
        </p:txBody>
      </p:sp>
      <p:sp>
        <p:nvSpPr>
          <p:cNvPr id="229" name="Text 11"/>
          <p:cNvSpPr/>
          <p:nvPr/>
        </p:nvSpPr>
        <p:spPr>
          <a:xfrm>
            <a:off x="2395800" y="1426320"/>
            <a:ext cx="6171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Acceso anónimo a vsftpd → enumeración de usuarios y estructura</a:t>
            </a:r>
            <a:endParaRPr lang="es-ES" sz="950" b="0" u="none" strike="noStrike">
              <a:solidFill>
                <a:srgbClr val="ffffff"/>
              </a:solidFill>
              <a:effectLst/>
              <a:uFillTx/>
              <a:latin typeface="Arial"/>
            </a:endParaRPr>
          </a:p>
        </p:txBody>
      </p:sp>
      <p:sp>
        <p:nvSpPr>
          <p:cNvPr id="230" name="Shape 12"/>
          <p:cNvSpPr/>
          <p:nvPr/>
        </p:nvSpPr>
        <p:spPr>
          <a:xfrm>
            <a:off x="1481400" y="1764720"/>
            <a:ext cx="419760" cy="419760"/>
          </a:xfrm>
          <a:prstGeom prst="ellipse">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31" name="Text 13"/>
          <p:cNvSpPr/>
          <p:nvPr/>
        </p:nvSpPr>
        <p:spPr>
          <a:xfrm>
            <a:off x="1481400" y="1764720"/>
            <a:ext cx="4197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T+1</a:t>
            </a:r>
            <a:endParaRPr lang="es-ES" sz="750" b="0" u="none" strike="noStrike">
              <a:solidFill>
                <a:srgbClr val="ffffff"/>
              </a:solidFill>
              <a:effectLst/>
              <a:uFillTx/>
              <a:latin typeface="Arial"/>
            </a:endParaRPr>
          </a:p>
        </p:txBody>
      </p:sp>
      <p:sp>
        <p:nvSpPr>
          <p:cNvPr id="232" name="Shape 14"/>
          <p:cNvSpPr/>
          <p:nvPr/>
        </p:nvSpPr>
        <p:spPr>
          <a:xfrm>
            <a:off x="2240280" y="1764720"/>
            <a:ext cx="6445800" cy="4564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33" name="Shape 15"/>
          <p:cNvSpPr/>
          <p:nvPr/>
        </p:nvSpPr>
        <p:spPr>
          <a:xfrm>
            <a:off x="2240280" y="1764720"/>
            <a:ext cx="54000" cy="4564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34" name="Text 16"/>
          <p:cNvSpPr/>
          <p:nvPr/>
        </p:nvSpPr>
        <p:spPr>
          <a:xfrm>
            <a:off x="2395800" y="1801440"/>
            <a:ext cx="6171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Fuerza bruta SSH</a:t>
            </a:r>
            <a:endParaRPr lang="es-ES" sz="1100" b="0" u="none" strike="noStrike">
              <a:solidFill>
                <a:srgbClr val="ffffff"/>
              </a:solidFill>
              <a:effectLst/>
              <a:uFillTx/>
              <a:latin typeface="Arial"/>
            </a:endParaRPr>
          </a:p>
        </p:txBody>
      </p:sp>
      <p:sp>
        <p:nvSpPr>
          <p:cNvPr id="235" name="Text 17"/>
          <p:cNvSpPr/>
          <p:nvPr/>
        </p:nvSpPr>
        <p:spPr>
          <a:xfrm>
            <a:off x="2395800" y="2020680"/>
            <a:ext cx="6171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Herramienta automática (Kali) prueba credenciales – registro en btmp.1</a:t>
            </a:r>
            <a:endParaRPr lang="es-ES" sz="950" b="0" u="none" strike="noStrike">
              <a:solidFill>
                <a:srgbClr val="ffffff"/>
              </a:solidFill>
              <a:effectLst/>
              <a:uFillTx/>
              <a:latin typeface="Arial"/>
            </a:endParaRPr>
          </a:p>
        </p:txBody>
      </p:sp>
      <p:sp>
        <p:nvSpPr>
          <p:cNvPr id="236" name="Shape 18"/>
          <p:cNvSpPr/>
          <p:nvPr/>
        </p:nvSpPr>
        <p:spPr>
          <a:xfrm>
            <a:off x="1481400" y="2359080"/>
            <a:ext cx="419760" cy="419760"/>
          </a:xfrm>
          <a:prstGeom prst="ellipse">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37" name="Text 19"/>
          <p:cNvSpPr/>
          <p:nvPr/>
        </p:nvSpPr>
        <p:spPr>
          <a:xfrm>
            <a:off x="1481400" y="2359080"/>
            <a:ext cx="4197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T+2</a:t>
            </a:r>
            <a:endParaRPr lang="es-ES" sz="750" b="0" u="none" strike="noStrike">
              <a:solidFill>
                <a:srgbClr val="ffffff"/>
              </a:solidFill>
              <a:effectLst/>
              <a:uFillTx/>
              <a:latin typeface="Arial"/>
            </a:endParaRPr>
          </a:p>
        </p:txBody>
      </p:sp>
      <p:sp>
        <p:nvSpPr>
          <p:cNvPr id="238" name="Shape 20"/>
          <p:cNvSpPr/>
          <p:nvPr/>
        </p:nvSpPr>
        <p:spPr>
          <a:xfrm>
            <a:off x="2240280" y="2359080"/>
            <a:ext cx="6445800" cy="4564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39" name="Shape 21"/>
          <p:cNvSpPr/>
          <p:nvPr/>
        </p:nvSpPr>
        <p:spPr>
          <a:xfrm>
            <a:off x="2240280" y="2359080"/>
            <a:ext cx="54000" cy="4564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40" name="Text 22"/>
          <p:cNvSpPr/>
          <p:nvPr/>
        </p:nvSpPr>
        <p:spPr>
          <a:xfrm>
            <a:off x="2395800" y="2395800"/>
            <a:ext cx="6171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Acceso como 'debian'</a:t>
            </a:r>
            <a:endParaRPr lang="es-ES" sz="1100" b="0" u="none" strike="noStrike">
              <a:solidFill>
                <a:srgbClr val="ffffff"/>
              </a:solidFill>
              <a:effectLst/>
              <a:uFillTx/>
              <a:latin typeface="Arial"/>
            </a:endParaRPr>
          </a:p>
        </p:txBody>
      </p:sp>
      <p:sp>
        <p:nvSpPr>
          <p:cNvPr id="241" name="Text 23"/>
          <p:cNvSpPr/>
          <p:nvPr/>
        </p:nvSpPr>
        <p:spPr>
          <a:xfrm>
            <a:off x="2395800" y="2615040"/>
            <a:ext cx="6171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Contraseña débil descifrada. Primera sesión SSH exitosa</a:t>
            </a:r>
            <a:endParaRPr lang="es-ES" sz="950" b="0" u="none" strike="noStrike">
              <a:solidFill>
                <a:srgbClr val="ffffff"/>
              </a:solidFill>
              <a:effectLst/>
              <a:uFillTx/>
              <a:latin typeface="Arial"/>
            </a:endParaRPr>
          </a:p>
        </p:txBody>
      </p:sp>
      <p:sp>
        <p:nvSpPr>
          <p:cNvPr id="242" name="Shape 24"/>
          <p:cNvSpPr/>
          <p:nvPr/>
        </p:nvSpPr>
        <p:spPr>
          <a:xfrm>
            <a:off x="1481400" y="2953440"/>
            <a:ext cx="419760" cy="419760"/>
          </a:xfrm>
          <a:prstGeom prst="ellipse">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43" name="Text 25"/>
          <p:cNvSpPr/>
          <p:nvPr/>
        </p:nvSpPr>
        <p:spPr>
          <a:xfrm>
            <a:off x="1481400" y="2953440"/>
            <a:ext cx="4197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T+3</a:t>
            </a:r>
            <a:endParaRPr lang="es-ES" sz="750" b="0" u="none" strike="noStrike">
              <a:solidFill>
                <a:srgbClr val="ffffff"/>
              </a:solidFill>
              <a:effectLst/>
              <a:uFillTx/>
              <a:latin typeface="Arial"/>
            </a:endParaRPr>
          </a:p>
        </p:txBody>
      </p:sp>
      <p:sp>
        <p:nvSpPr>
          <p:cNvPr id="244" name="Shape 26"/>
          <p:cNvSpPr/>
          <p:nvPr/>
        </p:nvSpPr>
        <p:spPr>
          <a:xfrm>
            <a:off x="2240280" y="2953440"/>
            <a:ext cx="6445800" cy="4564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45" name="Shape 27"/>
          <p:cNvSpPr/>
          <p:nvPr/>
        </p:nvSpPr>
        <p:spPr>
          <a:xfrm>
            <a:off x="2240280" y="2953440"/>
            <a:ext cx="54000" cy="4564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46" name="Text 28"/>
          <p:cNvSpPr/>
          <p:nvPr/>
        </p:nvSpPr>
        <p:spPr>
          <a:xfrm>
            <a:off x="2395800" y="2990160"/>
            <a:ext cx="6171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Escalada root (sudo visudo)</a:t>
            </a:r>
            <a:endParaRPr lang="es-ES" sz="1100" b="0" u="none" strike="noStrike">
              <a:solidFill>
                <a:srgbClr val="ffffff"/>
              </a:solidFill>
              <a:effectLst/>
              <a:uFillTx/>
              <a:latin typeface="Arial"/>
            </a:endParaRPr>
          </a:p>
        </p:txBody>
      </p:sp>
      <p:sp>
        <p:nvSpPr>
          <p:cNvPr id="247" name="Text 29"/>
          <p:cNvSpPr/>
          <p:nvPr/>
        </p:nvSpPr>
        <p:spPr>
          <a:xfrm>
            <a:off x="2395800" y="3209400"/>
            <a:ext cx="6171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Modificación de sudoers → acceso total al sistema</a:t>
            </a:r>
            <a:endParaRPr lang="es-ES" sz="950" b="0" u="none" strike="noStrike">
              <a:solidFill>
                <a:srgbClr val="ffffff"/>
              </a:solidFill>
              <a:effectLst/>
              <a:uFillTx/>
              <a:latin typeface="Arial"/>
            </a:endParaRPr>
          </a:p>
        </p:txBody>
      </p:sp>
      <p:sp>
        <p:nvSpPr>
          <p:cNvPr id="248" name="Shape 30"/>
          <p:cNvSpPr/>
          <p:nvPr/>
        </p:nvSpPr>
        <p:spPr>
          <a:xfrm>
            <a:off x="1481400" y="3547800"/>
            <a:ext cx="419760" cy="419760"/>
          </a:xfrm>
          <a:prstGeom prst="ellipse">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49" name="Text 31"/>
          <p:cNvSpPr/>
          <p:nvPr/>
        </p:nvSpPr>
        <p:spPr>
          <a:xfrm>
            <a:off x="1481400" y="3547800"/>
            <a:ext cx="4197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T+4</a:t>
            </a:r>
            <a:endParaRPr lang="es-ES" sz="750" b="0" u="none" strike="noStrike">
              <a:solidFill>
                <a:srgbClr val="ffffff"/>
              </a:solidFill>
              <a:effectLst/>
              <a:uFillTx/>
              <a:latin typeface="Arial"/>
            </a:endParaRPr>
          </a:p>
        </p:txBody>
      </p:sp>
      <p:sp>
        <p:nvSpPr>
          <p:cNvPr id="250" name="Shape 32"/>
          <p:cNvSpPr/>
          <p:nvPr/>
        </p:nvSpPr>
        <p:spPr>
          <a:xfrm>
            <a:off x="2240280" y="3547800"/>
            <a:ext cx="6445800" cy="4564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51" name="Shape 33"/>
          <p:cNvSpPr/>
          <p:nvPr/>
        </p:nvSpPr>
        <p:spPr>
          <a:xfrm>
            <a:off x="2240280" y="3547800"/>
            <a:ext cx="54000" cy="4564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52" name="Text 34"/>
          <p:cNvSpPr/>
          <p:nvPr/>
        </p:nvSpPr>
        <p:spPr>
          <a:xfrm>
            <a:off x="2395800" y="3584520"/>
            <a:ext cx="6171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Lectura de wp-config.php</a:t>
            </a:r>
            <a:endParaRPr lang="es-ES" sz="1100" b="0" u="none" strike="noStrike">
              <a:solidFill>
                <a:srgbClr val="ffffff"/>
              </a:solidFill>
              <a:effectLst/>
              <a:uFillTx/>
              <a:latin typeface="Arial"/>
            </a:endParaRPr>
          </a:p>
        </p:txBody>
      </p:sp>
      <p:sp>
        <p:nvSpPr>
          <p:cNvPr id="253" name="Text 35"/>
          <p:cNvSpPr/>
          <p:nvPr/>
        </p:nvSpPr>
        <p:spPr>
          <a:xfrm>
            <a:off x="2395800" y="3803760"/>
            <a:ext cx="6171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Obtención de credenciales MySQL: wordpressuser / 123456</a:t>
            </a:r>
            <a:endParaRPr lang="es-ES" sz="950" b="0" u="none" strike="noStrike">
              <a:solidFill>
                <a:srgbClr val="ffffff"/>
              </a:solidFill>
              <a:effectLst/>
              <a:uFillTx/>
              <a:latin typeface="Arial"/>
            </a:endParaRPr>
          </a:p>
        </p:txBody>
      </p:sp>
      <p:sp>
        <p:nvSpPr>
          <p:cNvPr id="254" name="Shape 36"/>
          <p:cNvSpPr/>
          <p:nvPr/>
        </p:nvSpPr>
        <p:spPr>
          <a:xfrm>
            <a:off x="1481400" y="4142160"/>
            <a:ext cx="419760" cy="419760"/>
          </a:xfrm>
          <a:prstGeom prst="ellipse">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55" name="Text 37"/>
          <p:cNvSpPr/>
          <p:nvPr/>
        </p:nvSpPr>
        <p:spPr>
          <a:xfrm>
            <a:off x="1481400" y="4142160"/>
            <a:ext cx="419760" cy="419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T+5</a:t>
            </a:r>
            <a:endParaRPr lang="es-ES" sz="750" b="0" u="none" strike="noStrike">
              <a:solidFill>
                <a:srgbClr val="ffffff"/>
              </a:solidFill>
              <a:effectLst/>
              <a:uFillTx/>
              <a:latin typeface="Arial"/>
            </a:endParaRPr>
          </a:p>
        </p:txBody>
      </p:sp>
      <p:sp>
        <p:nvSpPr>
          <p:cNvPr id="256" name="Shape 38"/>
          <p:cNvSpPr/>
          <p:nvPr/>
        </p:nvSpPr>
        <p:spPr>
          <a:xfrm>
            <a:off x="2240280" y="4142160"/>
            <a:ext cx="6445800" cy="45648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57" name="Shape 39"/>
          <p:cNvSpPr/>
          <p:nvPr/>
        </p:nvSpPr>
        <p:spPr>
          <a:xfrm>
            <a:off x="2240280" y="4142160"/>
            <a:ext cx="54000" cy="4564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58" name="Text 40"/>
          <p:cNvSpPr/>
          <p:nvPr/>
        </p:nvSpPr>
        <p:spPr>
          <a:xfrm>
            <a:off x="2395800" y="4178880"/>
            <a:ext cx="61714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Persistencia y limpieza</a:t>
            </a:r>
            <a:endParaRPr lang="es-ES" sz="1100" b="0" u="none" strike="noStrike">
              <a:solidFill>
                <a:srgbClr val="ffffff"/>
              </a:solidFill>
              <a:effectLst/>
              <a:uFillTx/>
              <a:latin typeface="Arial"/>
            </a:endParaRPr>
          </a:p>
        </p:txBody>
      </p:sp>
      <p:sp>
        <p:nvSpPr>
          <p:cNvPr id="259" name="Text 41"/>
          <p:cNvSpPr/>
          <p:nvPr/>
        </p:nvSpPr>
        <p:spPr>
          <a:xfrm>
            <a:off x="2395800" y="4398120"/>
            <a:ext cx="6171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Desactivación de speech-dispatcher. Control administrativo total</a:t>
            </a:r>
            <a:endParaRPr lang="es-E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60"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261"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2 · PENTESTING</a:t>
            </a:r>
            <a:endParaRPr lang="es-ES" sz="900" b="0" u="none" strike="noStrike">
              <a:solidFill>
                <a:srgbClr val="ffffff"/>
              </a:solidFill>
              <a:effectLst/>
              <a:uFillTx/>
              <a:latin typeface="Arial"/>
            </a:endParaRPr>
          </a:p>
        </p:txBody>
      </p:sp>
      <p:sp>
        <p:nvSpPr>
          <p:cNvPr id="262"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Reconocimiento e Identificación de Servicios</a:t>
            </a:r>
            <a:endParaRPr lang="es-ES" sz="2800" b="0" u="none" strike="noStrike">
              <a:solidFill>
                <a:srgbClr val="ffffff"/>
              </a:solidFill>
              <a:effectLst/>
              <a:uFillTx/>
              <a:latin typeface="Arial"/>
            </a:endParaRPr>
          </a:p>
        </p:txBody>
      </p:sp>
      <p:sp>
        <p:nvSpPr>
          <p:cNvPr id="263"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264"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8 / 17</a:t>
            </a:r>
            <a:endParaRPr lang="es-ES" sz="900" b="0" u="none" strike="noStrike">
              <a:solidFill>
                <a:srgbClr val="ffffff"/>
              </a:solidFill>
              <a:effectLst/>
              <a:uFillTx/>
              <a:latin typeface="Arial"/>
            </a:endParaRPr>
          </a:p>
        </p:txBody>
      </p:sp>
      <p:sp>
        <p:nvSpPr>
          <p:cNvPr id="265" name="Text 5"/>
          <p:cNvSpPr/>
          <p:nvPr/>
        </p:nvSpPr>
        <p:spPr>
          <a:xfrm>
            <a:off x="411480" y="1188720"/>
            <a:ext cx="8320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i="1" u="none" strike="noStrike">
                <a:solidFill>
                  <a:srgbClr val="90a4ae"/>
                </a:solidFill>
                <a:effectLst/>
                <a:uFillTx/>
                <a:latin typeface="Calibri"/>
                <a:ea typeface="Calibri"/>
              </a:rPr>
              <a:t>IP objetivo: 192.168.50.53  ·  Auditor: Raúl Molina Villalba  ·  Fecha: 13 Feb 2026</a:t>
            </a:r>
            <a:endParaRPr lang="es-ES" sz="1000" b="0" u="none" strike="noStrike">
              <a:solidFill>
                <a:srgbClr val="ffffff"/>
              </a:solidFill>
              <a:effectLst/>
              <a:uFillTx/>
              <a:latin typeface="Arial"/>
            </a:endParaRPr>
          </a:p>
        </p:txBody>
      </p:sp>
      <p:graphicFrame>
        <p:nvGraphicFramePr>
          <p:cNvPr id="266" name="Table 0"/>
          <p:cNvGraphicFramePr/>
          <p:nvPr/>
        </p:nvGraphicFramePr>
        <p:xfrm>
          <a:off x="411480" y="1508760"/>
          <a:ext cx="8274960" cy="1900800"/>
        </p:xfrm>
        <a:graphic>
          <a:graphicData uri="http://schemas.openxmlformats.org/drawingml/2006/table">
            <a:tbl>
              <a:tblPr/>
              <a:tblGrid>
                <a:gridCol w="914400"/>
                <a:gridCol w="1417320"/>
                <a:gridCol w="1691640"/>
                <a:gridCol w="3337560"/>
                <a:gridCol w="914400"/>
              </a:tblGrid>
              <a:tr h="475200">
                <a:tc>
                  <a:txBody>
                    <a:bodyPr anchor="t">
                      <a:noAutofit/>
                    </a:bodyPr>
                    <a:p>
                      <a:pPr defTabSz="914400">
                        <a:lnSpc>
                          <a:spcPct val="100000"/>
                        </a:lnSpc>
                        <a:tabLst>
                          <a:tab algn="l" pos="0"/>
                        </a:tabLst>
                      </a:pPr>
                      <a:r>
                        <a:rPr lang="en-US" sz="1050" b="1" u="none" strike="noStrike">
                          <a:solidFill>
                            <a:srgbClr val="ffffff"/>
                          </a:solidFill>
                          <a:effectLst/>
                          <a:uFillTx/>
                          <a:latin typeface="Calibri"/>
                        </a:rPr>
                        <a:t>Puerto</a:t>
                      </a:r>
                      <a:endParaRPr lang="es-ES" sz="10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50" b="1" u="none" strike="noStrike">
                          <a:solidFill>
                            <a:srgbClr val="ffffff"/>
                          </a:solidFill>
                          <a:effectLst/>
                          <a:uFillTx/>
                          <a:latin typeface="Calibri"/>
                        </a:rPr>
                        <a:t>Servicio</a:t>
                      </a:r>
                      <a:endParaRPr lang="es-ES" sz="10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50" b="1" u="none" strike="noStrike">
                          <a:solidFill>
                            <a:srgbClr val="ffffff"/>
                          </a:solidFill>
                          <a:effectLst/>
                          <a:uFillTx/>
                          <a:latin typeface="Calibri"/>
                        </a:rPr>
                        <a:t>Versión</a:t>
                      </a:r>
                      <a:endParaRPr lang="es-ES" sz="10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50" b="1" u="none" strike="noStrike">
                          <a:solidFill>
                            <a:srgbClr val="ffffff"/>
                          </a:solidFill>
                          <a:effectLst/>
                          <a:uFillTx/>
                          <a:latin typeface="Calibri"/>
                        </a:rPr>
                        <a:t>Hallazgo</a:t>
                      </a:r>
                      <a:endParaRPr lang="es-ES" sz="10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algn="ctr" defTabSz="914400">
                        <a:lnSpc>
                          <a:spcPct val="100000"/>
                        </a:lnSpc>
                        <a:tabLst>
                          <a:tab algn="l" pos="0"/>
                        </a:tabLst>
                      </a:pPr>
                      <a:r>
                        <a:rPr lang="en-US" sz="1050" b="1" u="none" strike="noStrike">
                          <a:solidFill>
                            <a:srgbClr val="ffffff"/>
                          </a:solidFill>
                          <a:effectLst/>
                          <a:uFillTx/>
                          <a:latin typeface="Calibri"/>
                        </a:rPr>
                        <a:t>Riesgo</a:t>
                      </a:r>
                      <a:endParaRPr lang="es-ES" sz="10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r>
              <a:tr h="475200">
                <a:tc>
                  <a:txBody>
                    <a:bodyPr anchor="t">
                      <a:noAutofit/>
                    </a:bodyPr>
                    <a:p>
                      <a:pPr defTabSz="914400">
                        <a:lnSpc>
                          <a:spcPct val="100000"/>
                        </a:lnSpc>
                        <a:tabLst>
                          <a:tab algn="l" pos="0"/>
                        </a:tabLst>
                      </a:pPr>
                      <a:r>
                        <a:rPr lang="en-US" sz="1000" b="0" u="none" strike="noStrike">
                          <a:solidFill>
                            <a:srgbClr val="cfd8dc"/>
                          </a:solidFill>
                          <a:effectLst/>
                          <a:uFillTx/>
                          <a:latin typeface="Calibri"/>
                        </a:rPr>
                        <a:t>21/TCP</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FTP (vsftpd)</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3.0.3</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Acceso anónimo confirmado (FTP code 230)</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ALTO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r>
              <a:tr h="475200">
                <a:tc>
                  <a:txBody>
                    <a:bodyPr anchor="t">
                      <a:noAutofit/>
                    </a:bodyPr>
                    <a:p>
                      <a:pPr defTabSz="914400">
                        <a:lnSpc>
                          <a:spcPct val="100000"/>
                        </a:lnSpc>
                        <a:tabLst>
                          <a:tab algn="l" pos="0"/>
                        </a:tabLst>
                      </a:pPr>
                      <a:r>
                        <a:rPr lang="en-US" sz="1000" b="0" u="none" strike="noStrike">
                          <a:solidFill>
                            <a:srgbClr val="cfd8dc"/>
                          </a:solidFill>
                          <a:effectLst/>
                          <a:uFillTx/>
                          <a:latin typeface="Calibri"/>
                        </a:rPr>
                        <a:t>22/TCP</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SSH (OpenSSH)</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9.2p1 Debian</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CVEs críticos con RCE y evasión de autenticación</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CRÍTICO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r>
              <a:tr h="475200">
                <a:tc>
                  <a:txBody>
                    <a:bodyPr anchor="t">
                      <a:noAutofit/>
                    </a:bodyPr>
                    <a:p>
                      <a:pPr defTabSz="914400">
                        <a:lnSpc>
                          <a:spcPct val="100000"/>
                        </a:lnSpc>
                        <a:tabLst>
                          <a:tab algn="l" pos="0"/>
                        </a:tabLst>
                      </a:pPr>
                      <a:r>
                        <a:rPr lang="en-US" sz="1000" b="0" u="none" strike="noStrike">
                          <a:solidFill>
                            <a:srgbClr val="cfd8dc"/>
                          </a:solidFill>
                          <a:effectLst/>
                          <a:uFillTx/>
                          <a:latin typeface="Calibri"/>
                        </a:rPr>
                        <a:t>80/TCP</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HTTP (Apache)</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2.4.62 Debian</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1000" b="0" u="none" strike="noStrike">
                          <a:solidFill>
                            <a:srgbClr val="cfd8dc"/>
                          </a:solidFill>
                          <a:effectLst/>
                          <a:uFillTx/>
                          <a:latin typeface="Calibri"/>
                        </a:rPr>
                        <a:t>WordPress 6.6.2 · /wp-admin/ expuesto · XML-RPC</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ALTO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r>
            </a:tbl>
          </a:graphicData>
        </a:graphic>
      </p:graphicFrame>
      <p:sp>
        <p:nvSpPr>
          <p:cNvPr id="267" name="Text 6"/>
          <p:cNvSpPr/>
          <p:nvPr/>
        </p:nvSpPr>
        <p:spPr>
          <a:xfrm>
            <a:off x="411480" y="3154680"/>
            <a:ext cx="8320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cfd8dc"/>
                </a:solidFill>
                <a:effectLst/>
                <a:uFillTx/>
                <a:latin typeface="Calibri"/>
                <a:ea typeface="Calibri"/>
              </a:rPr>
              <a:t>Herramientas de reconocimiento utilizadas:</a:t>
            </a:r>
            <a:endParaRPr lang="es-ES" sz="1100" b="0" u="none" strike="noStrike">
              <a:solidFill>
                <a:srgbClr val="ffffff"/>
              </a:solidFill>
              <a:effectLst/>
              <a:uFillTx/>
              <a:latin typeface="Arial"/>
            </a:endParaRPr>
          </a:p>
        </p:txBody>
      </p:sp>
      <p:sp>
        <p:nvSpPr>
          <p:cNvPr id="268" name="Shape 7"/>
          <p:cNvSpPr/>
          <p:nvPr/>
        </p:nvSpPr>
        <p:spPr>
          <a:xfrm>
            <a:off x="411480" y="3520440"/>
            <a:ext cx="4022640" cy="529560"/>
          </a:xfrm>
          <a:prstGeom prst="rect">
            <a:avLst/>
          </a:prstGeom>
          <a:solidFill>
            <a:srgbClr val="101520"/>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69" name="Text 8"/>
          <p:cNvSpPr/>
          <p:nvPr/>
        </p:nvSpPr>
        <p:spPr>
          <a:xfrm>
            <a:off x="521280" y="356616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1e88e5"/>
                </a:solidFill>
                <a:effectLst/>
                <a:uFillTx/>
                <a:latin typeface="Consolas"/>
                <a:ea typeface="Consolas"/>
              </a:rPr>
              <a:t>nmap -sn 192.168.50.0/24</a:t>
            </a:r>
            <a:endParaRPr lang="es-ES" sz="950" b="0" u="none" strike="noStrike">
              <a:solidFill>
                <a:srgbClr val="ffffff"/>
              </a:solidFill>
              <a:effectLst/>
              <a:uFillTx/>
              <a:latin typeface="Arial"/>
            </a:endParaRPr>
          </a:p>
        </p:txBody>
      </p:sp>
      <p:sp>
        <p:nvSpPr>
          <p:cNvPr id="270" name="Text 9"/>
          <p:cNvSpPr/>
          <p:nvPr/>
        </p:nvSpPr>
        <p:spPr>
          <a:xfrm>
            <a:off x="521280" y="379476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Descubrimiento de hosts activos en la red</a:t>
            </a:r>
            <a:endParaRPr lang="es-ES" sz="950" b="0" u="none" strike="noStrike">
              <a:solidFill>
                <a:srgbClr val="ffffff"/>
              </a:solidFill>
              <a:effectLst/>
              <a:uFillTx/>
              <a:latin typeface="Arial"/>
            </a:endParaRPr>
          </a:p>
        </p:txBody>
      </p:sp>
      <p:sp>
        <p:nvSpPr>
          <p:cNvPr id="271" name="Shape 10"/>
          <p:cNvSpPr/>
          <p:nvPr/>
        </p:nvSpPr>
        <p:spPr>
          <a:xfrm>
            <a:off x="411480" y="4114800"/>
            <a:ext cx="4022640" cy="529560"/>
          </a:xfrm>
          <a:prstGeom prst="rect">
            <a:avLst/>
          </a:prstGeom>
          <a:solidFill>
            <a:srgbClr val="101520"/>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72" name="Text 11"/>
          <p:cNvSpPr/>
          <p:nvPr/>
        </p:nvSpPr>
        <p:spPr>
          <a:xfrm>
            <a:off x="521280" y="416052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1e88e5"/>
                </a:solidFill>
                <a:effectLst/>
                <a:uFillTx/>
                <a:latin typeface="Consolas"/>
                <a:ea typeface="Consolas"/>
              </a:rPr>
              <a:t>nmap -sCV 192.168.50.53</a:t>
            </a:r>
            <a:endParaRPr lang="es-ES" sz="950" b="0" u="none" strike="noStrike">
              <a:solidFill>
                <a:srgbClr val="ffffff"/>
              </a:solidFill>
              <a:effectLst/>
              <a:uFillTx/>
              <a:latin typeface="Arial"/>
            </a:endParaRPr>
          </a:p>
        </p:txBody>
      </p:sp>
      <p:sp>
        <p:nvSpPr>
          <p:cNvPr id="273" name="Text 12"/>
          <p:cNvSpPr/>
          <p:nvPr/>
        </p:nvSpPr>
        <p:spPr>
          <a:xfrm>
            <a:off x="521280" y="438912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Detección de versiones y scripts NSE</a:t>
            </a:r>
            <a:endParaRPr lang="es-ES" sz="950" b="0" u="none" strike="noStrike">
              <a:solidFill>
                <a:srgbClr val="ffffff"/>
              </a:solidFill>
              <a:effectLst/>
              <a:uFillTx/>
              <a:latin typeface="Arial"/>
            </a:endParaRPr>
          </a:p>
        </p:txBody>
      </p:sp>
      <p:sp>
        <p:nvSpPr>
          <p:cNvPr id="274" name="Shape 13"/>
          <p:cNvSpPr/>
          <p:nvPr/>
        </p:nvSpPr>
        <p:spPr>
          <a:xfrm>
            <a:off x="4617720" y="3520440"/>
            <a:ext cx="4022640" cy="529560"/>
          </a:xfrm>
          <a:prstGeom prst="rect">
            <a:avLst/>
          </a:prstGeom>
          <a:solidFill>
            <a:srgbClr val="101520"/>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75" name="Text 14"/>
          <p:cNvSpPr/>
          <p:nvPr/>
        </p:nvSpPr>
        <p:spPr>
          <a:xfrm>
            <a:off x="4727520" y="356616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1e88e5"/>
                </a:solidFill>
                <a:effectLst/>
                <a:uFillTx/>
                <a:latin typeface="Consolas"/>
                <a:ea typeface="Consolas"/>
              </a:rPr>
              <a:t>nmap -sV --script vuln</a:t>
            </a:r>
            <a:endParaRPr lang="es-ES" sz="950" b="0" u="none" strike="noStrike">
              <a:solidFill>
                <a:srgbClr val="ffffff"/>
              </a:solidFill>
              <a:effectLst/>
              <a:uFillTx/>
              <a:latin typeface="Arial"/>
            </a:endParaRPr>
          </a:p>
        </p:txBody>
      </p:sp>
      <p:sp>
        <p:nvSpPr>
          <p:cNvPr id="276" name="Text 15"/>
          <p:cNvSpPr/>
          <p:nvPr/>
        </p:nvSpPr>
        <p:spPr>
          <a:xfrm>
            <a:off x="4727520" y="379476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Correlación de versiones con base de datos CVE</a:t>
            </a:r>
            <a:endParaRPr lang="es-ES" sz="950" b="0" u="none" strike="noStrike">
              <a:solidFill>
                <a:srgbClr val="ffffff"/>
              </a:solidFill>
              <a:effectLst/>
              <a:uFillTx/>
              <a:latin typeface="Arial"/>
            </a:endParaRPr>
          </a:p>
        </p:txBody>
      </p:sp>
      <p:sp>
        <p:nvSpPr>
          <p:cNvPr id="277" name="Shape 16"/>
          <p:cNvSpPr/>
          <p:nvPr/>
        </p:nvSpPr>
        <p:spPr>
          <a:xfrm>
            <a:off x="4617720" y="4114800"/>
            <a:ext cx="4022640" cy="529560"/>
          </a:xfrm>
          <a:prstGeom prst="rect">
            <a:avLst/>
          </a:prstGeom>
          <a:solidFill>
            <a:srgbClr val="101520"/>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78" name="Text 17"/>
          <p:cNvSpPr/>
          <p:nvPr/>
        </p:nvSpPr>
        <p:spPr>
          <a:xfrm>
            <a:off x="4727520" y="416052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u="none" strike="noStrike">
                <a:solidFill>
                  <a:srgbClr val="1e88e5"/>
                </a:solidFill>
                <a:effectLst/>
                <a:uFillTx/>
                <a:latin typeface="Consolas"/>
                <a:ea typeface="Consolas"/>
              </a:rPr>
              <a:t>wpscan --enumerate u,vp,vt</a:t>
            </a:r>
            <a:endParaRPr lang="es-ES" sz="950" b="0" u="none" strike="noStrike">
              <a:solidFill>
                <a:srgbClr val="ffffff"/>
              </a:solidFill>
              <a:effectLst/>
              <a:uFillTx/>
              <a:latin typeface="Arial"/>
            </a:endParaRPr>
          </a:p>
        </p:txBody>
      </p:sp>
      <p:sp>
        <p:nvSpPr>
          <p:cNvPr id="279" name="Text 18"/>
          <p:cNvSpPr/>
          <p:nvPr/>
        </p:nvSpPr>
        <p:spPr>
          <a:xfrm>
            <a:off x="4727520" y="4389120"/>
            <a:ext cx="382140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Auditoría específica de WordPress (usuarios, plugins, temas)</a:t>
            </a:r>
            <a:endParaRPr lang="es-E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80"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281"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2 · VULNERABILIDADES ENCONTRADAS</a:t>
            </a:r>
            <a:endParaRPr lang="es-ES" sz="900" b="0" u="none" strike="noStrike">
              <a:solidFill>
                <a:srgbClr val="ffffff"/>
              </a:solidFill>
              <a:effectLst/>
              <a:uFillTx/>
              <a:latin typeface="Arial"/>
            </a:endParaRPr>
          </a:p>
        </p:txBody>
      </p:sp>
      <p:sp>
        <p:nvSpPr>
          <p:cNvPr id="282"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CVEs y Vulnerabilidades de Mayor Impacto</a:t>
            </a:r>
            <a:endParaRPr lang="es-ES" sz="2800" b="0" u="none" strike="noStrike">
              <a:solidFill>
                <a:srgbClr val="ffffff"/>
              </a:solidFill>
              <a:effectLst/>
              <a:uFillTx/>
              <a:latin typeface="Arial"/>
            </a:endParaRPr>
          </a:p>
        </p:txBody>
      </p:sp>
      <p:sp>
        <p:nvSpPr>
          <p:cNvPr id="283"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284"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9 / 17</a:t>
            </a:r>
            <a:endParaRPr lang="es-ES" sz="900" b="0" u="none" strike="noStrike">
              <a:solidFill>
                <a:srgbClr val="ffffff"/>
              </a:solidFill>
              <a:effectLst/>
              <a:uFillTx/>
              <a:latin typeface="Arial"/>
            </a:endParaRPr>
          </a:p>
        </p:txBody>
      </p:sp>
      <p:graphicFrame>
        <p:nvGraphicFramePr>
          <p:cNvPr id="285" name="Table 0"/>
          <p:cNvGraphicFramePr/>
          <p:nvPr/>
        </p:nvGraphicFramePr>
        <p:xfrm>
          <a:off x="411480" y="1298520"/>
          <a:ext cx="8320680" cy="3071880"/>
        </p:xfrm>
        <a:graphic>
          <a:graphicData uri="http://schemas.openxmlformats.org/drawingml/2006/table">
            <a:tbl>
              <a:tblPr/>
              <a:tblGrid>
                <a:gridCol w="2103120"/>
                <a:gridCol w="685800"/>
                <a:gridCol w="822960"/>
                <a:gridCol w="1417320"/>
                <a:gridCol w="3291840"/>
              </a:tblGrid>
              <a:tr h="438840">
                <a:tc>
                  <a:txBody>
                    <a:bodyPr anchor="t">
                      <a:noAutofit/>
                    </a:bodyPr>
                    <a:p>
                      <a:pPr defTabSz="914400">
                        <a:lnSpc>
                          <a:spcPct val="100000"/>
                        </a:lnSpc>
                        <a:tabLst>
                          <a:tab algn="l" pos="0"/>
                        </a:tabLst>
                      </a:pPr>
                      <a:r>
                        <a:rPr lang="en-US" sz="1000" b="1" u="none" strike="noStrike">
                          <a:solidFill>
                            <a:srgbClr val="ffffff"/>
                          </a:solidFill>
                          <a:effectLst/>
                          <a:uFillTx/>
                          <a:latin typeface="Calibri"/>
                        </a:rPr>
                        <a:t>CVE / ID</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Score</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Nivel</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Servicio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Descripción</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r>
              <a:tr h="438840">
                <a:tc>
                  <a:txBody>
                    <a:bodyPr anchor="t">
                      <a:noAutofit/>
                    </a:bodyPr>
                    <a:p>
                      <a:pPr defTabSz="914400">
                        <a:lnSpc>
                          <a:spcPct val="100000"/>
                        </a:lnSpc>
                        <a:tabLst>
                          <a:tab algn="l" pos="0"/>
                        </a:tabLst>
                      </a:pPr>
                      <a:r>
                        <a:rPr lang="en-US" sz="950" b="1" u="none" strike="noStrike">
                          <a:solidFill>
                            <a:srgbClr val="1e88e5"/>
                          </a:solidFill>
                          <a:effectLst/>
                          <a:uFillTx/>
                          <a:latin typeface="Calibri"/>
                        </a:rPr>
                        <a:t>CVE-2023-38408</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9.8</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OpenSSH</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Ejecución de código remoto (RCE)</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38840">
                <a:tc>
                  <a:txBody>
                    <a:bodyPr anchor="t">
                      <a:noAutofit/>
                    </a:bodyPr>
                    <a:p>
                      <a:pPr defTabSz="914400">
                        <a:lnSpc>
                          <a:spcPct val="100000"/>
                        </a:lnSpc>
                        <a:tabLst>
                          <a:tab algn="l" pos="0"/>
                        </a:tabLst>
                      </a:pPr>
                      <a:r>
                        <a:rPr lang="en-US" sz="950" b="1" u="none" strike="noStrike">
                          <a:solidFill>
                            <a:srgbClr val="1e88e5"/>
                          </a:solidFill>
                          <a:effectLst/>
                          <a:uFillTx/>
                          <a:latin typeface="Calibri"/>
                        </a:rPr>
                        <a:t>CVE-2023-28531</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9.8</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OpenSSH</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Evasión de autenticación</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38840">
                <a:tc>
                  <a:txBody>
                    <a:bodyPr anchor="t">
                      <a:noAutofit/>
                    </a:bodyPr>
                    <a:p>
                      <a:pPr defTabSz="914400">
                        <a:lnSpc>
                          <a:spcPct val="100000"/>
                        </a:lnSpc>
                        <a:tabLst>
                          <a:tab algn="l" pos="0"/>
                        </a:tabLst>
                      </a:pPr>
                      <a:r>
                        <a:rPr lang="en-US" sz="950" b="1" u="none" strike="noStrike">
                          <a:solidFill>
                            <a:srgbClr val="1e88e5"/>
                          </a:solidFill>
                          <a:effectLst/>
                          <a:uFillTx/>
                          <a:latin typeface="Calibri"/>
                        </a:rPr>
                        <a:t>PACKETSTORM:179290</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10.0</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OpenSSH</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Exploit público de RCE disponible</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38840">
                <a:tc>
                  <a:txBody>
                    <a:bodyPr anchor="t">
                      <a:noAutofit/>
                    </a:bodyPr>
                    <a:p>
                      <a:pPr defTabSz="914400">
                        <a:lnSpc>
                          <a:spcPct val="100000"/>
                        </a:lnSpc>
                        <a:tabLst>
                          <a:tab algn="l" pos="0"/>
                        </a:tabLst>
                      </a:pPr>
                      <a:r>
                        <a:rPr lang="en-US" sz="950" b="1" u="none" strike="noStrike">
                          <a:solidFill>
                            <a:srgbClr val="1e88e5"/>
                          </a:solidFill>
                          <a:effectLst/>
                          <a:uFillTx/>
                          <a:latin typeface="Calibri"/>
                        </a:rPr>
                        <a:t>CVE-2021-30047</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7.5</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vsftpd 3.0.3</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Cross-Site Scripting (XSS) persistente</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38840">
                <a:tc>
                  <a:txBody>
                    <a:bodyPr anchor="t">
                      <a:noAutofit/>
                    </a:bodyPr>
                    <a:p>
                      <a:pPr defTabSz="914400">
                        <a:lnSpc>
                          <a:spcPct val="100000"/>
                        </a:lnSpc>
                        <a:tabLst>
                          <a:tab algn="l" pos="0"/>
                        </a:tabLst>
                      </a:pPr>
                      <a:r>
                        <a:rPr lang="en-US" sz="950" b="1" u="none" strike="noStrike">
                          <a:solidFill>
                            <a:srgbClr val="1e88e5"/>
                          </a:solidFill>
                          <a:effectLst/>
                          <a:uFillTx/>
                          <a:latin typeface="Calibri"/>
                        </a:rPr>
                        <a:t>CVE-2021-3618</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7.4</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vsftpd 3.0.3</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Manipulación arbitraria de archivos</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38840">
                <a:tc>
                  <a:txBody>
                    <a:bodyPr anchor="t">
                      <a:noAutofit/>
                    </a:bodyPr>
                    <a:p>
                      <a:pPr defTabSz="914400">
                        <a:lnSpc>
                          <a:spcPct val="100000"/>
                        </a:lnSpc>
                        <a:tabLst>
                          <a:tab algn="l" pos="0"/>
                        </a:tabLst>
                      </a:pPr>
                      <a:r>
                        <a:rPr lang="en-US" sz="950" b="1" u="none" strike="noStrike">
                          <a:solidFill>
                            <a:srgbClr val="1e88e5"/>
                          </a:solidFill>
                          <a:effectLst/>
                          <a:uFillTx/>
                          <a:latin typeface="Calibri"/>
                        </a:rPr>
                        <a:t>CVE-2025-58674</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N/A</a:t>
                      </a:r>
                      <a:endParaRPr lang="es-ES" sz="1000" b="0" u="none" strike="noStrike">
                        <a:solidFill>
                          <a:srgbClr val="000000"/>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f9a825"/>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MEDIO</a:t>
                      </a:r>
                      <a:endParaRPr lang="es-ES" sz="900" b="0" u="none" strike="noStrike">
                        <a:solidFill>
                          <a:srgbClr val="000000"/>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f9a825"/>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WordPress 6.6.2</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0" u="none" strike="noStrike">
                          <a:solidFill>
                            <a:srgbClr val="cfd8dc"/>
                          </a:solidFill>
                          <a:effectLst/>
                          <a:uFillTx/>
                          <a:latin typeface="Calibri"/>
                        </a:rPr>
                        <a:t>DOM Stored XSS (&lt; 6.8.3)</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bl>
          </a:graphicData>
        </a:graphic>
      </p:graphicFrame>
      <p:sp>
        <p:nvSpPr>
          <p:cNvPr id="286" name="Text 5"/>
          <p:cNvSpPr/>
          <p:nvPr/>
        </p:nvSpPr>
        <p:spPr>
          <a:xfrm>
            <a:off x="411480" y="4224600"/>
            <a:ext cx="8320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cfd8dc"/>
                </a:solidFill>
                <a:effectLst/>
                <a:uFillTx/>
                <a:latin typeface="Calibri"/>
                <a:ea typeface="Calibri"/>
              </a:rPr>
              <a:t>Impacto potencial si se explotan los CVEs críticos de OpenSSH:</a:t>
            </a:r>
            <a:endParaRPr lang="es-ES" sz="1050" b="0" u="none" strike="noStrike">
              <a:solidFill>
                <a:srgbClr val="ffffff"/>
              </a:solidFill>
              <a:effectLst/>
              <a:uFillTx/>
              <a:latin typeface="Arial"/>
            </a:endParaRPr>
          </a:p>
        </p:txBody>
      </p:sp>
      <p:sp>
        <p:nvSpPr>
          <p:cNvPr id="287" name="Text 6"/>
          <p:cNvSpPr/>
          <p:nvPr/>
        </p:nvSpPr>
        <p:spPr>
          <a:xfrm>
            <a:off x="411480" y="4498920"/>
            <a:ext cx="406836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Ejecución remota de código sin autenticación previa</a:t>
            </a:r>
            <a:endParaRPr lang="es-ES" sz="1000" b="0" u="none" strike="noStrike">
              <a:solidFill>
                <a:srgbClr val="ffffff"/>
              </a:solidFill>
              <a:effectLst/>
              <a:uFillTx/>
              <a:latin typeface="Arial"/>
            </a:endParaRPr>
          </a:p>
        </p:txBody>
      </p:sp>
      <p:sp>
        <p:nvSpPr>
          <p:cNvPr id="288" name="Text 7"/>
          <p:cNvSpPr/>
          <p:nvPr/>
        </p:nvSpPr>
        <p:spPr>
          <a:xfrm>
            <a:off x="411480" y="4754880"/>
            <a:ext cx="406836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Toma de control total del servidor</a:t>
            </a:r>
            <a:endParaRPr lang="es-ES" sz="1000" b="0" u="none" strike="noStrike">
              <a:solidFill>
                <a:srgbClr val="ffffff"/>
              </a:solidFill>
              <a:effectLst/>
              <a:uFillTx/>
              <a:latin typeface="Arial"/>
            </a:endParaRPr>
          </a:p>
        </p:txBody>
      </p:sp>
      <p:sp>
        <p:nvSpPr>
          <p:cNvPr id="289" name="Text 8"/>
          <p:cNvSpPr/>
          <p:nvPr/>
        </p:nvSpPr>
        <p:spPr>
          <a:xfrm>
            <a:off x="4617720" y="4498920"/>
            <a:ext cx="406836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Acceso a base de datos MySQL y datos de clientes</a:t>
            </a:r>
            <a:endParaRPr lang="es-ES" sz="1000" b="0" u="none" strike="noStrike">
              <a:solidFill>
                <a:srgbClr val="ffffff"/>
              </a:solidFill>
              <a:effectLst/>
              <a:uFillTx/>
              <a:latin typeface="Arial"/>
            </a:endParaRPr>
          </a:p>
        </p:txBody>
      </p:sp>
      <p:sp>
        <p:nvSpPr>
          <p:cNvPr id="290" name="Text 9"/>
          <p:cNvSpPr/>
          <p:nvPr/>
        </p:nvSpPr>
        <p:spPr>
          <a:xfrm>
            <a:off x="4617720" y="4754880"/>
            <a:ext cx="4068360" cy="218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Uso del servidor como punto de pivote hacia la red interna</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91"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292"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2 · EXPLOTACIÓN CONTROLADA</a:t>
            </a:r>
            <a:endParaRPr lang="es-ES" sz="900" b="0" u="none" strike="noStrike">
              <a:solidFill>
                <a:srgbClr val="ffffff"/>
              </a:solidFill>
              <a:effectLst/>
              <a:uFillTx/>
              <a:latin typeface="Arial"/>
            </a:endParaRPr>
          </a:p>
        </p:txBody>
      </p:sp>
      <p:sp>
        <p:nvSpPr>
          <p:cNvPr id="293"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Denegación de Servicio SSH: Prueba de Concepto</a:t>
            </a:r>
            <a:endParaRPr lang="es-ES" sz="2800" b="0" u="none" strike="noStrike">
              <a:solidFill>
                <a:srgbClr val="ffffff"/>
              </a:solidFill>
              <a:effectLst/>
              <a:uFillTx/>
              <a:latin typeface="Arial"/>
            </a:endParaRPr>
          </a:p>
        </p:txBody>
      </p:sp>
      <p:sp>
        <p:nvSpPr>
          <p:cNvPr id="294"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295"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10 / 17</a:t>
            </a:r>
            <a:endParaRPr lang="es-ES" sz="900" b="0" u="none" strike="noStrike">
              <a:solidFill>
                <a:srgbClr val="ffffff"/>
              </a:solidFill>
              <a:effectLst/>
              <a:uFillTx/>
              <a:latin typeface="Arial"/>
            </a:endParaRPr>
          </a:p>
        </p:txBody>
      </p:sp>
      <p:sp>
        <p:nvSpPr>
          <p:cNvPr id="296" name="Shape 5"/>
          <p:cNvSpPr/>
          <p:nvPr/>
        </p:nvSpPr>
        <p:spPr>
          <a:xfrm>
            <a:off x="411480" y="1325880"/>
            <a:ext cx="4159800" cy="356544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97" name="Shape 6"/>
          <p:cNvSpPr/>
          <p:nvPr/>
        </p:nvSpPr>
        <p:spPr>
          <a:xfrm>
            <a:off x="411480" y="1325880"/>
            <a:ext cx="63360" cy="356544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298" name="Text 7"/>
          <p:cNvSpPr/>
          <p:nvPr/>
        </p:nvSpPr>
        <p:spPr>
          <a:xfrm>
            <a:off x="594360" y="1444680"/>
            <a:ext cx="385812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trike="noStrike">
                <a:solidFill>
                  <a:srgbClr val="ffffff"/>
                </a:solidFill>
                <a:effectLst/>
                <a:uFillTx/>
                <a:latin typeface="Calibri"/>
                <a:ea typeface="Calibri"/>
              </a:rPr>
              <a:t>Vector de Ataque: SSH Flood</a:t>
            </a:r>
            <a:endParaRPr lang="es-ES" sz="1200" b="0" u="none" strike="noStrike">
              <a:solidFill>
                <a:srgbClr val="ffffff"/>
              </a:solidFill>
              <a:effectLst/>
              <a:uFillTx/>
              <a:latin typeface="Arial"/>
            </a:endParaRPr>
          </a:p>
        </p:txBody>
      </p:sp>
      <p:sp>
        <p:nvSpPr>
          <p:cNvPr id="299" name="Text 8"/>
          <p:cNvSpPr/>
          <p:nvPr/>
        </p:nvSpPr>
        <p:spPr>
          <a:xfrm>
            <a:off x="594360" y="1783080"/>
            <a:ext cx="3858120" cy="803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0" u="none" strike="noStrike">
                <a:solidFill>
                  <a:srgbClr val="cfd8dc"/>
                </a:solidFill>
                <a:effectLst/>
                <a:uFillTx/>
                <a:latin typeface="Calibri"/>
                <a:ea typeface="Calibri"/>
              </a:rPr>
              <a:t>Se desarrolló un script Python (SSH_Flood.py) que abre 500 conexiones TCP simultáneas al puerto 22, manteniéndolas abiertas (slow-dead) para agotar los recursos del demonio sshd.</a:t>
            </a:r>
            <a:endParaRPr lang="es-ES" sz="1050" b="0" u="none" strike="noStrike">
              <a:solidFill>
                <a:srgbClr val="ffffff"/>
              </a:solidFill>
              <a:effectLst/>
              <a:uFillTx/>
              <a:latin typeface="Arial"/>
            </a:endParaRPr>
          </a:p>
        </p:txBody>
      </p:sp>
      <p:sp>
        <p:nvSpPr>
          <p:cNvPr id="300" name="Text 9"/>
          <p:cNvSpPr/>
          <p:nvPr/>
        </p:nvSpPr>
        <p:spPr>
          <a:xfrm>
            <a:off x="594360" y="2651760"/>
            <a:ext cx="38581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ef5350"/>
                </a:solidFill>
                <a:effectLst/>
                <a:uFillTx/>
                <a:latin typeface="Calibri"/>
                <a:ea typeface="Calibri"/>
              </a:rPr>
              <a:t>Impacto confirmado:</a:t>
            </a:r>
            <a:endParaRPr lang="es-ES" sz="1050" b="0" u="none" strike="noStrike">
              <a:solidFill>
                <a:srgbClr val="ffffff"/>
              </a:solidFill>
              <a:effectLst/>
              <a:uFillTx/>
              <a:latin typeface="Arial"/>
            </a:endParaRPr>
          </a:p>
        </p:txBody>
      </p:sp>
      <p:sp>
        <p:nvSpPr>
          <p:cNvPr id="301" name="Text 10"/>
          <p:cNvSpPr/>
          <p:nvPr/>
        </p:nvSpPr>
        <p:spPr>
          <a:xfrm>
            <a:off x="594360" y="2944440"/>
            <a:ext cx="38581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Servicio SSH inoperativo durante el ataque</a:t>
            </a:r>
            <a:endParaRPr lang="es-ES" sz="1000" b="0" u="none" strike="noStrike">
              <a:solidFill>
                <a:srgbClr val="ffffff"/>
              </a:solidFill>
              <a:effectLst/>
              <a:uFillTx/>
              <a:latin typeface="Arial"/>
            </a:endParaRPr>
          </a:p>
        </p:txBody>
      </p:sp>
      <p:sp>
        <p:nvSpPr>
          <p:cNvPr id="302" name="Text 11"/>
          <p:cNvSpPr/>
          <p:nvPr/>
        </p:nvSpPr>
        <p:spPr>
          <a:xfrm>
            <a:off x="594360" y="3255120"/>
            <a:ext cx="38581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Administrador bloqueado (no puede conectarse)</a:t>
            </a:r>
            <a:endParaRPr lang="es-ES" sz="1000" b="0" u="none" strike="noStrike">
              <a:solidFill>
                <a:srgbClr val="ffffff"/>
              </a:solidFill>
              <a:effectLst/>
              <a:uFillTx/>
              <a:latin typeface="Arial"/>
            </a:endParaRPr>
          </a:p>
        </p:txBody>
      </p:sp>
      <p:sp>
        <p:nvSpPr>
          <p:cNvPr id="303" name="Text 12"/>
          <p:cNvSpPr/>
          <p:nvPr/>
        </p:nvSpPr>
        <p:spPr>
          <a:xfrm>
            <a:off x="594360" y="3566160"/>
            <a:ext cx="38581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Error: kex_exchange_identification: Connection reset by peer</a:t>
            </a:r>
            <a:endParaRPr lang="es-ES" sz="1000" b="0" u="none" strike="noStrike">
              <a:solidFill>
                <a:srgbClr val="ffffff"/>
              </a:solidFill>
              <a:effectLst/>
              <a:uFillTx/>
              <a:latin typeface="Arial"/>
            </a:endParaRPr>
          </a:p>
        </p:txBody>
      </p:sp>
      <p:sp>
        <p:nvSpPr>
          <p:cNvPr id="304" name="Text 13"/>
          <p:cNvSpPr/>
          <p:nvPr/>
        </p:nvSpPr>
        <p:spPr>
          <a:xfrm>
            <a:off x="594360" y="3877200"/>
            <a:ext cx="38581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c62828"/>
                </a:solidFill>
                <a:effectLst/>
                <a:uFillTx/>
                <a:latin typeface="Calibri"/>
                <a:ea typeface="Calibri"/>
              </a:rPr>
              <a:t>✗ </a:t>
            </a:r>
            <a:r>
              <a:rPr lang="en-US" sz="1000" b="0" u="none" strike="noStrike">
                <a:solidFill>
                  <a:srgbClr val="cfd8dc"/>
                </a:solidFill>
                <a:effectLst/>
                <a:uFillTx/>
                <a:latin typeface="Calibri"/>
                <a:ea typeface="Calibri"/>
              </a:rPr>
              <a:t>Sin posibilidad de detener el ataque remotamente</a:t>
            </a:r>
            <a:endParaRPr lang="es-ES" sz="1000" b="0" u="none" strike="noStrike">
              <a:solidFill>
                <a:srgbClr val="ffffff"/>
              </a:solidFill>
              <a:effectLst/>
              <a:uFillTx/>
              <a:latin typeface="Arial"/>
            </a:endParaRPr>
          </a:p>
        </p:txBody>
      </p:sp>
      <p:sp>
        <p:nvSpPr>
          <p:cNvPr id="305" name="Text 14"/>
          <p:cNvSpPr/>
          <p:nvPr/>
        </p:nvSpPr>
        <p:spPr>
          <a:xfrm>
            <a:off x="594360" y="4590360"/>
            <a:ext cx="38581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1" i="1" u="none" strike="noStrike">
                <a:solidFill>
                  <a:srgbClr val="c62828"/>
                </a:solidFill>
                <a:effectLst/>
                <a:uFillTx/>
                <a:latin typeface="Calibri"/>
                <a:ea typeface="Calibri"/>
              </a:rPr>
              <a:t>Objetivo cumplido: Aislamiento administrativo total del servidor.</a:t>
            </a:r>
            <a:endParaRPr lang="es-ES" sz="950" b="0" u="none" strike="noStrike">
              <a:solidFill>
                <a:srgbClr val="ffffff"/>
              </a:solidFill>
              <a:effectLst/>
              <a:uFillTx/>
              <a:latin typeface="Arial"/>
            </a:endParaRPr>
          </a:p>
        </p:txBody>
      </p:sp>
      <p:sp>
        <p:nvSpPr>
          <p:cNvPr id="306" name="Shape 15"/>
          <p:cNvSpPr/>
          <p:nvPr/>
        </p:nvSpPr>
        <p:spPr>
          <a:xfrm>
            <a:off x="4709160" y="1325880"/>
            <a:ext cx="4022640" cy="356544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07" name="Text 16"/>
          <p:cNvSpPr/>
          <p:nvPr/>
        </p:nvSpPr>
        <p:spPr>
          <a:xfrm>
            <a:off x="4846320" y="1389960"/>
            <a:ext cx="3748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1e88e5"/>
                </a:solidFill>
                <a:effectLst/>
                <a:uFillTx/>
                <a:latin typeface="Consolas"/>
                <a:ea typeface="Consolas"/>
              </a:rPr>
              <a:t>SSH_Flood.py  ·  Python 3</a:t>
            </a:r>
            <a:endParaRPr lang="es-ES" sz="900" b="0" u="none" strike="noStrike">
              <a:solidFill>
                <a:srgbClr val="ffffff"/>
              </a:solidFill>
              <a:effectLst/>
              <a:uFillTx/>
              <a:latin typeface="Arial"/>
            </a:endParaRPr>
          </a:p>
        </p:txBody>
      </p:sp>
      <p:sp>
        <p:nvSpPr>
          <p:cNvPr id="308" name="Shape 17"/>
          <p:cNvSpPr/>
          <p:nvPr/>
        </p:nvSpPr>
        <p:spPr>
          <a:xfrm>
            <a:off x="4709160" y="1645920"/>
            <a:ext cx="402336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309" name="Text 18"/>
          <p:cNvSpPr/>
          <p:nvPr/>
        </p:nvSpPr>
        <p:spPr>
          <a:xfrm>
            <a:off x="4846320" y="173736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import socket, threading, sys</a:t>
            </a:r>
            <a:endParaRPr lang="es-ES" sz="880" b="0" u="none" strike="noStrike">
              <a:solidFill>
                <a:srgbClr val="ffffff"/>
              </a:solidFill>
              <a:effectLst/>
              <a:uFillTx/>
              <a:latin typeface="Arial"/>
            </a:endParaRPr>
          </a:p>
        </p:txBody>
      </p:sp>
      <p:sp>
        <p:nvSpPr>
          <p:cNvPr id="310" name="Text 19"/>
          <p:cNvSpPr/>
          <p:nvPr/>
        </p:nvSpPr>
        <p:spPr>
          <a:xfrm>
            <a:off x="4846320" y="188820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880" b="0" u="none" strike="noStrike">
              <a:solidFill>
                <a:schemeClr val="dk1"/>
              </a:solidFill>
              <a:effectLst/>
              <a:uFillTx/>
              <a:latin typeface="Calibri"/>
            </a:endParaRPr>
          </a:p>
        </p:txBody>
      </p:sp>
      <p:sp>
        <p:nvSpPr>
          <p:cNvPr id="311" name="Text 20"/>
          <p:cNvSpPr/>
          <p:nvPr/>
        </p:nvSpPr>
        <p:spPr>
          <a:xfrm>
            <a:off x="4846320" y="203904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target_ip   = '192.168.50.53'</a:t>
            </a:r>
            <a:endParaRPr lang="es-ES" sz="880" b="0" u="none" strike="noStrike">
              <a:solidFill>
                <a:srgbClr val="ffffff"/>
              </a:solidFill>
              <a:effectLst/>
              <a:uFillTx/>
              <a:latin typeface="Arial"/>
            </a:endParaRPr>
          </a:p>
        </p:txBody>
      </p:sp>
      <p:sp>
        <p:nvSpPr>
          <p:cNvPr id="312" name="Text 21"/>
          <p:cNvSpPr/>
          <p:nvPr/>
        </p:nvSpPr>
        <p:spPr>
          <a:xfrm>
            <a:off x="4846320" y="218988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target_port = 22</a:t>
            </a:r>
            <a:endParaRPr lang="es-ES" sz="880" b="0" u="none" strike="noStrike">
              <a:solidFill>
                <a:srgbClr val="ffffff"/>
              </a:solidFill>
              <a:effectLst/>
              <a:uFillTx/>
              <a:latin typeface="Arial"/>
            </a:endParaRPr>
          </a:p>
        </p:txBody>
      </p:sp>
      <p:sp>
        <p:nvSpPr>
          <p:cNvPr id="313" name="Text 22"/>
          <p:cNvSpPr/>
          <p:nvPr/>
        </p:nvSpPr>
        <p:spPr>
          <a:xfrm>
            <a:off x="4846320" y="234072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threads     = 500   # conexiones</a:t>
            </a:r>
            <a:endParaRPr lang="es-ES" sz="880" b="0" u="none" strike="noStrike">
              <a:solidFill>
                <a:srgbClr val="ffffff"/>
              </a:solidFill>
              <a:effectLst/>
              <a:uFillTx/>
              <a:latin typeface="Arial"/>
            </a:endParaRPr>
          </a:p>
        </p:txBody>
      </p:sp>
      <p:sp>
        <p:nvSpPr>
          <p:cNvPr id="314" name="Text 23"/>
          <p:cNvSpPr/>
          <p:nvPr/>
        </p:nvSpPr>
        <p:spPr>
          <a:xfrm>
            <a:off x="4846320" y="249192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880" b="0" u="none" strike="noStrike">
              <a:solidFill>
                <a:schemeClr val="dk1"/>
              </a:solidFill>
              <a:effectLst/>
              <a:uFillTx/>
              <a:latin typeface="Calibri"/>
            </a:endParaRPr>
          </a:p>
        </p:txBody>
      </p:sp>
      <p:sp>
        <p:nvSpPr>
          <p:cNvPr id="315" name="Text 24"/>
          <p:cNvSpPr/>
          <p:nvPr/>
        </p:nvSpPr>
        <p:spPr>
          <a:xfrm>
            <a:off x="4846320" y="264276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1e88e5"/>
                </a:solidFill>
                <a:effectLst/>
                <a:uFillTx/>
                <a:latin typeface="Consolas"/>
                <a:ea typeface="Consolas"/>
              </a:rPr>
              <a:t>def attack():</a:t>
            </a:r>
            <a:endParaRPr lang="es-ES" sz="880" b="0" u="none" strike="noStrike">
              <a:solidFill>
                <a:srgbClr val="ffffff"/>
              </a:solidFill>
              <a:effectLst/>
              <a:uFillTx/>
              <a:latin typeface="Arial"/>
            </a:endParaRPr>
          </a:p>
        </p:txBody>
      </p:sp>
      <p:sp>
        <p:nvSpPr>
          <p:cNvPr id="316" name="Text 25"/>
          <p:cNvSpPr/>
          <p:nvPr/>
        </p:nvSpPr>
        <p:spPr>
          <a:xfrm>
            <a:off x="4846320" y="279360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while True:</a:t>
            </a:r>
            <a:endParaRPr lang="es-ES" sz="880" b="0" u="none" strike="noStrike">
              <a:solidFill>
                <a:srgbClr val="ffffff"/>
              </a:solidFill>
              <a:effectLst/>
              <a:uFillTx/>
              <a:latin typeface="Arial"/>
            </a:endParaRPr>
          </a:p>
        </p:txBody>
      </p:sp>
      <p:sp>
        <p:nvSpPr>
          <p:cNvPr id="317" name="Text 26"/>
          <p:cNvSpPr/>
          <p:nvPr/>
        </p:nvSpPr>
        <p:spPr>
          <a:xfrm>
            <a:off x="4846320" y="294444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try:</a:t>
            </a:r>
            <a:endParaRPr lang="es-ES" sz="880" b="0" u="none" strike="noStrike">
              <a:solidFill>
                <a:srgbClr val="ffffff"/>
              </a:solidFill>
              <a:effectLst/>
              <a:uFillTx/>
              <a:latin typeface="Arial"/>
            </a:endParaRPr>
          </a:p>
        </p:txBody>
      </p:sp>
      <p:sp>
        <p:nvSpPr>
          <p:cNvPr id="318" name="Text 27"/>
          <p:cNvSpPr/>
          <p:nvPr/>
        </p:nvSpPr>
        <p:spPr>
          <a:xfrm>
            <a:off x="4846320" y="309528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s = socket.socket(</a:t>
            </a:r>
            <a:endParaRPr lang="es-ES" sz="880" b="0" u="none" strike="noStrike">
              <a:solidFill>
                <a:srgbClr val="ffffff"/>
              </a:solidFill>
              <a:effectLst/>
              <a:uFillTx/>
              <a:latin typeface="Arial"/>
            </a:endParaRPr>
          </a:p>
        </p:txBody>
      </p:sp>
      <p:sp>
        <p:nvSpPr>
          <p:cNvPr id="319" name="Text 28"/>
          <p:cNvSpPr/>
          <p:nvPr/>
        </p:nvSpPr>
        <p:spPr>
          <a:xfrm>
            <a:off x="4846320" y="324612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socket.AF_INET,</a:t>
            </a:r>
            <a:endParaRPr lang="es-ES" sz="880" b="0" u="none" strike="noStrike">
              <a:solidFill>
                <a:srgbClr val="ffffff"/>
              </a:solidFill>
              <a:effectLst/>
              <a:uFillTx/>
              <a:latin typeface="Arial"/>
            </a:endParaRPr>
          </a:p>
        </p:txBody>
      </p:sp>
      <p:sp>
        <p:nvSpPr>
          <p:cNvPr id="320" name="Text 29"/>
          <p:cNvSpPr/>
          <p:nvPr/>
        </p:nvSpPr>
        <p:spPr>
          <a:xfrm>
            <a:off x="4846320" y="339696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socket.SOCK_STREAM)</a:t>
            </a:r>
            <a:endParaRPr lang="es-ES" sz="880" b="0" u="none" strike="noStrike">
              <a:solidFill>
                <a:srgbClr val="ffffff"/>
              </a:solidFill>
              <a:effectLst/>
              <a:uFillTx/>
              <a:latin typeface="Arial"/>
            </a:endParaRPr>
          </a:p>
        </p:txBody>
      </p:sp>
      <p:sp>
        <p:nvSpPr>
          <p:cNvPr id="321" name="Text 30"/>
          <p:cNvSpPr/>
          <p:nvPr/>
        </p:nvSpPr>
        <p:spPr>
          <a:xfrm>
            <a:off x="4846320" y="354780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s.connect((target_ip,</a:t>
            </a:r>
            <a:endParaRPr lang="es-ES" sz="880" b="0" u="none" strike="noStrike">
              <a:solidFill>
                <a:srgbClr val="ffffff"/>
              </a:solidFill>
              <a:effectLst/>
              <a:uFillTx/>
              <a:latin typeface="Arial"/>
            </a:endParaRPr>
          </a:p>
        </p:txBody>
      </p:sp>
      <p:sp>
        <p:nvSpPr>
          <p:cNvPr id="322" name="Text 31"/>
          <p:cNvSpPr/>
          <p:nvPr/>
        </p:nvSpPr>
        <p:spPr>
          <a:xfrm>
            <a:off x="4846320" y="369864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target_port))</a:t>
            </a:r>
            <a:endParaRPr lang="es-ES" sz="880" b="0" u="none" strike="noStrike">
              <a:solidFill>
                <a:srgbClr val="ffffff"/>
              </a:solidFill>
              <a:effectLst/>
              <a:uFillTx/>
              <a:latin typeface="Arial"/>
            </a:endParaRPr>
          </a:p>
        </p:txBody>
      </p:sp>
      <p:sp>
        <p:nvSpPr>
          <p:cNvPr id="323" name="Text 32"/>
          <p:cNvSpPr/>
          <p:nvPr/>
        </p:nvSpPr>
        <p:spPr>
          <a:xfrm>
            <a:off x="4846320" y="384948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s.send(b'SSH-2.0-OpenSSH')</a:t>
            </a:r>
            <a:endParaRPr lang="es-ES" sz="880" b="0" u="none" strike="noStrike">
              <a:solidFill>
                <a:srgbClr val="ffffff"/>
              </a:solidFill>
              <a:effectLst/>
              <a:uFillTx/>
              <a:latin typeface="Arial"/>
            </a:endParaRPr>
          </a:p>
        </p:txBody>
      </p:sp>
      <p:sp>
        <p:nvSpPr>
          <p:cNvPr id="324" name="Text 33"/>
          <p:cNvSpPr/>
          <p:nvPr/>
        </p:nvSpPr>
        <p:spPr>
          <a:xfrm>
            <a:off x="4846320" y="400068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 hilo secuestrado</a:t>
            </a:r>
            <a:endParaRPr lang="es-ES" sz="880" b="0" u="none" strike="noStrike">
              <a:solidFill>
                <a:srgbClr val="ffffff"/>
              </a:solidFill>
              <a:effectLst/>
              <a:uFillTx/>
              <a:latin typeface="Arial"/>
            </a:endParaRPr>
          </a:p>
        </p:txBody>
      </p:sp>
      <p:sp>
        <p:nvSpPr>
          <p:cNvPr id="325" name="Text 34"/>
          <p:cNvSpPr/>
          <p:nvPr/>
        </p:nvSpPr>
        <p:spPr>
          <a:xfrm>
            <a:off x="4846320" y="415152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except: pass</a:t>
            </a:r>
            <a:endParaRPr lang="es-ES" sz="880" b="0" u="none" strike="noStrike">
              <a:solidFill>
                <a:srgbClr val="ffffff"/>
              </a:solidFill>
              <a:effectLst/>
              <a:uFillTx/>
              <a:latin typeface="Arial"/>
            </a:endParaRPr>
          </a:p>
        </p:txBody>
      </p:sp>
      <p:sp>
        <p:nvSpPr>
          <p:cNvPr id="326" name="Text 35"/>
          <p:cNvSpPr/>
          <p:nvPr/>
        </p:nvSpPr>
        <p:spPr>
          <a:xfrm>
            <a:off x="4846320" y="430236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880" b="0" u="none" strike="noStrike">
              <a:solidFill>
                <a:schemeClr val="dk1"/>
              </a:solidFill>
              <a:effectLst/>
              <a:uFillTx/>
              <a:latin typeface="Calibri"/>
            </a:endParaRPr>
          </a:p>
        </p:txBody>
      </p:sp>
      <p:sp>
        <p:nvSpPr>
          <p:cNvPr id="327" name="Text 36"/>
          <p:cNvSpPr/>
          <p:nvPr/>
        </p:nvSpPr>
        <p:spPr>
          <a:xfrm>
            <a:off x="4846320" y="445320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1e88e5"/>
                </a:solidFill>
                <a:effectLst/>
                <a:uFillTx/>
                <a:latin typeface="Consolas"/>
                <a:ea typeface="Consolas"/>
              </a:rPr>
              <a:t>for i in range(threads):</a:t>
            </a:r>
            <a:endParaRPr lang="es-ES" sz="880" b="0" u="none" strike="noStrike">
              <a:solidFill>
                <a:srgbClr val="ffffff"/>
              </a:solidFill>
              <a:effectLst/>
              <a:uFillTx/>
              <a:latin typeface="Arial"/>
            </a:endParaRPr>
          </a:p>
        </p:txBody>
      </p:sp>
      <p:sp>
        <p:nvSpPr>
          <p:cNvPr id="328" name="Text 37"/>
          <p:cNvSpPr/>
          <p:nvPr/>
        </p:nvSpPr>
        <p:spPr>
          <a:xfrm>
            <a:off x="4846320" y="460404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t = threading.Thread(</a:t>
            </a:r>
            <a:endParaRPr lang="es-ES" sz="880" b="0" u="none" strike="noStrike">
              <a:solidFill>
                <a:srgbClr val="ffffff"/>
              </a:solidFill>
              <a:effectLst/>
              <a:uFillTx/>
              <a:latin typeface="Arial"/>
            </a:endParaRPr>
          </a:p>
        </p:txBody>
      </p:sp>
      <p:sp>
        <p:nvSpPr>
          <p:cNvPr id="329" name="Text 38"/>
          <p:cNvSpPr/>
          <p:nvPr/>
        </p:nvSpPr>
        <p:spPr>
          <a:xfrm>
            <a:off x="4846320" y="475488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target=attack)</a:t>
            </a:r>
            <a:endParaRPr lang="es-ES" sz="880" b="0" u="none" strike="noStrike">
              <a:solidFill>
                <a:srgbClr val="ffffff"/>
              </a:solidFill>
              <a:effectLst/>
              <a:uFillTx/>
              <a:latin typeface="Arial"/>
            </a:endParaRPr>
          </a:p>
        </p:txBody>
      </p:sp>
      <p:sp>
        <p:nvSpPr>
          <p:cNvPr id="330" name="Text 39"/>
          <p:cNvSpPr/>
          <p:nvPr/>
        </p:nvSpPr>
        <p:spPr>
          <a:xfrm>
            <a:off x="4846320" y="4905720"/>
            <a:ext cx="374832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80" b="0" u="none" strike="noStrike">
                <a:solidFill>
                  <a:srgbClr val="ffffff"/>
                </a:solidFill>
                <a:effectLst/>
                <a:uFillTx/>
                <a:latin typeface="Consolas"/>
                <a:ea typeface="Consolas"/>
              </a:rPr>
              <a:t>  t.start()</a:t>
            </a:r>
            <a:endParaRPr lang="es-ES" sz="88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31"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332"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2 · AUDITORÍA WORDPRESS</a:t>
            </a:r>
            <a:endParaRPr lang="es-ES" sz="900" b="0" u="none" strike="noStrike">
              <a:solidFill>
                <a:srgbClr val="ffffff"/>
              </a:solidFill>
              <a:effectLst/>
              <a:uFillTx/>
              <a:latin typeface="Arial"/>
            </a:endParaRPr>
          </a:p>
        </p:txBody>
      </p:sp>
      <p:sp>
        <p:nvSpPr>
          <p:cNvPr id="333"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Hallazgos en la Aplicación Web</a:t>
            </a:r>
            <a:endParaRPr lang="es-ES" sz="2800" b="0" u="none" strike="noStrike">
              <a:solidFill>
                <a:srgbClr val="ffffff"/>
              </a:solidFill>
              <a:effectLst/>
              <a:uFillTx/>
              <a:latin typeface="Arial"/>
            </a:endParaRPr>
          </a:p>
        </p:txBody>
      </p:sp>
      <p:sp>
        <p:nvSpPr>
          <p:cNvPr id="334"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335"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11 / 17</a:t>
            </a:r>
            <a:endParaRPr lang="es-ES" sz="900" b="0" u="none" strike="noStrike">
              <a:solidFill>
                <a:srgbClr val="ffffff"/>
              </a:solidFill>
              <a:effectLst/>
              <a:uFillTx/>
              <a:latin typeface="Arial"/>
            </a:endParaRPr>
          </a:p>
        </p:txBody>
      </p:sp>
      <p:sp>
        <p:nvSpPr>
          <p:cNvPr id="336" name="Text 5"/>
          <p:cNvSpPr/>
          <p:nvPr/>
        </p:nvSpPr>
        <p:spPr>
          <a:xfrm>
            <a:off x="411480" y="1188720"/>
            <a:ext cx="832032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ef5350"/>
                </a:solidFill>
                <a:effectLst/>
                <a:uFillTx/>
                <a:latin typeface="Calibri"/>
                <a:ea typeface="Calibri"/>
              </a:rPr>
              <a:t>WordPress 6.6.2 — Versión insegura (lanzada 2024-09-10)</a:t>
            </a:r>
            <a:endParaRPr lang="es-ES" sz="1100" b="0" u="none" strike="noStrike">
              <a:solidFill>
                <a:srgbClr val="ffffff"/>
              </a:solidFill>
              <a:effectLst/>
              <a:uFillTx/>
              <a:latin typeface="Arial"/>
            </a:endParaRPr>
          </a:p>
        </p:txBody>
      </p:sp>
      <p:sp>
        <p:nvSpPr>
          <p:cNvPr id="337" name="Shape 6"/>
          <p:cNvSpPr/>
          <p:nvPr/>
        </p:nvSpPr>
        <p:spPr>
          <a:xfrm>
            <a:off x="411480" y="1536120"/>
            <a:ext cx="4022640" cy="959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38" name="Text 7"/>
          <p:cNvSpPr/>
          <p:nvPr/>
        </p:nvSpPr>
        <p:spPr>
          <a:xfrm>
            <a:off x="521280" y="160920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XML-RPC Habilitado</a:t>
            </a:r>
            <a:endParaRPr lang="es-ES" sz="1050" b="0" u="none" strike="noStrike">
              <a:solidFill>
                <a:srgbClr val="ffffff"/>
              </a:solidFill>
              <a:effectLst/>
              <a:uFillTx/>
              <a:latin typeface="Arial"/>
            </a:endParaRPr>
          </a:p>
        </p:txBody>
      </p:sp>
      <p:sp>
        <p:nvSpPr>
          <p:cNvPr id="339" name="Shape 8"/>
          <p:cNvSpPr/>
          <p:nvPr/>
        </p:nvSpPr>
        <p:spPr>
          <a:xfrm>
            <a:off x="3319200" y="1609200"/>
            <a:ext cx="913680" cy="2368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40" name="Text 9"/>
          <p:cNvSpPr/>
          <p:nvPr/>
        </p:nvSpPr>
        <p:spPr>
          <a:xfrm>
            <a:off x="3319200" y="1609200"/>
            <a:ext cx="9136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1" u="none" strike="noStrike">
                <a:solidFill>
                  <a:srgbClr val="ffffff"/>
                </a:solidFill>
                <a:effectLst/>
                <a:uFillTx/>
                <a:latin typeface="Calibri"/>
                <a:ea typeface="Calibri"/>
              </a:rPr>
              <a:t>CRÍTICO</a:t>
            </a:r>
            <a:endParaRPr lang="es-ES" sz="850" b="0" u="none" strike="noStrike">
              <a:solidFill>
                <a:srgbClr val="ffffff"/>
              </a:solidFill>
              <a:effectLst/>
              <a:uFillTx/>
              <a:latin typeface="Arial"/>
            </a:endParaRPr>
          </a:p>
        </p:txBody>
      </p:sp>
      <p:sp>
        <p:nvSpPr>
          <p:cNvPr id="341" name="Text 10"/>
          <p:cNvSpPr/>
          <p:nvPr/>
        </p:nvSpPr>
        <p:spPr>
          <a:xfrm>
            <a:off x="521280" y="1883520"/>
            <a:ext cx="37940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xmlrpc.php activo: permite ataques DDoS por amplificación y fuerza bruta de credenciales (multicall)</a:t>
            </a:r>
            <a:endParaRPr lang="es-ES" sz="950" b="0" u="none" strike="noStrike">
              <a:solidFill>
                <a:srgbClr val="ffffff"/>
              </a:solidFill>
              <a:effectLst/>
              <a:uFillTx/>
              <a:latin typeface="Arial"/>
            </a:endParaRPr>
          </a:p>
        </p:txBody>
      </p:sp>
      <p:sp>
        <p:nvSpPr>
          <p:cNvPr id="342" name="Shape 11"/>
          <p:cNvSpPr/>
          <p:nvPr/>
        </p:nvSpPr>
        <p:spPr>
          <a:xfrm>
            <a:off x="4617720" y="1536120"/>
            <a:ext cx="4022640" cy="959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43" name="Text 12"/>
          <p:cNvSpPr/>
          <p:nvPr/>
        </p:nvSpPr>
        <p:spPr>
          <a:xfrm>
            <a:off x="4727520" y="160920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robots.txt Expuesto</a:t>
            </a:r>
            <a:endParaRPr lang="es-ES" sz="1050" b="0" u="none" strike="noStrike">
              <a:solidFill>
                <a:srgbClr val="ffffff"/>
              </a:solidFill>
              <a:effectLst/>
              <a:uFillTx/>
              <a:latin typeface="Arial"/>
            </a:endParaRPr>
          </a:p>
        </p:txBody>
      </p:sp>
      <p:sp>
        <p:nvSpPr>
          <p:cNvPr id="344" name="Shape 13"/>
          <p:cNvSpPr/>
          <p:nvPr/>
        </p:nvSpPr>
        <p:spPr>
          <a:xfrm>
            <a:off x="7525440" y="1609200"/>
            <a:ext cx="913680" cy="23688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45" name="Text 14"/>
          <p:cNvSpPr/>
          <p:nvPr/>
        </p:nvSpPr>
        <p:spPr>
          <a:xfrm>
            <a:off x="7525440" y="1609200"/>
            <a:ext cx="9136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1" u="none" strike="noStrike">
                <a:solidFill>
                  <a:srgbClr val="ffffff"/>
                </a:solidFill>
                <a:effectLst/>
                <a:uFillTx/>
                <a:latin typeface="Calibri"/>
                <a:ea typeface="Calibri"/>
              </a:rPr>
              <a:t>ALTO</a:t>
            </a:r>
            <a:endParaRPr lang="es-ES" sz="850" b="0" u="none" strike="noStrike">
              <a:solidFill>
                <a:srgbClr val="ffffff"/>
              </a:solidFill>
              <a:effectLst/>
              <a:uFillTx/>
              <a:latin typeface="Arial"/>
            </a:endParaRPr>
          </a:p>
        </p:txBody>
      </p:sp>
      <p:sp>
        <p:nvSpPr>
          <p:cNvPr id="346" name="Text 15"/>
          <p:cNvSpPr/>
          <p:nvPr/>
        </p:nvSpPr>
        <p:spPr>
          <a:xfrm>
            <a:off x="4727520" y="1883520"/>
            <a:ext cx="37940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Revela rutas administrativas: /wp-admin/ y /wp-admin/admin-ajax.php a atacantes</a:t>
            </a:r>
            <a:endParaRPr lang="es-ES" sz="950" b="0" u="none" strike="noStrike">
              <a:solidFill>
                <a:srgbClr val="ffffff"/>
              </a:solidFill>
              <a:effectLst/>
              <a:uFillTx/>
              <a:latin typeface="Arial"/>
            </a:endParaRPr>
          </a:p>
        </p:txBody>
      </p:sp>
      <p:sp>
        <p:nvSpPr>
          <p:cNvPr id="347" name="Shape 16"/>
          <p:cNvSpPr/>
          <p:nvPr/>
        </p:nvSpPr>
        <p:spPr>
          <a:xfrm>
            <a:off x="411480" y="2587680"/>
            <a:ext cx="4022640" cy="959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48" name="Text 17"/>
          <p:cNvSpPr/>
          <p:nvPr/>
        </p:nvSpPr>
        <p:spPr>
          <a:xfrm>
            <a:off x="521280" y="266076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Upload Directory Listing</a:t>
            </a:r>
            <a:endParaRPr lang="es-ES" sz="1050" b="0" u="none" strike="noStrike">
              <a:solidFill>
                <a:srgbClr val="ffffff"/>
              </a:solidFill>
              <a:effectLst/>
              <a:uFillTx/>
              <a:latin typeface="Arial"/>
            </a:endParaRPr>
          </a:p>
        </p:txBody>
      </p:sp>
      <p:sp>
        <p:nvSpPr>
          <p:cNvPr id="349" name="Shape 18"/>
          <p:cNvSpPr/>
          <p:nvPr/>
        </p:nvSpPr>
        <p:spPr>
          <a:xfrm>
            <a:off x="3319200" y="2660760"/>
            <a:ext cx="913680" cy="23688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50" name="Text 19"/>
          <p:cNvSpPr/>
          <p:nvPr/>
        </p:nvSpPr>
        <p:spPr>
          <a:xfrm>
            <a:off x="3319200" y="2660760"/>
            <a:ext cx="9136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1" u="none" strike="noStrike">
                <a:solidFill>
                  <a:srgbClr val="ffffff"/>
                </a:solidFill>
                <a:effectLst/>
                <a:uFillTx/>
                <a:latin typeface="Calibri"/>
                <a:ea typeface="Calibri"/>
              </a:rPr>
              <a:t>ALTO</a:t>
            </a:r>
            <a:endParaRPr lang="es-ES" sz="850" b="0" u="none" strike="noStrike">
              <a:solidFill>
                <a:srgbClr val="ffffff"/>
              </a:solidFill>
              <a:effectLst/>
              <a:uFillTx/>
              <a:latin typeface="Arial"/>
            </a:endParaRPr>
          </a:p>
        </p:txBody>
      </p:sp>
      <p:sp>
        <p:nvSpPr>
          <p:cNvPr id="351" name="Text 20"/>
          <p:cNvSpPr/>
          <p:nvPr/>
        </p:nvSpPr>
        <p:spPr>
          <a:xfrm>
            <a:off x="521280" y="2935080"/>
            <a:ext cx="37940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wp-content/uploads/ con listado de directorios habilitado — exposición de archivos subidos</a:t>
            </a:r>
            <a:endParaRPr lang="es-ES" sz="950" b="0" u="none" strike="noStrike">
              <a:solidFill>
                <a:srgbClr val="ffffff"/>
              </a:solidFill>
              <a:effectLst/>
              <a:uFillTx/>
              <a:latin typeface="Arial"/>
            </a:endParaRPr>
          </a:p>
        </p:txBody>
      </p:sp>
      <p:sp>
        <p:nvSpPr>
          <p:cNvPr id="352" name="Shape 21"/>
          <p:cNvSpPr/>
          <p:nvPr/>
        </p:nvSpPr>
        <p:spPr>
          <a:xfrm>
            <a:off x="4617720" y="2587680"/>
            <a:ext cx="4022640" cy="959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53" name="Text 22"/>
          <p:cNvSpPr/>
          <p:nvPr/>
        </p:nvSpPr>
        <p:spPr>
          <a:xfrm>
            <a:off x="4727520" y="266076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DOM Stored XSS (CVE-2025-58674)</a:t>
            </a:r>
            <a:endParaRPr lang="es-ES" sz="1050" b="0" u="none" strike="noStrike">
              <a:solidFill>
                <a:srgbClr val="ffffff"/>
              </a:solidFill>
              <a:effectLst/>
              <a:uFillTx/>
              <a:latin typeface="Arial"/>
            </a:endParaRPr>
          </a:p>
        </p:txBody>
      </p:sp>
      <p:sp>
        <p:nvSpPr>
          <p:cNvPr id="354" name="Shape 23"/>
          <p:cNvSpPr/>
          <p:nvPr/>
        </p:nvSpPr>
        <p:spPr>
          <a:xfrm>
            <a:off x="7525440" y="2660760"/>
            <a:ext cx="913680" cy="236880"/>
          </a:xfrm>
          <a:prstGeom prst="rect">
            <a:avLst/>
          </a:prstGeom>
          <a:solidFill>
            <a:srgbClr val="f9a825"/>
          </a:solidFill>
          <a:ln w="12700">
            <a:solidFill>
              <a:srgbClr val="f9a825"/>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000000"/>
              </a:solidFill>
              <a:effectLst/>
              <a:uFillTx/>
              <a:latin typeface="Arial"/>
            </a:endParaRPr>
          </a:p>
        </p:txBody>
      </p:sp>
      <p:sp>
        <p:nvSpPr>
          <p:cNvPr id="355" name="Text 24"/>
          <p:cNvSpPr/>
          <p:nvPr/>
        </p:nvSpPr>
        <p:spPr>
          <a:xfrm>
            <a:off x="7525440" y="2660760"/>
            <a:ext cx="9136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1" u="none" strike="noStrike">
                <a:solidFill>
                  <a:srgbClr val="ffffff"/>
                </a:solidFill>
                <a:effectLst/>
                <a:uFillTx/>
                <a:latin typeface="Calibri"/>
                <a:ea typeface="Calibri"/>
              </a:rPr>
              <a:t>MEDIO</a:t>
            </a:r>
            <a:endParaRPr lang="es-ES" sz="850" b="0" u="none" strike="noStrike">
              <a:solidFill>
                <a:srgbClr val="ffffff"/>
              </a:solidFill>
              <a:effectLst/>
              <a:uFillTx/>
              <a:latin typeface="Arial"/>
            </a:endParaRPr>
          </a:p>
        </p:txBody>
      </p:sp>
      <p:sp>
        <p:nvSpPr>
          <p:cNvPr id="356" name="Text 25"/>
          <p:cNvSpPr/>
          <p:nvPr/>
        </p:nvSpPr>
        <p:spPr>
          <a:xfrm>
            <a:off x="4727520" y="2935080"/>
            <a:ext cx="37940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WordPress &lt; 6.8.3: XSS almacenado mediante Author+. Corregido en versión 6.6.4</a:t>
            </a:r>
            <a:endParaRPr lang="es-ES" sz="950" b="0" u="none" strike="noStrike">
              <a:solidFill>
                <a:srgbClr val="ffffff"/>
              </a:solidFill>
              <a:effectLst/>
              <a:uFillTx/>
              <a:latin typeface="Arial"/>
            </a:endParaRPr>
          </a:p>
        </p:txBody>
      </p:sp>
      <p:sp>
        <p:nvSpPr>
          <p:cNvPr id="357" name="Shape 26"/>
          <p:cNvSpPr/>
          <p:nvPr/>
        </p:nvSpPr>
        <p:spPr>
          <a:xfrm>
            <a:off x="411480" y="3639240"/>
            <a:ext cx="4022640" cy="959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58" name="Text 27"/>
          <p:cNvSpPr/>
          <p:nvPr/>
        </p:nvSpPr>
        <p:spPr>
          <a:xfrm>
            <a:off x="521280" y="371232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Sensitive Data Disclosure</a:t>
            </a:r>
            <a:endParaRPr lang="es-ES" sz="1050" b="0" u="none" strike="noStrike">
              <a:solidFill>
                <a:srgbClr val="ffffff"/>
              </a:solidFill>
              <a:effectLst/>
              <a:uFillTx/>
              <a:latin typeface="Arial"/>
            </a:endParaRPr>
          </a:p>
        </p:txBody>
      </p:sp>
      <p:sp>
        <p:nvSpPr>
          <p:cNvPr id="359" name="Shape 28"/>
          <p:cNvSpPr/>
          <p:nvPr/>
        </p:nvSpPr>
        <p:spPr>
          <a:xfrm>
            <a:off x="3319200" y="3712320"/>
            <a:ext cx="913680" cy="236880"/>
          </a:xfrm>
          <a:prstGeom prst="rect">
            <a:avLst/>
          </a:prstGeom>
          <a:solidFill>
            <a:srgbClr val="f9a825"/>
          </a:solidFill>
          <a:ln w="12700">
            <a:solidFill>
              <a:srgbClr val="f9a825"/>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000000"/>
              </a:solidFill>
              <a:effectLst/>
              <a:uFillTx/>
              <a:latin typeface="Arial"/>
            </a:endParaRPr>
          </a:p>
        </p:txBody>
      </p:sp>
      <p:sp>
        <p:nvSpPr>
          <p:cNvPr id="360" name="Text 29"/>
          <p:cNvSpPr/>
          <p:nvPr/>
        </p:nvSpPr>
        <p:spPr>
          <a:xfrm>
            <a:off x="3319200" y="3712320"/>
            <a:ext cx="9136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1" u="none" strike="noStrike">
                <a:solidFill>
                  <a:srgbClr val="ffffff"/>
                </a:solidFill>
                <a:effectLst/>
                <a:uFillTx/>
                <a:latin typeface="Calibri"/>
                <a:ea typeface="Calibri"/>
              </a:rPr>
              <a:t>MEDIO</a:t>
            </a:r>
            <a:endParaRPr lang="es-ES" sz="850" b="0" u="none" strike="noStrike">
              <a:solidFill>
                <a:srgbClr val="ffffff"/>
              </a:solidFill>
              <a:effectLst/>
              <a:uFillTx/>
              <a:latin typeface="Arial"/>
            </a:endParaRPr>
          </a:p>
        </p:txBody>
      </p:sp>
      <p:sp>
        <p:nvSpPr>
          <p:cNvPr id="361" name="Text 30"/>
          <p:cNvSpPr/>
          <p:nvPr/>
        </p:nvSpPr>
        <p:spPr>
          <a:xfrm>
            <a:off x="521280" y="3986640"/>
            <a:ext cx="37940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WordPress &lt; 6.8.3: divulgación de datos sensibles por colaboradores autenticados</a:t>
            </a:r>
            <a:endParaRPr lang="es-ES" sz="950" b="0" u="none" strike="noStrike">
              <a:solidFill>
                <a:srgbClr val="ffffff"/>
              </a:solidFill>
              <a:effectLst/>
              <a:uFillTx/>
              <a:latin typeface="Arial"/>
            </a:endParaRPr>
          </a:p>
        </p:txBody>
      </p:sp>
      <p:sp>
        <p:nvSpPr>
          <p:cNvPr id="362" name="Shape 31"/>
          <p:cNvSpPr/>
          <p:nvPr/>
        </p:nvSpPr>
        <p:spPr>
          <a:xfrm>
            <a:off x="4617720" y="3639240"/>
            <a:ext cx="4022640" cy="959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63" name="Text 32"/>
          <p:cNvSpPr/>
          <p:nvPr/>
        </p:nvSpPr>
        <p:spPr>
          <a:xfrm>
            <a:off x="4727520" y="3712320"/>
            <a:ext cx="274248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50" b="1" u="none" strike="noStrike">
                <a:solidFill>
                  <a:srgbClr val="ffffff"/>
                </a:solidFill>
                <a:effectLst/>
                <a:uFillTx/>
                <a:latin typeface="Calibri"/>
                <a:ea typeface="Calibri"/>
              </a:rPr>
              <a:t>🔴  Usuario 'wordpress-user' Enumerado</a:t>
            </a:r>
            <a:endParaRPr lang="es-ES" sz="1050" b="0" u="none" strike="noStrike">
              <a:solidFill>
                <a:srgbClr val="ffffff"/>
              </a:solidFill>
              <a:effectLst/>
              <a:uFillTx/>
              <a:latin typeface="Arial"/>
            </a:endParaRPr>
          </a:p>
        </p:txBody>
      </p:sp>
      <p:sp>
        <p:nvSpPr>
          <p:cNvPr id="364" name="Shape 33"/>
          <p:cNvSpPr/>
          <p:nvPr/>
        </p:nvSpPr>
        <p:spPr>
          <a:xfrm>
            <a:off x="7525440" y="3712320"/>
            <a:ext cx="913680" cy="23688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65" name="Text 34"/>
          <p:cNvSpPr/>
          <p:nvPr/>
        </p:nvSpPr>
        <p:spPr>
          <a:xfrm>
            <a:off x="7525440" y="3712320"/>
            <a:ext cx="9136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850" b="1" u="none" strike="noStrike">
                <a:solidFill>
                  <a:srgbClr val="ffffff"/>
                </a:solidFill>
                <a:effectLst/>
                <a:uFillTx/>
                <a:latin typeface="Calibri"/>
                <a:ea typeface="Calibri"/>
              </a:rPr>
              <a:t>CRÍTICO</a:t>
            </a:r>
            <a:endParaRPr lang="es-ES" sz="850" b="0" u="none" strike="noStrike">
              <a:solidFill>
                <a:srgbClr val="ffffff"/>
              </a:solidFill>
              <a:effectLst/>
              <a:uFillTx/>
              <a:latin typeface="Arial"/>
            </a:endParaRPr>
          </a:p>
        </p:txBody>
      </p:sp>
      <p:sp>
        <p:nvSpPr>
          <p:cNvPr id="366" name="Text 35"/>
          <p:cNvSpPr/>
          <p:nvPr/>
        </p:nvSpPr>
        <p:spPr>
          <a:xfrm>
            <a:off x="4727520" y="3986640"/>
            <a:ext cx="379404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90a4ae"/>
                </a:solidFill>
                <a:effectLst/>
                <a:uFillTx/>
                <a:latin typeface="Calibri"/>
                <a:ea typeface="Calibri"/>
              </a:rPr>
              <a:t>WPScan confirmó usuario real mediante WP JSON API — facilita ataques dirigidos de contraseña</a:t>
            </a:r>
            <a:endParaRPr lang="es-E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67"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368"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FASE 3 · BLUE TEAM · HARDENING</a:t>
            </a:r>
            <a:endParaRPr lang="es-ES" sz="900" b="0" u="none" strike="noStrike">
              <a:solidFill>
                <a:srgbClr val="ffffff"/>
              </a:solidFill>
              <a:effectLst/>
              <a:uFillTx/>
              <a:latin typeface="Arial"/>
            </a:endParaRPr>
          </a:p>
        </p:txBody>
      </p:sp>
      <p:sp>
        <p:nvSpPr>
          <p:cNvPr id="369"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Medidas Correctivas Aplicadas</a:t>
            </a:r>
            <a:endParaRPr lang="es-ES" sz="2800" b="0" u="none" strike="noStrike">
              <a:solidFill>
                <a:srgbClr val="ffffff"/>
              </a:solidFill>
              <a:effectLst/>
              <a:uFillTx/>
              <a:latin typeface="Arial"/>
            </a:endParaRPr>
          </a:p>
        </p:txBody>
      </p:sp>
      <p:sp>
        <p:nvSpPr>
          <p:cNvPr id="370"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371"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12 / 17</a:t>
            </a:r>
            <a:endParaRPr lang="es-ES" sz="900" b="0" u="none" strike="noStrike">
              <a:solidFill>
                <a:srgbClr val="ffffff"/>
              </a:solidFill>
              <a:effectLst/>
              <a:uFillTx/>
              <a:latin typeface="Arial"/>
            </a:endParaRPr>
          </a:p>
        </p:txBody>
      </p:sp>
      <p:graphicFrame>
        <p:nvGraphicFramePr>
          <p:cNvPr id="372" name="Table 0"/>
          <p:cNvGraphicFramePr/>
          <p:nvPr/>
        </p:nvGraphicFramePr>
        <p:xfrm>
          <a:off x="411480" y="1298520"/>
          <a:ext cx="8320680" cy="3583440"/>
        </p:xfrm>
        <a:graphic>
          <a:graphicData uri="http://schemas.openxmlformats.org/drawingml/2006/table">
            <a:tbl>
              <a:tblPr/>
              <a:tblGrid>
                <a:gridCol w="1005840"/>
                <a:gridCol w="2011680"/>
                <a:gridCol w="4069080"/>
                <a:gridCol w="1234440"/>
              </a:tblGrid>
              <a:tr h="511920">
                <a:tc>
                  <a:txBody>
                    <a:bodyPr anchor="t">
                      <a:noAutofit/>
                    </a:bodyPr>
                    <a:p>
                      <a:pPr defTabSz="914400">
                        <a:lnSpc>
                          <a:spcPct val="100000"/>
                        </a:lnSpc>
                        <a:tabLst>
                          <a:tab algn="l" pos="0"/>
                        </a:tabLst>
                      </a:pPr>
                      <a:r>
                        <a:rPr lang="en-US" sz="1000" b="1" u="none" strike="noStrike">
                          <a:solidFill>
                            <a:srgbClr val="ffffff"/>
                          </a:solidFill>
                          <a:effectLst/>
                          <a:uFillTx/>
                          <a:latin typeface="Calibri"/>
                        </a:rPr>
                        <a:t>Área</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Acción</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Detalle Técnico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algn="ctr" defTabSz="914400">
                        <a:lnSpc>
                          <a:spcPct val="100000"/>
                        </a:lnSpc>
                        <a:tabLst>
                          <a:tab algn="l" pos="0"/>
                        </a:tabLst>
                      </a:pPr>
                      <a:r>
                        <a:rPr lang="en-US" sz="1000" b="1" u="none" strike="noStrike">
                          <a:solidFill>
                            <a:srgbClr val="ffffff"/>
                          </a:solidFill>
                          <a:effectLst/>
                          <a:uFillTx/>
                          <a:latin typeface="Calibri"/>
                        </a:rPr>
                        <a:t>Estado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r>
              <a:tr h="511920">
                <a:tc>
                  <a:txBody>
                    <a:bodyPr anchor="t">
                      <a:noAutofit/>
                    </a:bodyPr>
                    <a:p>
                      <a:pPr defTabSz="914400">
                        <a:lnSpc>
                          <a:spcPct val="100000"/>
                        </a:lnSpc>
                        <a:tabLst>
                          <a:tab algn="l" pos="0"/>
                        </a:tabLst>
                      </a:pPr>
                      <a:r>
                        <a:rPr lang="en-US" sz="1000" b="1" u="none" strike="noStrike">
                          <a:solidFill>
                            <a:srgbClr val="1e88e5"/>
                          </a:solidFill>
                          <a:effectLst/>
                          <a:uFillTx/>
                          <a:latin typeface="Calibri"/>
                        </a:rPr>
                        <a:t>FTP</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1" u="none" strike="noStrike">
                          <a:solidFill>
                            <a:srgbClr val="ffffff"/>
                          </a:solidFill>
                          <a:effectLst/>
                          <a:uFillTx/>
                          <a:latin typeface="Calibri"/>
                        </a:rPr>
                        <a:t>Servicio deshabilitado completamente</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00" b="0" u="none" strike="noStrike">
                          <a:solidFill>
                            <a:srgbClr val="90a4ae"/>
                          </a:solidFill>
                          <a:effectLst/>
                          <a:uFillTx/>
                          <a:latin typeface="Calibri"/>
                        </a:rPr>
                        <a:t>Puerto 21 cerrado. Reemplazado por SFTP sobre SSH.</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43a047"/>
                          </a:solidFill>
                          <a:effectLst/>
                          <a:uFillTx/>
                          <a:latin typeface="Calibri"/>
                        </a:rPr>
                        <a:t>✓ APLICADO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511920">
                <a:tc>
                  <a:txBody>
                    <a:bodyPr anchor="t">
                      <a:noAutofit/>
                    </a:bodyPr>
                    <a:p>
                      <a:pPr defTabSz="914400">
                        <a:lnSpc>
                          <a:spcPct val="100000"/>
                        </a:lnSpc>
                        <a:tabLst>
                          <a:tab algn="l" pos="0"/>
                        </a:tabLst>
                      </a:pPr>
                      <a:r>
                        <a:rPr lang="en-US" sz="1000" b="1" u="none" strike="noStrike">
                          <a:solidFill>
                            <a:srgbClr val="1e88e5"/>
                          </a:solidFill>
                          <a:effectLst/>
                          <a:uFillTx/>
                          <a:latin typeface="Calibri"/>
                        </a:rPr>
                        <a:t>SSH</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1" u="none" strike="noStrike">
                          <a:solidFill>
                            <a:srgbClr val="ffffff"/>
                          </a:solidFill>
                          <a:effectLst/>
                          <a:uFillTx/>
                          <a:latin typeface="Calibri"/>
                        </a:rPr>
                        <a:t>Acceso solo por clave pública</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00" b="0" u="none" strike="noStrike">
                          <a:solidFill>
                            <a:srgbClr val="90a4ae"/>
                          </a:solidFill>
                          <a:effectLst/>
                          <a:uFillTx/>
                          <a:latin typeface="Calibri"/>
                        </a:rPr>
                        <a:t>PermitRootLogin no · PasswordAuthentication no · MaxAuthTries 3 · LoginGraceTime 2m</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43a047"/>
                          </a:solidFill>
                          <a:effectLst/>
                          <a:uFillTx/>
                          <a:latin typeface="Calibri"/>
                        </a:rPr>
                        <a:t>✓ APLICADO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511920">
                <a:tc>
                  <a:txBody>
                    <a:bodyPr anchor="t">
                      <a:noAutofit/>
                    </a:bodyPr>
                    <a:p>
                      <a:pPr defTabSz="914400">
                        <a:lnSpc>
                          <a:spcPct val="100000"/>
                        </a:lnSpc>
                        <a:tabLst>
                          <a:tab algn="l" pos="0"/>
                        </a:tabLst>
                      </a:pPr>
                      <a:r>
                        <a:rPr lang="en-US" sz="1000" b="1" u="none" strike="noStrike">
                          <a:solidFill>
                            <a:srgbClr val="1e88e5"/>
                          </a:solidFill>
                          <a:effectLst/>
                          <a:uFillTx/>
                          <a:latin typeface="Calibri"/>
                        </a:rPr>
                        <a:t>Apache</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1" u="none" strike="noStrike">
                          <a:solidFill>
                            <a:srgbClr val="ffffff"/>
                          </a:solidFill>
                          <a:effectLst/>
                          <a:uFillTx/>
                          <a:latin typeface="Calibri"/>
                        </a:rPr>
                        <a:t>Directory Listing deshabilitado</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00" b="0" u="none" strike="noStrike">
                          <a:solidFill>
                            <a:srgbClr val="90a4ae"/>
                          </a:solidFill>
                          <a:effectLst/>
                          <a:uFillTx/>
                          <a:latin typeface="Calibri"/>
                        </a:rPr>
                        <a:t>Options -Indexes en apache2.conf. Prueba: respuesta 403 Forbidden confirmada.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43a047"/>
                          </a:solidFill>
                          <a:effectLst/>
                          <a:uFillTx/>
                          <a:latin typeface="Calibri"/>
                        </a:rPr>
                        <a:t>✓ APLICADO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511920">
                <a:tc>
                  <a:txBody>
                    <a:bodyPr anchor="t">
                      <a:noAutofit/>
                    </a:bodyPr>
                    <a:p>
                      <a:pPr defTabSz="914400">
                        <a:lnSpc>
                          <a:spcPct val="100000"/>
                        </a:lnSpc>
                        <a:tabLst>
                          <a:tab algn="l" pos="0"/>
                        </a:tabLst>
                      </a:pPr>
                      <a:r>
                        <a:rPr lang="en-US" sz="1000" b="1" u="none" strike="noStrike">
                          <a:solidFill>
                            <a:srgbClr val="1e88e5"/>
                          </a:solidFill>
                          <a:effectLst/>
                          <a:uFillTx/>
                          <a:latin typeface="Calibri"/>
                        </a:rPr>
                        <a:t>MariaDB</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1" u="none" strike="noStrike">
                          <a:solidFill>
                            <a:srgbClr val="ffffff"/>
                          </a:solidFill>
                          <a:effectLst/>
                          <a:uFillTx/>
                          <a:latin typeface="Calibri"/>
                        </a:rPr>
                        <a:t>Autenticación nativa con contraseña robusta</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00" b="0" u="none" strike="noStrike">
                          <a:solidFill>
                            <a:srgbClr val="90a4ae"/>
                          </a:solidFill>
                          <a:effectLst/>
                          <a:uFillTx/>
                          <a:latin typeface="Calibri"/>
                        </a:rPr>
                        <a:t>Migrado de unix_socket a mysql_native_password. bind-address=127.0.0.1</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43a047"/>
                          </a:solidFill>
                          <a:effectLst/>
                          <a:uFillTx/>
                          <a:latin typeface="Calibri"/>
                        </a:rPr>
                        <a:t>✓ APLICADO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511920">
                <a:tc>
                  <a:txBody>
                    <a:bodyPr anchor="t">
                      <a:noAutofit/>
                    </a:bodyPr>
                    <a:p>
                      <a:pPr defTabSz="914400">
                        <a:lnSpc>
                          <a:spcPct val="100000"/>
                        </a:lnSpc>
                        <a:tabLst>
                          <a:tab algn="l" pos="0"/>
                        </a:tabLst>
                      </a:pPr>
                      <a:r>
                        <a:rPr lang="en-US" sz="1000" b="1" u="none" strike="noStrike">
                          <a:solidFill>
                            <a:srgbClr val="1e88e5"/>
                          </a:solidFill>
                          <a:effectLst/>
                          <a:uFillTx/>
                          <a:latin typeface="Calibri"/>
                        </a:rPr>
                        <a:t>wp-config.php</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1" u="none" strike="noStrike">
                          <a:solidFill>
                            <a:srgbClr val="ffffff"/>
                          </a:solidFill>
                          <a:effectLst/>
                          <a:uFillTx/>
                          <a:latin typeface="Calibri"/>
                        </a:rPr>
                        <a:t>Permisos restrictivos chmod 600</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00" b="0" u="none" strike="noStrike">
                          <a:solidFill>
                            <a:srgbClr val="90a4ae"/>
                          </a:solidFill>
                          <a:effectLst/>
                          <a:uFillTx/>
                          <a:latin typeface="Calibri"/>
                        </a:rPr>
                        <a:t>Solo el propietario www-data puede leer las credenciales de base de datos.</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43a047"/>
                          </a:solidFill>
                          <a:effectLst/>
                          <a:uFillTx/>
                          <a:latin typeface="Calibri"/>
                        </a:rPr>
                        <a:t>✓ APLICADO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511920">
                <a:tc>
                  <a:txBody>
                    <a:bodyPr anchor="t">
                      <a:noAutofit/>
                    </a:bodyPr>
                    <a:p>
                      <a:pPr defTabSz="914400">
                        <a:lnSpc>
                          <a:spcPct val="100000"/>
                        </a:lnSpc>
                        <a:tabLst>
                          <a:tab algn="l" pos="0"/>
                        </a:tabLst>
                      </a:pPr>
                      <a:r>
                        <a:rPr lang="en-US" sz="1000" b="1" u="none" strike="noStrike">
                          <a:solidFill>
                            <a:srgbClr val="1e88e5"/>
                          </a:solidFill>
                          <a:effectLst/>
                          <a:uFillTx/>
                          <a:latin typeface="Calibri"/>
                        </a:rPr>
                        <a:t>Credenciales</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50" b="1" u="none" strike="noStrike">
                          <a:solidFill>
                            <a:srgbClr val="ffffff"/>
                          </a:solidFill>
                          <a:effectLst/>
                          <a:uFillTx/>
                          <a:latin typeface="Calibri"/>
                        </a:rPr>
                        <a:t>Contraseñas de alta complejidad</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defTabSz="914400">
                        <a:lnSpc>
                          <a:spcPct val="100000"/>
                        </a:lnSpc>
                        <a:tabLst>
                          <a:tab algn="l" pos="0"/>
                        </a:tabLst>
                      </a:pPr>
                      <a:r>
                        <a:rPr lang="en-US" sz="900" b="0" u="none" strike="noStrike">
                          <a:solidFill>
                            <a:srgbClr val="90a4ae"/>
                          </a:solidFill>
                          <a:effectLst/>
                          <a:uFillTx/>
                          <a:latin typeface="Calibri"/>
                        </a:rPr>
                        <a:t>root: contraseñaseguraroot · debian: contraseñaseguradebian · DB: contraseñasegura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43a047"/>
                          </a:solidFill>
                          <a:effectLst/>
                          <a:uFillTx/>
                          <a:latin typeface="Calibri"/>
                        </a:rPr>
                        <a:t>✓ APLICADO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bl>
          </a:graphicData>
        </a:graphic>
      </p:graphicFrame>
      <p:sp>
        <p:nvSpPr>
          <p:cNvPr id="373" name="Text 5"/>
          <p:cNvSpPr/>
          <p:nvPr/>
        </p:nvSpPr>
        <p:spPr>
          <a:xfrm>
            <a:off x="411480" y="4681800"/>
            <a:ext cx="832032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i="1" u="none" strike="noStrike">
                <a:solidFill>
                  <a:srgbClr val="90a4ae"/>
                </a:solidFill>
                <a:effectLst/>
                <a:uFillTx/>
                <a:latin typeface="Calibri"/>
                <a:ea typeface="Calibri"/>
              </a:rPr>
              <a:t>Sistema operativo actualizado: sudo apt update &amp;&amp; sudo apt upgrade -y  · Paquetes obsoletos eliminados: sudo apt autoremove -y</a:t>
            </a:r>
            <a:endParaRPr lang="es-E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74"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375"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RESULTADO DEL HARDENING</a:t>
            </a:r>
            <a:endParaRPr lang="es-ES" sz="900" b="0" u="none" strike="noStrike">
              <a:solidFill>
                <a:srgbClr val="ffffff"/>
              </a:solidFill>
              <a:effectLst/>
              <a:uFillTx/>
              <a:latin typeface="Arial"/>
            </a:endParaRPr>
          </a:p>
        </p:txBody>
      </p:sp>
      <p:sp>
        <p:nvSpPr>
          <p:cNvPr id="376"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Estado de Seguridad: Antes vs. Después</a:t>
            </a:r>
            <a:endParaRPr lang="es-ES" sz="2800" b="0" u="none" strike="noStrike">
              <a:solidFill>
                <a:srgbClr val="ffffff"/>
              </a:solidFill>
              <a:effectLst/>
              <a:uFillTx/>
              <a:latin typeface="Arial"/>
            </a:endParaRPr>
          </a:p>
        </p:txBody>
      </p:sp>
      <p:sp>
        <p:nvSpPr>
          <p:cNvPr id="377"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378"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13 / 17</a:t>
            </a:r>
            <a:endParaRPr lang="es-ES" sz="900" b="0" u="none" strike="noStrike">
              <a:solidFill>
                <a:srgbClr val="ffffff"/>
              </a:solidFill>
              <a:effectLst/>
              <a:uFillTx/>
              <a:latin typeface="Arial"/>
            </a:endParaRPr>
          </a:p>
        </p:txBody>
      </p:sp>
      <p:sp>
        <p:nvSpPr>
          <p:cNvPr id="379" name="Shape 5"/>
          <p:cNvSpPr/>
          <p:nvPr/>
        </p:nvSpPr>
        <p:spPr>
          <a:xfrm>
            <a:off x="411480" y="1261800"/>
            <a:ext cx="3245400" cy="27360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80" name="Text 6"/>
          <p:cNvSpPr/>
          <p:nvPr/>
        </p:nvSpPr>
        <p:spPr>
          <a:xfrm>
            <a:off x="411480" y="1261800"/>
            <a:ext cx="32454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ANTES</a:t>
            </a:r>
            <a:endParaRPr lang="es-ES" sz="1100" b="0" u="none" strike="noStrike">
              <a:solidFill>
                <a:srgbClr val="ffffff"/>
              </a:solidFill>
              <a:effectLst/>
              <a:uFillTx/>
              <a:latin typeface="Arial"/>
            </a:endParaRPr>
          </a:p>
        </p:txBody>
      </p:sp>
      <p:sp>
        <p:nvSpPr>
          <p:cNvPr id="381" name="Shape 7"/>
          <p:cNvSpPr/>
          <p:nvPr/>
        </p:nvSpPr>
        <p:spPr>
          <a:xfrm>
            <a:off x="3822120" y="1261800"/>
            <a:ext cx="456480" cy="273600"/>
          </a:xfrm>
          <a:prstGeom prst="rect">
            <a:avLst/>
          </a:prstGeom>
          <a:solidFill>
            <a:srgbClr val="1b2a3b"/>
          </a:solidFill>
          <a:ln w="12700">
            <a:solidFill>
              <a:srgbClr val="1b2a3b"/>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82" name="Shape 8"/>
          <p:cNvSpPr/>
          <p:nvPr/>
        </p:nvSpPr>
        <p:spPr>
          <a:xfrm>
            <a:off x="4462200" y="1261800"/>
            <a:ext cx="4269600" cy="27360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83" name="Text 9"/>
          <p:cNvSpPr/>
          <p:nvPr/>
        </p:nvSpPr>
        <p:spPr>
          <a:xfrm>
            <a:off x="4462200" y="1261800"/>
            <a:ext cx="4269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1" u="none" strike="noStrike">
                <a:solidFill>
                  <a:srgbClr val="ffffff"/>
                </a:solidFill>
                <a:effectLst/>
                <a:uFillTx/>
                <a:latin typeface="Calibri"/>
                <a:ea typeface="Calibri"/>
              </a:rPr>
              <a:t>DESPUÉS</a:t>
            </a:r>
            <a:endParaRPr lang="es-ES" sz="1100" b="0" u="none" strike="noStrike">
              <a:solidFill>
                <a:srgbClr val="ffffff"/>
              </a:solidFill>
              <a:effectLst/>
              <a:uFillTx/>
              <a:latin typeface="Arial"/>
            </a:endParaRPr>
          </a:p>
        </p:txBody>
      </p:sp>
      <p:sp>
        <p:nvSpPr>
          <p:cNvPr id="384" name="Shape 10"/>
          <p:cNvSpPr/>
          <p:nvPr/>
        </p:nvSpPr>
        <p:spPr>
          <a:xfrm>
            <a:off x="411480" y="1581840"/>
            <a:ext cx="8320320" cy="392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85" name="Text 11"/>
          <p:cNvSpPr/>
          <p:nvPr/>
        </p:nvSpPr>
        <p:spPr>
          <a:xfrm>
            <a:off x="502920" y="165492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FTP Anónimo</a:t>
            </a:r>
            <a:endParaRPr lang="es-ES" sz="1000" b="0" u="none" strike="noStrike">
              <a:solidFill>
                <a:srgbClr val="ffffff"/>
              </a:solidFill>
              <a:effectLst/>
              <a:uFillTx/>
              <a:latin typeface="Arial"/>
            </a:endParaRPr>
          </a:p>
        </p:txBody>
      </p:sp>
      <p:sp>
        <p:nvSpPr>
          <p:cNvPr id="386" name="Text 12"/>
          <p:cNvSpPr/>
          <p:nvPr/>
        </p:nvSpPr>
        <p:spPr>
          <a:xfrm>
            <a:off x="2450520" y="165492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Acceso sin autenticación</a:t>
            </a:r>
            <a:endParaRPr lang="es-ES" sz="950" b="0" u="none" strike="noStrike">
              <a:solidFill>
                <a:srgbClr val="ffffff"/>
              </a:solidFill>
              <a:effectLst/>
              <a:uFillTx/>
              <a:latin typeface="Arial"/>
            </a:endParaRPr>
          </a:p>
        </p:txBody>
      </p:sp>
      <p:sp>
        <p:nvSpPr>
          <p:cNvPr id="387" name="Text 13"/>
          <p:cNvSpPr/>
          <p:nvPr/>
        </p:nvSpPr>
        <p:spPr>
          <a:xfrm>
            <a:off x="4251960" y="165492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388" name="Text 14"/>
          <p:cNvSpPr/>
          <p:nvPr/>
        </p:nvSpPr>
        <p:spPr>
          <a:xfrm>
            <a:off x="4773240" y="165492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Servicio eliminado</a:t>
            </a:r>
            <a:endParaRPr lang="es-ES" sz="950" b="0" u="none" strike="noStrike">
              <a:solidFill>
                <a:srgbClr val="ffffff"/>
              </a:solidFill>
              <a:effectLst/>
              <a:uFillTx/>
              <a:latin typeface="Arial"/>
            </a:endParaRPr>
          </a:p>
        </p:txBody>
      </p:sp>
      <p:sp>
        <p:nvSpPr>
          <p:cNvPr id="389" name="Shape 15"/>
          <p:cNvSpPr/>
          <p:nvPr/>
        </p:nvSpPr>
        <p:spPr>
          <a:xfrm>
            <a:off x="411480" y="1993320"/>
            <a:ext cx="8320320" cy="392400"/>
          </a:xfrm>
          <a:prstGeom prst="rect">
            <a:avLst/>
          </a:prstGeom>
          <a:solidFill>
            <a:srgbClr val="131f2e"/>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90" name="Text 16"/>
          <p:cNvSpPr/>
          <p:nvPr/>
        </p:nvSpPr>
        <p:spPr>
          <a:xfrm>
            <a:off x="502920" y="206640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SSH Root Login</a:t>
            </a:r>
            <a:endParaRPr lang="es-ES" sz="1000" b="0" u="none" strike="noStrike">
              <a:solidFill>
                <a:srgbClr val="ffffff"/>
              </a:solidFill>
              <a:effectLst/>
              <a:uFillTx/>
              <a:latin typeface="Arial"/>
            </a:endParaRPr>
          </a:p>
        </p:txBody>
      </p:sp>
      <p:sp>
        <p:nvSpPr>
          <p:cNvPr id="391" name="Text 17"/>
          <p:cNvSpPr/>
          <p:nvPr/>
        </p:nvSpPr>
        <p:spPr>
          <a:xfrm>
            <a:off x="2450520" y="206640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PermitRootLogin = yes</a:t>
            </a:r>
            <a:endParaRPr lang="es-ES" sz="950" b="0" u="none" strike="noStrike">
              <a:solidFill>
                <a:srgbClr val="ffffff"/>
              </a:solidFill>
              <a:effectLst/>
              <a:uFillTx/>
              <a:latin typeface="Arial"/>
            </a:endParaRPr>
          </a:p>
        </p:txBody>
      </p:sp>
      <p:sp>
        <p:nvSpPr>
          <p:cNvPr id="392" name="Text 18"/>
          <p:cNvSpPr/>
          <p:nvPr/>
        </p:nvSpPr>
        <p:spPr>
          <a:xfrm>
            <a:off x="4251960" y="206640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393" name="Text 19"/>
          <p:cNvSpPr/>
          <p:nvPr/>
        </p:nvSpPr>
        <p:spPr>
          <a:xfrm>
            <a:off x="4773240" y="206640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Deshabilitado</a:t>
            </a:r>
            <a:endParaRPr lang="es-ES" sz="950" b="0" u="none" strike="noStrike">
              <a:solidFill>
                <a:srgbClr val="ffffff"/>
              </a:solidFill>
              <a:effectLst/>
              <a:uFillTx/>
              <a:latin typeface="Arial"/>
            </a:endParaRPr>
          </a:p>
        </p:txBody>
      </p:sp>
      <p:sp>
        <p:nvSpPr>
          <p:cNvPr id="394" name="Shape 20"/>
          <p:cNvSpPr/>
          <p:nvPr/>
        </p:nvSpPr>
        <p:spPr>
          <a:xfrm>
            <a:off x="411480" y="2404800"/>
            <a:ext cx="8320320" cy="392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395" name="Text 21"/>
          <p:cNvSpPr/>
          <p:nvPr/>
        </p:nvSpPr>
        <p:spPr>
          <a:xfrm>
            <a:off x="502920" y="247788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Autenticación SSH</a:t>
            </a:r>
            <a:endParaRPr lang="es-ES" sz="1000" b="0" u="none" strike="noStrike">
              <a:solidFill>
                <a:srgbClr val="ffffff"/>
              </a:solidFill>
              <a:effectLst/>
              <a:uFillTx/>
              <a:latin typeface="Arial"/>
            </a:endParaRPr>
          </a:p>
        </p:txBody>
      </p:sp>
      <p:sp>
        <p:nvSpPr>
          <p:cNvPr id="396" name="Text 22"/>
          <p:cNvSpPr/>
          <p:nvPr/>
        </p:nvSpPr>
        <p:spPr>
          <a:xfrm>
            <a:off x="2450520" y="247788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Usuario + contraseña</a:t>
            </a:r>
            <a:endParaRPr lang="es-ES" sz="950" b="0" u="none" strike="noStrike">
              <a:solidFill>
                <a:srgbClr val="ffffff"/>
              </a:solidFill>
              <a:effectLst/>
              <a:uFillTx/>
              <a:latin typeface="Arial"/>
            </a:endParaRPr>
          </a:p>
        </p:txBody>
      </p:sp>
      <p:sp>
        <p:nvSpPr>
          <p:cNvPr id="397" name="Text 23"/>
          <p:cNvSpPr/>
          <p:nvPr/>
        </p:nvSpPr>
        <p:spPr>
          <a:xfrm>
            <a:off x="4251960" y="247788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398" name="Text 24"/>
          <p:cNvSpPr/>
          <p:nvPr/>
        </p:nvSpPr>
        <p:spPr>
          <a:xfrm>
            <a:off x="4773240" y="247788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Solo clave pública</a:t>
            </a:r>
            <a:endParaRPr lang="es-ES" sz="950" b="0" u="none" strike="noStrike">
              <a:solidFill>
                <a:srgbClr val="ffffff"/>
              </a:solidFill>
              <a:effectLst/>
              <a:uFillTx/>
              <a:latin typeface="Arial"/>
            </a:endParaRPr>
          </a:p>
        </p:txBody>
      </p:sp>
      <p:sp>
        <p:nvSpPr>
          <p:cNvPr id="399" name="Shape 25"/>
          <p:cNvSpPr/>
          <p:nvPr/>
        </p:nvSpPr>
        <p:spPr>
          <a:xfrm>
            <a:off x="411480" y="2816280"/>
            <a:ext cx="8320320" cy="392400"/>
          </a:xfrm>
          <a:prstGeom prst="rect">
            <a:avLst/>
          </a:prstGeom>
          <a:solidFill>
            <a:srgbClr val="131f2e"/>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00" name="Text 26"/>
          <p:cNvSpPr/>
          <p:nvPr/>
        </p:nvSpPr>
        <p:spPr>
          <a:xfrm>
            <a:off x="502920" y="288936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Contraseñas</a:t>
            </a:r>
            <a:endParaRPr lang="es-ES" sz="1000" b="0" u="none" strike="noStrike">
              <a:solidFill>
                <a:srgbClr val="ffffff"/>
              </a:solidFill>
              <a:effectLst/>
              <a:uFillTx/>
              <a:latin typeface="Arial"/>
            </a:endParaRPr>
          </a:p>
        </p:txBody>
      </p:sp>
      <p:sp>
        <p:nvSpPr>
          <p:cNvPr id="401" name="Text 27"/>
          <p:cNvSpPr/>
          <p:nvPr/>
        </p:nvSpPr>
        <p:spPr>
          <a:xfrm>
            <a:off x="2450520" y="288936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Débiles / texto plano (123456)</a:t>
            </a:r>
            <a:endParaRPr lang="es-ES" sz="950" b="0" u="none" strike="noStrike">
              <a:solidFill>
                <a:srgbClr val="ffffff"/>
              </a:solidFill>
              <a:effectLst/>
              <a:uFillTx/>
              <a:latin typeface="Arial"/>
            </a:endParaRPr>
          </a:p>
        </p:txBody>
      </p:sp>
      <p:sp>
        <p:nvSpPr>
          <p:cNvPr id="402" name="Text 28"/>
          <p:cNvSpPr/>
          <p:nvPr/>
        </p:nvSpPr>
        <p:spPr>
          <a:xfrm>
            <a:off x="4251960" y="288936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403" name="Text 29"/>
          <p:cNvSpPr/>
          <p:nvPr/>
        </p:nvSpPr>
        <p:spPr>
          <a:xfrm>
            <a:off x="4773240" y="288936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Alta complejidad</a:t>
            </a:r>
            <a:endParaRPr lang="es-ES" sz="950" b="0" u="none" strike="noStrike">
              <a:solidFill>
                <a:srgbClr val="ffffff"/>
              </a:solidFill>
              <a:effectLst/>
              <a:uFillTx/>
              <a:latin typeface="Arial"/>
            </a:endParaRPr>
          </a:p>
        </p:txBody>
      </p:sp>
      <p:sp>
        <p:nvSpPr>
          <p:cNvPr id="404" name="Shape 30"/>
          <p:cNvSpPr/>
          <p:nvPr/>
        </p:nvSpPr>
        <p:spPr>
          <a:xfrm>
            <a:off x="411480" y="3227760"/>
            <a:ext cx="8320320" cy="392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05" name="Text 31"/>
          <p:cNvSpPr/>
          <p:nvPr/>
        </p:nvSpPr>
        <p:spPr>
          <a:xfrm>
            <a:off x="502920" y="330084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Directory Listing</a:t>
            </a:r>
            <a:endParaRPr lang="es-ES" sz="1000" b="0" u="none" strike="noStrike">
              <a:solidFill>
                <a:srgbClr val="ffffff"/>
              </a:solidFill>
              <a:effectLst/>
              <a:uFillTx/>
              <a:latin typeface="Arial"/>
            </a:endParaRPr>
          </a:p>
        </p:txBody>
      </p:sp>
      <p:sp>
        <p:nvSpPr>
          <p:cNvPr id="406" name="Text 32"/>
          <p:cNvSpPr/>
          <p:nvPr/>
        </p:nvSpPr>
        <p:spPr>
          <a:xfrm>
            <a:off x="2450520" y="330084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Expuesto públicamente</a:t>
            </a:r>
            <a:endParaRPr lang="es-ES" sz="950" b="0" u="none" strike="noStrike">
              <a:solidFill>
                <a:srgbClr val="ffffff"/>
              </a:solidFill>
              <a:effectLst/>
              <a:uFillTx/>
              <a:latin typeface="Arial"/>
            </a:endParaRPr>
          </a:p>
        </p:txBody>
      </p:sp>
      <p:sp>
        <p:nvSpPr>
          <p:cNvPr id="407" name="Text 33"/>
          <p:cNvSpPr/>
          <p:nvPr/>
        </p:nvSpPr>
        <p:spPr>
          <a:xfrm>
            <a:off x="4251960" y="330084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408" name="Text 34"/>
          <p:cNvSpPr/>
          <p:nvPr/>
        </p:nvSpPr>
        <p:spPr>
          <a:xfrm>
            <a:off x="4773240" y="330084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403 Forbidden</a:t>
            </a:r>
            <a:endParaRPr lang="es-ES" sz="950" b="0" u="none" strike="noStrike">
              <a:solidFill>
                <a:srgbClr val="ffffff"/>
              </a:solidFill>
              <a:effectLst/>
              <a:uFillTx/>
              <a:latin typeface="Arial"/>
            </a:endParaRPr>
          </a:p>
        </p:txBody>
      </p:sp>
      <p:sp>
        <p:nvSpPr>
          <p:cNvPr id="409" name="Shape 35"/>
          <p:cNvSpPr/>
          <p:nvPr/>
        </p:nvSpPr>
        <p:spPr>
          <a:xfrm>
            <a:off x="411480" y="3639240"/>
            <a:ext cx="8320320" cy="392400"/>
          </a:xfrm>
          <a:prstGeom prst="rect">
            <a:avLst/>
          </a:prstGeom>
          <a:solidFill>
            <a:srgbClr val="131f2e"/>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10" name="Text 36"/>
          <p:cNvSpPr/>
          <p:nvPr/>
        </p:nvSpPr>
        <p:spPr>
          <a:xfrm>
            <a:off x="502920" y="371232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wp-config.php</a:t>
            </a:r>
            <a:endParaRPr lang="es-ES" sz="1000" b="0" u="none" strike="noStrike">
              <a:solidFill>
                <a:srgbClr val="ffffff"/>
              </a:solidFill>
              <a:effectLst/>
              <a:uFillTx/>
              <a:latin typeface="Arial"/>
            </a:endParaRPr>
          </a:p>
        </p:txBody>
      </p:sp>
      <p:sp>
        <p:nvSpPr>
          <p:cNvPr id="411" name="Text 37"/>
          <p:cNvSpPr/>
          <p:nvPr/>
        </p:nvSpPr>
        <p:spPr>
          <a:xfrm>
            <a:off x="2450520" y="371232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Permisos 644 (lectura global)</a:t>
            </a:r>
            <a:endParaRPr lang="es-ES" sz="950" b="0" u="none" strike="noStrike">
              <a:solidFill>
                <a:srgbClr val="ffffff"/>
              </a:solidFill>
              <a:effectLst/>
              <a:uFillTx/>
              <a:latin typeface="Arial"/>
            </a:endParaRPr>
          </a:p>
        </p:txBody>
      </p:sp>
      <p:sp>
        <p:nvSpPr>
          <p:cNvPr id="412" name="Text 38"/>
          <p:cNvSpPr/>
          <p:nvPr/>
        </p:nvSpPr>
        <p:spPr>
          <a:xfrm>
            <a:off x="4251960" y="371232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413" name="Text 39"/>
          <p:cNvSpPr/>
          <p:nvPr/>
        </p:nvSpPr>
        <p:spPr>
          <a:xfrm>
            <a:off x="4773240" y="371232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chmod 600</a:t>
            </a:r>
            <a:endParaRPr lang="es-ES" sz="950" b="0" u="none" strike="noStrike">
              <a:solidFill>
                <a:srgbClr val="ffffff"/>
              </a:solidFill>
              <a:effectLst/>
              <a:uFillTx/>
              <a:latin typeface="Arial"/>
            </a:endParaRPr>
          </a:p>
        </p:txBody>
      </p:sp>
      <p:sp>
        <p:nvSpPr>
          <p:cNvPr id="414" name="Shape 40"/>
          <p:cNvSpPr/>
          <p:nvPr/>
        </p:nvSpPr>
        <p:spPr>
          <a:xfrm>
            <a:off x="411480" y="4050720"/>
            <a:ext cx="8320320" cy="39240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15" name="Text 41"/>
          <p:cNvSpPr/>
          <p:nvPr/>
        </p:nvSpPr>
        <p:spPr>
          <a:xfrm>
            <a:off x="502920" y="412380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MySQL root</a:t>
            </a:r>
            <a:endParaRPr lang="es-ES" sz="1000" b="0" u="none" strike="noStrike">
              <a:solidFill>
                <a:srgbClr val="ffffff"/>
              </a:solidFill>
              <a:effectLst/>
              <a:uFillTx/>
              <a:latin typeface="Arial"/>
            </a:endParaRPr>
          </a:p>
        </p:txBody>
      </p:sp>
      <p:sp>
        <p:nvSpPr>
          <p:cNvPr id="416" name="Text 42"/>
          <p:cNvSpPr/>
          <p:nvPr/>
        </p:nvSpPr>
        <p:spPr>
          <a:xfrm>
            <a:off x="2450520" y="412380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Sin contraseña (unix_socket)</a:t>
            </a:r>
            <a:endParaRPr lang="es-ES" sz="950" b="0" u="none" strike="noStrike">
              <a:solidFill>
                <a:srgbClr val="ffffff"/>
              </a:solidFill>
              <a:effectLst/>
              <a:uFillTx/>
              <a:latin typeface="Arial"/>
            </a:endParaRPr>
          </a:p>
        </p:txBody>
      </p:sp>
      <p:sp>
        <p:nvSpPr>
          <p:cNvPr id="417" name="Text 43"/>
          <p:cNvSpPr/>
          <p:nvPr/>
        </p:nvSpPr>
        <p:spPr>
          <a:xfrm>
            <a:off x="4251960" y="412380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418" name="Text 44"/>
          <p:cNvSpPr/>
          <p:nvPr/>
        </p:nvSpPr>
        <p:spPr>
          <a:xfrm>
            <a:off x="4773240" y="412380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Contraseña robusta</a:t>
            </a:r>
            <a:endParaRPr lang="es-ES" sz="950" b="0" u="none" strike="noStrike">
              <a:solidFill>
                <a:srgbClr val="ffffff"/>
              </a:solidFill>
              <a:effectLst/>
              <a:uFillTx/>
              <a:latin typeface="Arial"/>
            </a:endParaRPr>
          </a:p>
        </p:txBody>
      </p:sp>
      <p:sp>
        <p:nvSpPr>
          <p:cNvPr id="419" name="Shape 45"/>
          <p:cNvSpPr/>
          <p:nvPr/>
        </p:nvSpPr>
        <p:spPr>
          <a:xfrm>
            <a:off x="411480" y="4462200"/>
            <a:ext cx="8320320" cy="392400"/>
          </a:xfrm>
          <a:prstGeom prst="rect">
            <a:avLst/>
          </a:prstGeom>
          <a:solidFill>
            <a:srgbClr val="131f2e"/>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20" name="Text 46"/>
          <p:cNvSpPr/>
          <p:nvPr/>
        </p:nvSpPr>
        <p:spPr>
          <a:xfrm>
            <a:off x="502920" y="4535280"/>
            <a:ext cx="191952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ffffff"/>
                </a:solidFill>
                <a:effectLst/>
                <a:uFillTx/>
                <a:latin typeface="Calibri"/>
                <a:ea typeface="Calibri"/>
              </a:rPr>
              <a:t>WordPress</a:t>
            </a:r>
            <a:endParaRPr lang="es-ES" sz="1000" b="0" u="none" strike="noStrike">
              <a:solidFill>
                <a:srgbClr val="ffffff"/>
              </a:solidFill>
              <a:effectLst/>
              <a:uFillTx/>
              <a:latin typeface="Arial"/>
            </a:endParaRPr>
          </a:p>
        </p:txBody>
      </p:sp>
      <p:sp>
        <p:nvSpPr>
          <p:cNvPr id="421" name="Text 47"/>
          <p:cNvSpPr/>
          <p:nvPr/>
        </p:nvSpPr>
        <p:spPr>
          <a:xfrm>
            <a:off x="2450520" y="4535280"/>
            <a:ext cx="178236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ef5350"/>
                </a:solidFill>
                <a:effectLst/>
                <a:uFillTx/>
                <a:latin typeface="Calibri"/>
                <a:ea typeface="Calibri"/>
              </a:rPr>
              <a:t>✗  Versión 6.6.2 (insegura)</a:t>
            </a:r>
            <a:endParaRPr lang="es-ES" sz="950" b="0" u="none" strike="noStrike">
              <a:solidFill>
                <a:srgbClr val="ffffff"/>
              </a:solidFill>
              <a:effectLst/>
              <a:uFillTx/>
              <a:latin typeface="Arial"/>
            </a:endParaRPr>
          </a:p>
        </p:txBody>
      </p:sp>
      <p:sp>
        <p:nvSpPr>
          <p:cNvPr id="422" name="Text 48"/>
          <p:cNvSpPr/>
          <p:nvPr/>
        </p:nvSpPr>
        <p:spPr>
          <a:xfrm>
            <a:off x="4251960" y="4535280"/>
            <a:ext cx="456480" cy="23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90a4ae"/>
                </a:solidFill>
                <a:effectLst/>
                <a:uFillTx/>
                <a:latin typeface="Calibri"/>
                <a:ea typeface="Calibri"/>
              </a:rPr>
              <a:t>→</a:t>
            </a:r>
            <a:endParaRPr lang="es-ES" sz="1300" b="0" u="none" strike="noStrike">
              <a:solidFill>
                <a:srgbClr val="ffffff"/>
              </a:solidFill>
              <a:effectLst/>
              <a:uFillTx/>
              <a:latin typeface="Arial"/>
            </a:endParaRPr>
          </a:p>
        </p:txBody>
      </p:sp>
      <p:sp>
        <p:nvSpPr>
          <p:cNvPr id="423" name="Text 49"/>
          <p:cNvSpPr/>
          <p:nvPr/>
        </p:nvSpPr>
        <p:spPr>
          <a:xfrm>
            <a:off x="4773240" y="4535280"/>
            <a:ext cx="3794040" cy="23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50" b="0" u="none" strike="noStrike">
                <a:solidFill>
                  <a:srgbClr val="43a047"/>
                </a:solidFill>
                <a:effectLst/>
                <a:uFillTx/>
                <a:latin typeface="Calibri"/>
                <a:ea typeface="Calibri"/>
              </a:rPr>
              <a:t>✓  Actualizar a ≥ 6.8.3</a:t>
            </a:r>
            <a:endParaRPr lang="es-ES" sz="9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24"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425"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ANEXO · MARCO GRC</a:t>
            </a:r>
            <a:endParaRPr lang="es-ES" sz="900" b="0" u="none" strike="noStrike">
              <a:solidFill>
                <a:srgbClr val="ffffff"/>
              </a:solidFill>
              <a:effectLst/>
              <a:uFillTx/>
              <a:latin typeface="Arial"/>
            </a:endParaRPr>
          </a:p>
        </p:txBody>
      </p:sp>
      <p:sp>
        <p:nvSpPr>
          <p:cNvPr id="426"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Gobernanza, Riesgo y Cumplimiento</a:t>
            </a:r>
            <a:endParaRPr lang="es-ES" sz="2800" b="0" u="none" strike="noStrike">
              <a:solidFill>
                <a:srgbClr val="ffffff"/>
              </a:solidFill>
              <a:effectLst/>
              <a:uFillTx/>
              <a:latin typeface="Arial"/>
            </a:endParaRPr>
          </a:p>
        </p:txBody>
      </p:sp>
      <p:sp>
        <p:nvSpPr>
          <p:cNvPr id="427"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428"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14 / 17</a:t>
            </a:r>
            <a:endParaRPr lang="es-ES" sz="900" b="0" u="none" strike="noStrike">
              <a:solidFill>
                <a:srgbClr val="ffffff"/>
              </a:solidFill>
              <a:effectLst/>
              <a:uFillTx/>
              <a:latin typeface="Arial"/>
            </a:endParaRPr>
          </a:p>
        </p:txBody>
      </p:sp>
      <p:sp>
        <p:nvSpPr>
          <p:cNvPr id="429" name="Shape 5"/>
          <p:cNvSpPr/>
          <p:nvPr/>
        </p:nvSpPr>
        <p:spPr>
          <a:xfrm>
            <a:off x="411480" y="1280160"/>
            <a:ext cx="2742480" cy="3611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30" name="Shape 6"/>
          <p:cNvSpPr/>
          <p:nvPr/>
        </p:nvSpPr>
        <p:spPr>
          <a:xfrm>
            <a:off x="411480" y="1280160"/>
            <a:ext cx="2742480" cy="34668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31" name="Text 7"/>
          <p:cNvSpPr/>
          <p:nvPr/>
        </p:nvSpPr>
        <p:spPr>
          <a:xfrm>
            <a:off x="411480" y="1280160"/>
            <a:ext cx="27424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50" b="1" u="none" strike="noStrike">
                <a:solidFill>
                  <a:srgbClr val="ffffff"/>
                </a:solidFill>
                <a:effectLst/>
                <a:uFillTx/>
                <a:latin typeface="Calibri"/>
                <a:ea typeface="Calibri"/>
              </a:rPr>
              <a:t>ISO/IEC 27001</a:t>
            </a:r>
            <a:endParaRPr lang="es-ES" sz="1150" b="0" u="none" strike="noStrike">
              <a:solidFill>
                <a:srgbClr val="ffffff"/>
              </a:solidFill>
              <a:effectLst/>
              <a:uFillTx/>
              <a:latin typeface="Arial"/>
            </a:endParaRPr>
          </a:p>
        </p:txBody>
      </p:sp>
      <p:sp>
        <p:nvSpPr>
          <p:cNvPr id="432" name="Shape 8"/>
          <p:cNvSpPr/>
          <p:nvPr/>
        </p:nvSpPr>
        <p:spPr>
          <a:xfrm>
            <a:off x="521280" y="171900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33" name="Text 9"/>
          <p:cNvSpPr/>
          <p:nvPr/>
        </p:nvSpPr>
        <p:spPr>
          <a:xfrm>
            <a:off x="576000" y="171900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1565c0"/>
                </a:solidFill>
                <a:effectLst/>
                <a:uFillTx/>
                <a:latin typeface="Calibri"/>
                <a:ea typeface="Calibri"/>
              </a:rPr>
              <a:t>5 – Liderazgo</a:t>
            </a:r>
            <a:endParaRPr lang="es-ES" sz="900" b="0" u="none" strike="noStrike">
              <a:solidFill>
                <a:srgbClr val="ffffff"/>
              </a:solidFill>
              <a:effectLst/>
              <a:uFillTx/>
              <a:latin typeface="Arial"/>
            </a:endParaRPr>
          </a:p>
        </p:txBody>
      </p:sp>
      <p:sp>
        <p:nvSpPr>
          <p:cNvPr id="434" name="Shape 10"/>
          <p:cNvSpPr/>
          <p:nvPr/>
        </p:nvSpPr>
        <p:spPr>
          <a:xfrm>
            <a:off x="2532960" y="171900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35" name="Text 11"/>
          <p:cNvSpPr/>
          <p:nvPr/>
        </p:nvSpPr>
        <p:spPr>
          <a:xfrm>
            <a:off x="2532960" y="171900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36" name="Text 12"/>
          <p:cNvSpPr/>
          <p:nvPr/>
        </p:nvSpPr>
        <p:spPr>
          <a:xfrm>
            <a:off x="576000" y="193860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Sin política formal de seguridad</a:t>
            </a:r>
            <a:endParaRPr lang="es-ES" sz="900" b="0" u="none" strike="noStrike">
              <a:solidFill>
                <a:srgbClr val="ffffff"/>
              </a:solidFill>
              <a:effectLst/>
              <a:uFillTx/>
              <a:latin typeface="Arial"/>
            </a:endParaRPr>
          </a:p>
        </p:txBody>
      </p:sp>
      <p:sp>
        <p:nvSpPr>
          <p:cNvPr id="437" name="Shape 13"/>
          <p:cNvSpPr/>
          <p:nvPr/>
        </p:nvSpPr>
        <p:spPr>
          <a:xfrm>
            <a:off x="521280" y="246888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38" name="Text 14"/>
          <p:cNvSpPr/>
          <p:nvPr/>
        </p:nvSpPr>
        <p:spPr>
          <a:xfrm>
            <a:off x="576000" y="246888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1565c0"/>
                </a:solidFill>
                <a:effectLst/>
                <a:uFillTx/>
                <a:latin typeface="Calibri"/>
                <a:ea typeface="Calibri"/>
              </a:rPr>
              <a:t>6 – Planificación</a:t>
            </a:r>
            <a:endParaRPr lang="es-ES" sz="900" b="0" u="none" strike="noStrike">
              <a:solidFill>
                <a:srgbClr val="ffffff"/>
              </a:solidFill>
              <a:effectLst/>
              <a:uFillTx/>
              <a:latin typeface="Arial"/>
            </a:endParaRPr>
          </a:p>
        </p:txBody>
      </p:sp>
      <p:sp>
        <p:nvSpPr>
          <p:cNvPr id="439" name="Shape 15"/>
          <p:cNvSpPr/>
          <p:nvPr/>
        </p:nvSpPr>
        <p:spPr>
          <a:xfrm>
            <a:off x="2532960" y="246888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40" name="Text 16"/>
          <p:cNvSpPr/>
          <p:nvPr/>
        </p:nvSpPr>
        <p:spPr>
          <a:xfrm>
            <a:off x="2532960" y="246888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41" name="Text 17"/>
          <p:cNvSpPr/>
          <p:nvPr/>
        </p:nvSpPr>
        <p:spPr>
          <a:xfrm>
            <a:off x="576000" y="268848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Sin análisis de riesgos previo</a:t>
            </a:r>
            <a:endParaRPr lang="es-ES" sz="900" b="0" u="none" strike="noStrike">
              <a:solidFill>
                <a:srgbClr val="ffffff"/>
              </a:solidFill>
              <a:effectLst/>
              <a:uFillTx/>
              <a:latin typeface="Arial"/>
            </a:endParaRPr>
          </a:p>
        </p:txBody>
      </p:sp>
      <p:sp>
        <p:nvSpPr>
          <p:cNvPr id="442" name="Shape 18"/>
          <p:cNvSpPr/>
          <p:nvPr/>
        </p:nvSpPr>
        <p:spPr>
          <a:xfrm>
            <a:off x="521280" y="321876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43" name="Text 19"/>
          <p:cNvSpPr/>
          <p:nvPr/>
        </p:nvSpPr>
        <p:spPr>
          <a:xfrm>
            <a:off x="576000" y="321876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1565c0"/>
                </a:solidFill>
                <a:effectLst/>
                <a:uFillTx/>
                <a:latin typeface="Calibri"/>
                <a:ea typeface="Calibri"/>
              </a:rPr>
              <a:t>8 – Operación</a:t>
            </a:r>
            <a:endParaRPr lang="es-ES" sz="900" b="0" u="none" strike="noStrike">
              <a:solidFill>
                <a:srgbClr val="ffffff"/>
              </a:solidFill>
              <a:effectLst/>
              <a:uFillTx/>
              <a:latin typeface="Arial"/>
            </a:endParaRPr>
          </a:p>
        </p:txBody>
      </p:sp>
      <p:sp>
        <p:nvSpPr>
          <p:cNvPr id="444" name="Shape 20"/>
          <p:cNvSpPr/>
          <p:nvPr/>
        </p:nvSpPr>
        <p:spPr>
          <a:xfrm>
            <a:off x="2532960" y="321876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45" name="Text 21"/>
          <p:cNvSpPr/>
          <p:nvPr/>
        </p:nvSpPr>
        <p:spPr>
          <a:xfrm>
            <a:off x="2532960" y="321876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46" name="Text 22"/>
          <p:cNvSpPr/>
          <p:nvPr/>
        </p:nvSpPr>
        <p:spPr>
          <a:xfrm>
            <a:off x="576000" y="343800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Configuración insegura FTP/SSH</a:t>
            </a:r>
            <a:endParaRPr lang="es-ES" sz="900" b="0" u="none" strike="noStrike">
              <a:solidFill>
                <a:srgbClr val="ffffff"/>
              </a:solidFill>
              <a:effectLst/>
              <a:uFillTx/>
              <a:latin typeface="Arial"/>
            </a:endParaRPr>
          </a:p>
        </p:txBody>
      </p:sp>
      <p:sp>
        <p:nvSpPr>
          <p:cNvPr id="447" name="Shape 23"/>
          <p:cNvSpPr/>
          <p:nvPr/>
        </p:nvSpPr>
        <p:spPr>
          <a:xfrm>
            <a:off x="521280" y="396864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48" name="Text 24"/>
          <p:cNvSpPr/>
          <p:nvPr/>
        </p:nvSpPr>
        <p:spPr>
          <a:xfrm>
            <a:off x="576000" y="396864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1565c0"/>
                </a:solidFill>
                <a:effectLst/>
                <a:uFillTx/>
                <a:latin typeface="Calibri"/>
                <a:ea typeface="Calibri"/>
              </a:rPr>
              <a:t>10 – Mejora</a:t>
            </a:r>
            <a:endParaRPr lang="es-ES" sz="900" b="0" u="none" strike="noStrike">
              <a:solidFill>
                <a:srgbClr val="ffffff"/>
              </a:solidFill>
              <a:effectLst/>
              <a:uFillTx/>
              <a:latin typeface="Arial"/>
            </a:endParaRPr>
          </a:p>
        </p:txBody>
      </p:sp>
      <p:sp>
        <p:nvSpPr>
          <p:cNvPr id="449" name="Shape 25"/>
          <p:cNvSpPr/>
          <p:nvPr/>
        </p:nvSpPr>
        <p:spPr>
          <a:xfrm>
            <a:off x="2532960" y="3968640"/>
            <a:ext cx="529560" cy="200520"/>
          </a:xfrm>
          <a:prstGeom prst="rect">
            <a:avLst/>
          </a:prstGeom>
          <a:solidFill>
            <a:srgbClr val="f9a825"/>
          </a:solidFill>
          <a:ln w="12700">
            <a:solidFill>
              <a:srgbClr val="f9a825"/>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000000"/>
              </a:solidFill>
              <a:effectLst/>
              <a:uFillTx/>
              <a:latin typeface="Arial"/>
            </a:endParaRPr>
          </a:p>
        </p:txBody>
      </p:sp>
      <p:sp>
        <p:nvSpPr>
          <p:cNvPr id="450" name="Text 26"/>
          <p:cNvSpPr/>
          <p:nvPr/>
        </p:nvSpPr>
        <p:spPr>
          <a:xfrm>
            <a:off x="2532960" y="396864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PARCIAL</a:t>
            </a:r>
            <a:endParaRPr lang="es-ES" sz="750" b="0" u="none" strike="noStrike">
              <a:solidFill>
                <a:srgbClr val="ffffff"/>
              </a:solidFill>
              <a:effectLst/>
              <a:uFillTx/>
              <a:latin typeface="Arial"/>
            </a:endParaRPr>
          </a:p>
        </p:txBody>
      </p:sp>
      <p:sp>
        <p:nvSpPr>
          <p:cNvPr id="451" name="Text 27"/>
          <p:cNvSpPr/>
          <p:nvPr/>
        </p:nvSpPr>
        <p:spPr>
          <a:xfrm>
            <a:off x="576000" y="418788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Hardening aplicado (reactivo)</a:t>
            </a:r>
            <a:endParaRPr lang="es-ES" sz="900" b="0" u="none" strike="noStrike">
              <a:solidFill>
                <a:srgbClr val="ffffff"/>
              </a:solidFill>
              <a:effectLst/>
              <a:uFillTx/>
              <a:latin typeface="Arial"/>
            </a:endParaRPr>
          </a:p>
        </p:txBody>
      </p:sp>
      <p:sp>
        <p:nvSpPr>
          <p:cNvPr id="452" name="Shape 28"/>
          <p:cNvSpPr/>
          <p:nvPr/>
        </p:nvSpPr>
        <p:spPr>
          <a:xfrm>
            <a:off x="3364920" y="1280160"/>
            <a:ext cx="2742480" cy="3611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53" name="Shape 29"/>
          <p:cNvSpPr/>
          <p:nvPr/>
        </p:nvSpPr>
        <p:spPr>
          <a:xfrm>
            <a:off x="3364920" y="1280160"/>
            <a:ext cx="2742480" cy="346680"/>
          </a:xfrm>
          <a:prstGeom prst="rect">
            <a:avLst/>
          </a:prstGeom>
          <a:solidFill>
            <a:srgbClr val="00695c"/>
          </a:solidFill>
          <a:ln w="12700">
            <a:solidFill>
              <a:srgbClr val="00695c"/>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54" name="Text 30"/>
          <p:cNvSpPr/>
          <p:nvPr/>
        </p:nvSpPr>
        <p:spPr>
          <a:xfrm>
            <a:off x="3364920" y="1280160"/>
            <a:ext cx="27424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50" b="1" u="none" strike="noStrike">
                <a:solidFill>
                  <a:srgbClr val="ffffff"/>
                </a:solidFill>
                <a:effectLst/>
                <a:uFillTx/>
                <a:latin typeface="Calibri"/>
                <a:ea typeface="Calibri"/>
              </a:rPr>
              <a:t>NIST CSF</a:t>
            </a:r>
            <a:endParaRPr lang="es-ES" sz="1150" b="0" u="none" strike="noStrike">
              <a:solidFill>
                <a:srgbClr val="ffffff"/>
              </a:solidFill>
              <a:effectLst/>
              <a:uFillTx/>
              <a:latin typeface="Arial"/>
            </a:endParaRPr>
          </a:p>
        </p:txBody>
      </p:sp>
      <p:sp>
        <p:nvSpPr>
          <p:cNvPr id="455" name="Shape 31"/>
          <p:cNvSpPr/>
          <p:nvPr/>
        </p:nvSpPr>
        <p:spPr>
          <a:xfrm>
            <a:off x="3474720" y="171900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56" name="Text 32"/>
          <p:cNvSpPr/>
          <p:nvPr/>
        </p:nvSpPr>
        <p:spPr>
          <a:xfrm>
            <a:off x="3529440" y="171900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0695c"/>
                </a:solidFill>
                <a:effectLst/>
                <a:uFillTx/>
                <a:latin typeface="Calibri"/>
                <a:ea typeface="Calibri"/>
              </a:rPr>
              <a:t>Identify</a:t>
            </a:r>
            <a:endParaRPr lang="es-ES" sz="900" b="0" u="none" strike="noStrike">
              <a:solidFill>
                <a:srgbClr val="ffffff"/>
              </a:solidFill>
              <a:effectLst/>
              <a:uFillTx/>
              <a:latin typeface="Arial"/>
            </a:endParaRPr>
          </a:p>
        </p:txBody>
      </p:sp>
      <p:sp>
        <p:nvSpPr>
          <p:cNvPr id="457" name="Shape 33"/>
          <p:cNvSpPr/>
          <p:nvPr/>
        </p:nvSpPr>
        <p:spPr>
          <a:xfrm>
            <a:off x="5486400" y="171900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58" name="Text 34"/>
          <p:cNvSpPr/>
          <p:nvPr/>
        </p:nvSpPr>
        <p:spPr>
          <a:xfrm>
            <a:off x="5486400" y="171900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59" name="Text 35"/>
          <p:cNvSpPr/>
          <p:nvPr/>
        </p:nvSpPr>
        <p:spPr>
          <a:xfrm>
            <a:off x="3529440" y="193860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Sin inventario formal — DÉBIL</a:t>
            </a:r>
            <a:endParaRPr lang="es-ES" sz="900" b="0" u="none" strike="noStrike">
              <a:solidFill>
                <a:srgbClr val="ffffff"/>
              </a:solidFill>
              <a:effectLst/>
              <a:uFillTx/>
              <a:latin typeface="Arial"/>
            </a:endParaRPr>
          </a:p>
        </p:txBody>
      </p:sp>
      <p:sp>
        <p:nvSpPr>
          <p:cNvPr id="460" name="Shape 36"/>
          <p:cNvSpPr/>
          <p:nvPr/>
        </p:nvSpPr>
        <p:spPr>
          <a:xfrm>
            <a:off x="3474720" y="246888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61" name="Text 37"/>
          <p:cNvSpPr/>
          <p:nvPr/>
        </p:nvSpPr>
        <p:spPr>
          <a:xfrm>
            <a:off x="3529440" y="246888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0695c"/>
                </a:solidFill>
                <a:effectLst/>
                <a:uFillTx/>
                <a:latin typeface="Calibri"/>
                <a:ea typeface="Calibri"/>
              </a:rPr>
              <a:t>Protect</a:t>
            </a:r>
            <a:endParaRPr lang="es-ES" sz="900" b="0" u="none" strike="noStrike">
              <a:solidFill>
                <a:srgbClr val="ffffff"/>
              </a:solidFill>
              <a:effectLst/>
              <a:uFillTx/>
              <a:latin typeface="Arial"/>
            </a:endParaRPr>
          </a:p>
        </p:txBody>
      </p:sp>
      <p:sp>
        <p:nvSpPr>
          <p:cNvPr id="462" name="Shape 38"/>
          <p:cNvSpPr/>
          <p:nvPr/>
        </p:nvSpPr>
        <p:spPr>
          <a:xfrm>
            <a:off x="5486400" y="246888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63" name="Text 39"/>
          <p:cNvSpPr/>
          <p:nvPr/>
        </p:nvSpPr>
        <p:spPr>
          <a:xfrm>
            <a:off x="5486400" y="246888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64" name="Text 40"/>
          <p:cNvSpPr/>
          <p:nvPr/>
        </p:nvSpPr>
        <p:spPr>
          <a:xfrm>
            <a:off x="3529440" y="268848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SSH y FTP mal configurados — CRÍTICO</a:t>
            </a:r>
            <a:endParaRPr lang="es-ES" sz="900" b="0" u="none" strike="noStrike">
              <a:solidFill>
                <a:srgbClr val="ffffff"/>
              </a:solidFill>
              <a:effectLst/>
              <a:uFillTx/>
              <a:latin typeface="Arial"/>
            </a:endParaRPr>
          </a:p>
        </p:txBody>
      </p:sp>
      <p:sp>
        <p:nvSpPr>
          <p:cNvPr id="465" name="Shape 41"/>
          <p:cNvSpPr/>
          <p:nvPr/>
        </p:nvSpPr>
        <p:spPr>
          <a:xfrm>
            <a:off x="3474720" y="321876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66" name="Text 42"/>
          <p:cNvSpPr/>
          <p:nvPr/>
        </p:nvSpPr>
        <p:spPr>
          <a:xfrm>
            <a:off x="3529440" y="321876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0695c"/>
                </a:solidFill>
                <a:effectLst/>
                <a:uFillTx/>
                <a:latin typeface="Calibri"/>
                <a:ea typeface="Calibri"/>
              </a:rPr>
              <a:t>Detect</a:t>
            </a:r>
            <a:endParaRPr lang="es-ES" sz="900" b="0" u="none" strike="noStrike">
              <a:solidFill>
                <a:srgbClr val="ffffff"/>
              </a:solidFill>
              <a:effectLst/>
              <a:uFillTx/>
              <a:latin typeface="Arial"/>
            </a:endParaRPr>
          </a:p>
        </p:txBody>
      </p:sp>
      <p:sp>
        <p:nvSpPr>
          <p:cNvPr id="467" name="Shape 43"/>
          <p:cNvSpPr/>
          <p:nvPr/>
        </p:nvSpPr>
        <p:spPr>
          <a:xfrm>
            <a:off x="5486400" y="3218760"/>
            <a:ext cx="529560" cy="20052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68" name="Text 44"/>
          <p:cNvSpPr/>
          <p:nvPr/>
        </p:nvSpPr>
        <p:spPr>
          <a:xfrm>
            <a:off x="5486400" y="321876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MEDIO</a:t>
            </a:r>
            <a:endParaRPr lang="es-ES" sz="750" b="0" u="none" strike="noStrike">
              <a:solidFill>
                <a:srgbClr val="ffffff"/>
              </a:solidFill>
              <a:effectLst/>
              <a:uFillTx/>
              <a:latin typeface="Arial"/>
            </a:endParaRPr>
          </a:p>
        </p:txBody>
      </p:sp>
      <p:sp>
        <p:nvSpPr>
          <p:cNvPr id="469" name="Text 45"/>
          <p:cNvSpPr/>
          <p:nvPr/>
        </p:nvSpPr>
        <p:spPr>
          <a:xfrm>
            <a:off x="3529440" y="343800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Logs revisados solo post-incidente</a:t>
            </a:r>
            <a:endParaRPr lang="es-ES" sz="900" b="0" u="none" strike="noStrike">
              <a:solidFill>
                <a:srgbClr val="ffffff"/>
              </a:solidFill>
              <a:effectLst/>
              <a:uFillTx/>
              <a:latin typeface="Arial"/>
            </a:endParaRPr>
          </a:p>
        </p:txBody>
      </p:sp>
      <p:sp>
        <p:nvSpPr>
          <p:cNvPr id="470" name="Shape 46"/>
          <p:cNvSpPr/>
          <p:nvPr/>
        </p:nvSpPr>
        <p:spPr>
          <a:xfrm>
            <a:off x="3474720" y="396864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71" name="Text 47"/>
          <p:cNvSpPr/>
          <p:nvPr/>
        </p:nvSpPr>
        <p:spPr>
          <a:xfrm>
            <a:off x="3529440" y="396864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00695c"/>
                </a:solidFill>
                <a:effectLst/>
                <a:uFillTx/>
                <a:latin typeface="Calibri"/>
                <a:ea typeface="Calibri"/>
              </a:rPr>
              <a:t>Respond</a:t>
            </a:r>
            <a:endParaRPr lang="es-ES" sz="900" b="0" u="none" strike="noStrike">
              <a:solidFill>
                <a:srgbClr val="ffffff"/>
              </a:solidFill>
              <a:effectLst/>
              <a:uFillTx/>
              <a:latin typeface="Arial"/>
            </a:endParaRPr>
          </a:p>
        </p:txBody>
      </p:sp>
      <p:sp>
        <p:nvSpPr>
          <p:cNvPr id="472" name="Shape 48"/>
          <p:cNvSpPr/>
          <p:nvPr/>
        </p:nvSpPr>
        <p:spPr>
          <a:xfrm>
            <a:off x="5486400" y="3968640"/>
            <a:ext cx="529560" cy="20052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73" name="Text 49"/>
          <p:cNvSpPr/>
          <p:nvPr/>
        </p:nvSpPr>
        <p:spPr>
          <a:xfrm>
            <a:off x="5486400" y="396864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OK</a:t>
            </a:r>
            <a:endParaRPr lang="es-ES" sz="750" b="0" u="none" strike="noStrike">
              <a:solidFill>
                <a:srgbClr val="ffffff"/>
              </a:solidFill>
              <a:effectLst/>
              <a:uFillTx/>
              <a:latin typeface="Arial"/>
            </a:endParaRPr>
          </a:p>
        </p:txBody>
      </p:sp>
      <p:sp>
        <p:nvSpPr>
          <p:cNvPr id="474" name="Text 50"/>
          <p:cNvSpPr/>
          <p:nvPr/>
        </p:nvSpPr>
        <p:spPr>
          <a:xfrm>
            <a:off x="3529440" y="418788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Análisis forense correcto — OK</a:t>
            </a:r>
            <a:endParaRPr lang="es-ES" sz="900" b="0" u="none" strike="noStrike">
              <a:solidFill>
                <a:srgbClr val="ffffff"/>
              </a:solidFill>
              <a:effectLst/>
              <a:uFillTx/>
              <a:latin typeface="Arial"/>
            </a:endParaRPr>
          </a:p>
        </p:txBody>
      </p:sp>
      <p:sp>
        <p:nvSpPr>
          <p:cNvPr id="475" name="Shape 51"/>
          <p:cNvSpPr/>
          <p:nvPr/>
        </p:nvSpPr>
        <p:spPr>
          <a:xfrm>
            <a:off x="6318360" y="1280160"/>
            <a:ext cx="2742480" cy="3611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76" name="Shape 52"/>
          <p:cNvSpPr/>
          <p:nvPr/>
        </p:nvSpPr>
        <p:spPr>
          <a:xfrm>
            <a:off x="6318360" y="1280160"/>
            <a:ext cx="2742480" cy="34668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77" name="Text 53"/>
          <p:cNvSpPr/>
          <p:nvPr/>
        </p:nvSpPr>
        <p:spPr>
          <a:xfrm>
            <a:off x="6318360" y="1280160"/>
            <a:ext cx="27424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50" b="1" u="none" strike="noStrike">
                <a:solidFill>
                  <a:srgbClr val="ffffff"/>
                </a:solidFill>
                <a:effectLst/>
                <a:uFillTx/>
                <a:latin typeface="Calibri"/>
                <a:ea typeface="Calibri"/>
              </a:rPr>
              <a:t>ENS · Nivel MEDIO</a:t>
            </a:r>
            <a:endParaRPr lang="es-ES" sz="1150" b="0" u="none" strike="noStrike">
              <a:solidFill>
                <a:srgbClr val="ffffff"/>
              </a:solidFill>
              <a:effectLst/>
              <a:uFillTx/>
              <a:latin typeface="Arial"/>
            </a:endParaRPr>
          </a:p>
        </p:txBody>
      </p:sp>
      <p:sp>
        <p:nvSpPr>
          <p:cNvPr id="478" name="Shape 54"/>
          <p:cNvSpPr/>
          <p:nvPr/>
        </p:nvSpPr>
        <p:spPr>
          <a:xfrm>
            <a:off x="6428160" y="171900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79" name="Text 55"/>
          <p:cNvSpPr/>
          <p:nvPr/>
        </p:nvSpPr>
        <p:spPr>
          <a:xfrm>
            <a:off x="6483240" y="171900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65100"/>
                </a:solidFill>
                <a:effectLst/>
                <a:uFillTx/>
                <a:latin typeface="Calibri"/>
                <a:ea typeface="Calibri"/>
              </a:rPr>
              <a:t>MP-IF</a:t>
            </a:r>
            <a:endParaRPr lang="es-ES" sz="900" b="0" u="none" strike="noStrike">
              <a:solidFill>
                <a:srgbClr val="ffffff"/>
              </a:solidFill>
              <a:effectLst/>
              <a:uFillTx/>
              <a:latin typeface="Arial"/>
            </a:endParaRPr>
          </a:p>
        </p:txBody>
      </p:sp>
      <p:sp>
        <p:nvSpPr>
          <p:cNvPr id="480" name="Shape 56"/>
          <p:cNvSpPr/>
          <p:nvPr/>
        </p:nvSpPr>
        <p:spPr>
          <a:xfrm>
            <a:off x="8439840" y="171900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81" name="Text 57"/>
          <p:cNvSpPr/>
          <p:nvPr/>
        </p:nvSpPr>
        <p:spPr>
          <a:xfrm>
            <a:off x="8439840" y="171900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82" name="Text 58"/>
          <p:cNvSpPr/>
          <p:nvPr/>
        </p:nvSpPr>
        <p:spPr>
          <a:xfrm>
            <a:off x="6483240" y="193860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Configuración insegura de servicios</a:t>
            </a:r>
            <a:endParaRPr lang="es-ES" sz="900" b="0" u="none" strike="noStrike">
              <a:solidFill>
                <a:srgbClr val="ffffff"/>
              </a:solidFill>
              <a:effectLst/>
              <a:uFillTx/>
              <a:latin typeface="Arial"/>
            </a:endParaRPr>
          </a:p>
        </p:txBody>
      </p:sp>
      <p:sp>
        <p:nvSpPr>
          <p:cNvPr id="483" name="Shape 59"/>
          <p:cNvSpPr/>
          <p:nvPr/>
        </p:nvSpPr>
        <p:spPr>
          <a:xfrm>
            <a:off x="6428160" y="246888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84" name="Text 60"/>
          <p:cNvSpPr/>
          <p:nvPr/>
        </p:nvSpPr>
        <p:spPr>
          <a:xfrm>
            <a:off x="6483240" y="246888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65100"/>
                </a:solidFill>
                <a:effectLst/>
                <a:uFillTx/>
                <a:latin typeface="Calibri"/>
                <a:ea typeface="Calibri"/>
              </a:rPr>
              <a:t>OP-ACC</a:t>
            </a:r>
            <a:endParaRPr lang="es-ES" sz="900" b="0" u="none" strike="noStrike">
              <a:solidFill>
                <a:srgbClr val="ffffff"/>
              </a:solidFill>
              <a:effectLst/>
              <a:uFillTx/>
              <a:latin typeface="Arial"/>
            </a:endParaRPr>
          </a:p>
        </p:txBody>
      </p:sp>
      <p:sp>
        <p:nvSpPr>
          <p:cNvPr id="485" name="Shape 61"/>
          <p:cNvSpPr/>
          <p:nvPr/>
        </p:nvSpPr>
        <p:spPr>
          <a:xfrm>
            <a:off x="8439840" y="246888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86" name="Text 62"/>
          <p:cNvSpPr/>
          <p:nvPr/>
        </p:nvSpPr>
        <p:spPr>
          <a:xfrm>
            <a:off x="8439840" y="246888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87" name="Text 63"/>
          <p:cNvSpPr/>
          <p:nvPr/>
        </p:nvSpPr>
        <p:spPr>
          <a:xfrm>
            <a:off x="6483240" y="268848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Gestión débil de accesos</a:t>
            </a:r>
            <a:endParaRPr lang="es-ES" sz="900" b="0" u="none" strike="noStrike">
              <a:solidFill>
                <a:srgbClr val="ffffff"/>
              </a:solidFill>
              <a:effectLst/>
              <a:uFillTx/>
              <a:latin typeface="Arial"/>
            </a:endParaRPr>
          </a:p>
        </p:txBody>
      </p:sp>
      <p:sp>
        <p:nvSpPr>
          <p:cNvPr id="488" name="Shape 64"/>
          <p:cNvSpPr/>
          <p:nvPr/>
        </p:nvSpPr>
        <p:spPr>
          <a:xfrm>
            <a:off x="6428160" y="321876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89" name="Text 65"/>
          <p:cNvSpPr/>
          <p:nvPr/>
        </p:nvSpPr>
        <p:spPr>
          <a:xfrm>
            <a:off x="6483240" y="321876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65100"/>
                </a:solidFill>
                <a:effectLst/>
                <a:uFillTx/>
                <a:latin typeface="Calibri"/>
                <a:ea typeface="Calibri"/>
              </a:rPr>
              <a:t>OP-MON</a:t>
            </a:r>
            <a:endParaRPr lang="es-ES" sz="900" b="0" u="none" strike="noStrike">
              <a:solidFill>
                <a:srgbClr val="ffffff"/>
              </a:solidFill>
              <a:effectLst/>
              <a:uFillTx/>
              <a:latin typeface="Arial"/>
            </a:endParaRPr>
          </a:p>
        </p:txBody>
      </p:sp>
      <p:sp>
        <p:nvSpPr>
          <p:cNvPr id="490" name="Shape 66"/>
          <p:cNvSpPr/>
          <p:nvPr/>
        </p:nvSpPr>
        <p:spPr>
          <a:xfrm>
            <a:off x="8439840" y="321876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91" name="Text 67"/>
          <p:cNvSpPr/>
          <p:nvPr/>
        </p:nvSpPr>
        <p:spPr>
          <a:xfrm>
            <a:off x="8439840" y="321876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92" name="Text 68"/>
          <p:cNvSpPr/>
          <p:nvPr/>
        </p:nvSpPr>
        <p:spPr>
          <a:xfrm>
            <a:off x="6483240" y="343800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Sin monitorización activa previa</a:t>
            </a:r>
            <a:endParaRPr lang="es-ES" sz="900" b="0" u="none" strike="noStrike">
              <a:solidFill>
                <a:srgbClr val="ffffff"/>
              </a:solidFill>
              <a:effectLst/>
              <a:uFillTx/>
              <a:latin typeface="Arial"/>
            </a:endParaRPr>
          </a:p>
        </p:txBody>
      </p:sp>
      <p:sp>
        <p:nvSpPr>
          <p:cNvPr id="493" name="Shape 69"/>
          <p:cNvSpPr/>
          <p:nvPr/>
        </p:nvSpPr>
        <p:spPr>
          <a:xfrm>
            <a:off x="6428160" y="3968640"/>
            <a:ext cx="2541240" cy="200520"/>
          </a:xfrm>
          <a:prstGeom prst="rect">
            <a:avLst/>
          </a:prstGeom>
          <a:solidFill>
            <a:srgbClr val="0d1b2a"/>
          </a:solidFill>
          <a:ln w="12700">
            <a:solidFill>
              <a:srgbClr val="1e3a5f"/>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94" name="Text 70"/>
          <p:cNvSpPr/>
          <p:nvPr/>
        </p:nvSpPr>
        <p:spPr>
          <a:xfrm>
            <a:off x="6483240" y="3968640"/>
            <a:ext cx="173664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trike="noStrike">
                <a:solidFill>
                  <a:srgbClr val="e65100"/>
                </a:solidFill>
                <a:effectLst/>
                <a:uFillTx/>
                <a:latin typeface="Calibri"/>
                <a:ea typeface="Calibri"/>
              </a:rPr>
              <a:t>MP-SI</a:t>
            </a:r>
            <a:endParaRPr lang="es-ES" sz="900" b="0" u="none" strike="noStrike">
              <a:solidFill>
                <a:srgbClr val="ffffff"/>
              </a:solidFill>
              <a:effectLst/>
              <a:uFillTx/>
              <a:latin typeface="Arial"/>
            </a:endParaRPr>
          </a:p>
        </p:txBody>
      </p:sp>
      <p:sp>
        <p:nvSpPr>
          <p:cNvPr id="495" name="Shape 71"/>
          <p:cNvSpPr/>
          <p:nvPr/>
        </p:nvSpPr>
        <p:spPr>
          <a:xfrm>
            <a:off x="8439840" y="3968640"/>
            <a:ext cx="529560" cy="200520"/>
          </a:xfrm>
          <a:prstGeom prst="rect">
            <a:avLst/>
          </a:prstGeom>
          <a:solidFill>
            <a:srgbClr val="c62828"/>
          </a:solidFill>
          <a:ln w="12700">
            <a:solidFill>
              <a:srgbClr val="c62828"/>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496" name="Text 72"/>
          <p:cNvSpPr/>
          <p:nvPr/>
        </p:nvSpPr>
        <p:spPr>
          <a:xfrm>
            <a:off x="8439840" y="396864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750" b="1" u="none" strike="noStrike">
                <a:solidFill>
                  <a:srgbClr val="ffffff"/>
                </a:solidFill>
                <a:effectLst/>
                <a:uFillTx/>
                <a:latin typeface="Calibri"/>
                <a:ea typeface="Calibri"/>
              </a:rPr>
              <a:t>BAJO</a:t>
            </a:r>
            <a:endParaRPr lang="es-ES" sz="750" b="0" u="none" strike="noStrike">
              <a:solidFill>
                <a:srgbClr val="ffffff"/>
              </a:solidFill>
              <a:effectLst/>
              <a:uFillTx/>
              <a:latin typeface="Arial"/>
            </a:endParaRPr>
          </a:p>
        </p:txBody>
      </p:sp>
      <p:sp>
        <p:nvSpPr>
          <p:cNvPr id="497" name="Text 73"/>
          <p:cNvSpPr/>
          <p:nvPr/>
        </p:nvSpPr>
        <p:spPr>
          <a:xfrm>
            <a:off x="6483240" y="4187880"/>
            <a:ext cx="24865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Protección insuficiente de info sensible</a:t>
            </a:r>
            <a:endParaRPr lang="es-ES" sz="900" b="0" u="none" strike="noStrike">
              <a:solidFill>
                <a:srgbClr val="ffffff"/>
              </a:solidFill>
              <a:effectLst/>
              <a:uFillTx/>
              <a:latin typeface="Arial"/>
            </a:endParaRPr>
          </a:p>
        </p:txBody>
      </p:sp>
      <p:sp>
        <p:nvSpPr>
          <p:cNvPr id="498" name="Text 74"/>
          <p:cNvSpPr/>
          <p:nvPr/>
        </p:nvSpPr>
        <p:spPr>
          <a:xfrm>
            <a:off x="411480" y="4572000"/>
            <a:ext cx="832032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i="1" u="none" strike="noStrike">
                <a:solidFill>
                  <a:srgbClr val="cfd8dc"/>
                </a:solidFill>
                <a:effectLst/>
                <a:uFillTx/>
                <a:latin typeface="Calibri"/>
                <a:ea typeface="Calibri"/>
              </a:rPr>
              <a:t>Conclusión GRC: Cumplimiento técnico parcial alcanzado tras hardening. No certificable aún bajo ISO 27001 ni ENS sin formalización organizativa.</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499"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00"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GESTIÓN DE RIESGOS</a:t>
            </a:r>
            <a:endParaRPr lang="es-ES" sz="900" b="0" u="none" strike="noStrike">
              <a:solidFill>
                <a:srgbClr val="ffffff"/>
              </a:solidFill>
              <a:effectLst/>
              <a:uFillTx/>
              <a:latin typeface="Arial"/>
            </a:endParaRPr>
          </a:p>
        </p:txBody>
      </p:sp>
      <p:sp>
        <p:nvSpPr>
          <p:cNvPr id="501"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Matriz de Riesgos Identificados</a:t>
            </a:r>
            <a:endParaRPr lang="es-ES" sz="2800" b="0" u="none" strike="noStrike">
              <a:solidFill>
                <a:srgbClr val="ffffff"/>
              </a:solidFill>
              <a:effectLst/>
              <a:uFillTx/>
              <a:latin typeface="Arial"/>
            </a:endParaRPr>
          </a:p>
        </p:txBody>
      </p:sp>
      <p:sp>
        <p:nvSpPr>
          <p:cNvPr id="502"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503"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15 / 17</a:t>
            </a:r>
            <a:endParaRPr lang="es-ES" sz="900" b="0" u="none" strike="noStrike">
              <a:solidFill>
                <a:srgbClr val="ffffff"/>
              </a:solidFill>
              <a:effectLst/>
              <a:uFillTx/>
              <a:latin typeface="Arial"/>
            </a:endParaRPr>
          </a:p>
        </p:txBody>
      </p:sp>
      <p:graphicFrame>
        <p:nvGraphicFramePr>
          <p:cNvPr id="504" name="Table 0"/>
          <p:cNvGraphicFramePr/>
          <p:nvPr/>
        </p:nvGraphicFramePr>
        <p:xfrm>
          <a:off x="411480" y="1298520"/>
          <a:ext cx="8320680" cy="3326400"/>
        </p:xfrm>
        <a:graphic>
          <a:graphicData uri="http://schemas.openxmlformats.org/drawingml/2006/table">
            <a:tbl>
              <a:tblPr/>
              <a:tblGrid>
                <a:gridCol w="3291840"/>
                <a:gridCol w="777240"/>
                <a:gridCol w="777240"/>
                <a:gridCol w="914400"/>
                <a:gridCol w="2560320"/>
              </a:tblGrid>
              <a:tr h="475200">
                <a:tc>
                  <a:txBody>
                    <a:bodyPr anchor="t">
                      <a:noAutofit/>
                    </a:bodyPr>
                    <a:p>
                      <a:pPr defTabSz="914400">
                        <a:lnSpc>
                          <a:spcPct val="100000"/>
                        </a:lnSpc>
                        <a:tabLst>
                          <a:tab algn="l" pos="0"/>
                        </a:tabLst>
                      </a:pPr>
                      <a:r>
                        <a:rPr lang="en-US" sz="1000" b="1" u="none" strike="noStrike">
                          <a:solidFill>
                            <a:srgbClr val="ffffff"/>
                          </a:solidFill>
                          <a:effectLst/>
                          <a:uFillTx/>
                          <a:latin typeface="Calibri"/>
                        </a:rPr>
                        <a:t>Riesgo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Impacto</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Prob.</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Nivel</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c>
                  <a:txBody>
                    <a:bodyPr anchor="t">
                      <a:noAutofit/>
                    </a:bodyPr>
                    <a:p>
                      <a:pPr defTabSz="914400">
                        <a:lnSpc>
                          <a:spcPct val="100000"/>
                        </a:lnSpc>
                        <a:tabLst>
                          <a:tab algn="l" pos="0"/>
                        </a:tabLst>
                      </a:pPr>
                      <a:r>
                        <a:rPr lang="en-US" sz="1000" b="1" u="none" strike="noStrike">
                          <a:solidFill>
                            <a:srgbClr val="ffffff"/>
                          </a:solidFill>
                          <a:effectLst/>
                          <a:uFillTx/>
                          <a:latin typeface="Calibri"/>
                        </a:rPr>
                        <a:t>Mitigación aplicada</a:t>
                      </a:r>
                      <a:endParaRPr lang="es-ES" sz="10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565c0"/>
                    </a:solidFill>
                  </a:tcPr>
                </a:tc>
              </a:tr>
              <a:tr h="475200">
                <a:tc>
                  <a:txBody>
                    <a:bodyPr anchor="t">
                      <a:noAutofit/>
                    </a:bodyPr>
                    <a:p>
                      <a:pPr defTabSz="914400">
                        <a:lnSpc>
                          <a:spcPct val="100000"/>
                        </a:lnSpc>
                        <a:tabLst>
                          <a:tab algn="l" pos="0"/>
                        </a:tabLst>
                      </a:pPr>
                      <a:r>
                        <a:rPr lang="en-US" sz="950" b="0" u="none" strike="noStrike">
                          <a:solidFill>
                            <a:srgbClr val="ffffff"/>
                          </a:solidFill>
                          <a:effectLst/>
                          <a:uFillTx/>
                          <a:latin typeface="Calibri"/>
                        </a:rPr>
                        <a:t>Acceso no autorizado FTP (anonymous)</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00" b="0" u="none" strike="noStrike">
                          <a:solidFill>
                            <a:srgbClr val="43a047"/>
                          </a:solidFill>
                          <a:effectLst/>
                          <a:uFillTx/>
                          <a:latin typeface="Calibri"/>
                        </a:rPr>
                        <a:t>FTP deshabilitado. Puerto 21 cerrado.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75200">
                <a:tc>
                  <a:txBody>
                    <a:bodyPr anchor="t">
                      <a:noAutofit/>
                    </a:bodyPr>
                    <a:p>
                      <a:pPr defTabSz="914400">
                        <a:lnSpc>
                          <a:spcPct val="100000"/>
                        </a:lnSpc>
                        <a:tabLst>
                          <a:tab algn="l" pos="0"/>
                        </a:tabLst>
                      </a:pPr>
                      <a:r>
                        <a:rPr lang="en-US" sz="950" b="0" u="none" strike="noStrike">
                          <a:solidFill>
                            <a:srgbClr val="ffffff"/>
                          </a:solidFill>
                          <a:effectLst/>
                          <a:uFillTx/>
                          <a:latin typeface="Calibri"/>
                        </a:rPr>
                        <a:t>Fuerza bruta SSH</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00" b="0" u="none" strike="noStrike">
                          <a:solidFill>
                            <a:srgbClr val="43a047"/>
                          </a:solidFill>
                          <a:effectLst/>
                          <a:uFillTx/>
                          <a:latin typeface="Calibri"/>
                        </a:rPr>
                        <a:t>Auth por clave · Fail2Ban recomendado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75200">
                <a:tc>
                  <a:txBody>
                    <a:bodyPr anchor="t">
                      <a:noAutofit/>
                    </a:bodyPr>
                    <a:p>
                      <a:pPr defTabSz="914400">
                        <a:lnSpc>
                          <a:spcPct val="100000"/>
                        </a:lnSpc>
                        <a:tabLst>
                          <a:tab algn="l" pos="0"/>
                        </a:tabLst>
                      </a:pPr>
                      <a:r>
                        <a:rPr lang="en-US" sz="950" b="0" u="none" strike="noStrike">
                          <a:solidFill>
                            <a:srgbClr val="ffffff"/>
                          </a:solidFill>
                          <a:effectLst/>
                          <a:uFillTx/>
                          <a:latin typeface="Calibri"/>
                        </a:rPr>
                        <a:t>Escalada a root (sudo visudo)</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Muy 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00" b="0" u="none" strike="noStrike">
                          <a:solidFill>
                            <a:srgbClr val="43a047"/>
                          </a:solidFill>
                          <a:effectLst/>
                          <a:uFillTx/>
                          <a:latin typeface="Calibri"/>
                        </a:rPr>
                        <a:t>PermitRootLogin deshabilitado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75200">
                <a:tc>
                  <a:txBody>
                    <a:bodyPr anchor="t">
                      <a:noAutofit/>
                    </a:bodyPr>
                    <a:p>
                      <a:pPr defTabSz="914400">
                        <a:lnSpc>
                          <a:spcPct val="100000"/>
                        </a:lnSpc>
                        <a:tabLst>
                          <a:tab algn="l" pos="0"/>
                        </a:tabLst>
                      </a:pPr>
                      <a:r>
                        <a:rPr lang="en-US" sz="950" b="0" u="none" strike="noStrike">
                          <a:solidFill>
                            <a:srgbClr val="ffffff"/>
                          </a:solidFill>
                          <a:effectLst/>
                          <a:uFillTx/>
                          <a:latin typeface="Calibri"/>
                        </a:rPr>
                        <a:t>Credenciales WordPress en texto plano</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Muy 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CRÍTICO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c62828"/>
                    </a:solidFill>
                  </a:tcPr>
                </a:tc>
                <a:tc>
                  <a:txBody>
                    <a:bodyPr anchor="t">
                      <a:noAutofit/>
                    </a:bodyPr>
                    <a:p>
                      <a:pPr defTabSz="914400">
                        <a:lnSpc>
                          <a:spcPct val="100000"/>
                        </a:lnSpc>
                        <a:tabLst>
                          <a:tab algn="l" pos="0"/>
                        </a:tabLst>
                      </a:pPr>
                      <a:r>
                        <a:rPr lang="en-US" sz="900" b="0" u="none" strike="noStrike">
                          <a:solidFill>
                            <a:srgbClr val="43a047"/>
                          </a:solidFill>
                          <a:effectLst/>
                          <a:uFillTx/>
                          <a:latin typeface="Calibri"/>
                        </a:rPr>
                        <a:t>chmod 600 · Contraseña renovada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75200">
                <a:tc>
                  <a:txBody>
                    <a:bodyPr anchor="t">
                      <a:noAutofit/>
                    </a:bodyPr>
                    <a:p>
                      <a:pPr defTabSz="914400">
                        <a:lnSpc>
                          <a:spcPct val="100000"/>
                        </a:lnSpc>
                        <a:tabLst>
                          <a:tab algn="l" pos="0"/>
                        </a:tabLst>
                      </a:pPr>
                      <a:r>
                        <a:rPr lang="en-US" sz="950" b="0" u="none" strike="noStrike">
                          <a:solidFill>
                            <a:srgbClr val="ffffff"/>
                          </a:solidFill>
                          <a:effectLst/>
                          <a:uFillTx/>
                          <a:latin typeface="Calibri"/>
                        </a:rPr>
                        <a:t>DoS SSH (SSH_Flood)</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Media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ALTO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e65100"/>
                    </a:solidFill>
                  </a:tcPr>
                </a:tc>
                <a:tc>
                  <a:txBody>
                    <a:bodyPr anchor="t">
                      <a:noAutofit/>
                    </a:bodyPr>
                    <a:p>
                      <a:pPr defTabSz="914400">
                        <a:lnSpc>
                          <a:spcPct val="100000"/>
                        </a:lnSpc>
                        <a:tabLst>
                          <a:tab algn="l" pos="0"/>
                        </a:tabLst>
                      </a:pPr>
                      <a:r>
                        <a:rPr lang="en-US" sz="900" b="0" u="none" strike="noStrike">
                          <a:solidFill>
                            <a:srgbClr val="43a047"/>
                          </a:solidFill>
                          <a:effectLst/>
                          <a:uFillTx/>
                          <a:latin typeface="Calibri"/>
                        </a:rPr>
                        <a:t>MaxStartups · mod_evasive · Fail2Ban</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r h="475200">
                <a:tc>
                  <a:txBody>
                    <a:bodyPr anchor="t">
                      <a:noAutofit/>
                    </a:bodyPr>
                    <a:p>
                      <a:pPr defTabSz="914400">
                        <a:lnSpc>
                          <a:spcPct val="100000"/>
                        </a:lnSpc>
                        <a:tabLst>
                          <a:tab algn="l" pos="0"/>
                        </a:tabLst>
                      </a:pPr>
                      <a:r>
                        <a:rPr lang="en-US" sz="950" b="0" u="none" strike="noStrike">
                          <a:solidFill>
                            <a:srgbClr val="ffffff"/>
                          </a:solidFill>
                          <a:effectLst/>
                          <a:uFillTx/>
                          <a:latin typeface="Calibri"/>
                        </a:rPr>
                        <a:t>WordPress desactualizado (6.6.2)</a:t>
                      </a:r>
                      <a:endParaRPr lang="es-ES" sz="95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Medio</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0" u="none" strike="noStrike">
                          <a:solidFill>
                            <a:srgbClr val="cfd8dc"/>
                          </a:solidFill>
                          <a:effectLst/>
                          <a:uFillTx/>
                          <a:latin typeface="Calibri"/>
                        </a:rPr>
                        <a:t>Media</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c>
                  <a:txBody>
                    <a:bodyPr anchor="t">
                      <a:noAutofit/>
                    </a:bodyPr>
                    <a:p>
                      <a:pPr algn="ctr" defTabSz="914400">
                        <a:lnSpc>
                          <a:spcPct val="100000"/>
                        </a:lnSpc>
                        <a:tabLst>
                          <a:tab algn="l" pos="0"/>
                        </a:tabLst>
                      </a:pPr>
                      <a:r>
                        <a:rPr lang="en-US" sz="900" b="1" u="none" strike="noStrike">
                          <a:solidFill>
                            <a:srgbClr val="ffffff"/>
                          </a:solidFill>
                          <a:effectLst/>
                          <a:uFillTx/>
                          <a:latin typeface="Calibri"/>
                        </a:rPr>
                        <a:t>MEDIO</a:t>
                      </a:r>
                      <a:endParaRPr lang="es-ES" sz="900" b="0" u="none" strike="noStrike">
                        <a:solidFill>
                          <a:srgbClr val="000000"/>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f9a825"/>
                    </a:solidFill>
                  </a:tcPr>
                </a:tc>
                <a:tc>
                  <a:txBody>
                    <a:bodyPr anchor="t">
                      <a:noAutofit/>
                    </a:bodyPr>
                    <a:p>
                      <a:pPr defTabSz="914400">
                        <a:lnSpc>
                          <a:spcPct val="100000"/>
                        </a:lnSpc>
                        <a:tabLst>
                          <a:tab algn="l" pos="0"/>
                        </a:tabLst>
                      </a:pPr>
                      <a:r>
                        <a:rPr lang="en-US" sz="900" b="0" u="none" strike="noStrike">
                          <a:solidFill>
                            <a:srgbClr val="43a047"/>
                          </a:solidFill>
                          <a:effectLst/>
                          <a:uFillTx/>
                          <a:latin typeface="Calibri"/>
                        </a:rPr>
                        <a:t>Actualizar a ≥ 6.8.3</a:t>
                      </a:r>
                      <a:endParaRPr lang="es-ES" sz="900" b="0" u="none" strike="noStrike">
                        <a:solidFill>
                          <a:srgbClr val="ffffff"/>
                        </a:solidFill>
                        <a:effectLst/>
                        <a:uFillTx/>
                        <a:latin typeface="Arial"/>
                      </a:endParaRPr>
                    </a:p>
                  </a:txBody>
                  <a:tcPr anchor="t" marL="91440" marR="91440" marT="45720" marB="45720">
                    <a:lnL w="6480">
                      <a:solidFill>
                        <a:srgbClr val="1e3a5f"/>
                      </a:solidFill>
                      <a:prstDash val="solid"/>
                    </a:lnL>
                    <a:lnR w="6480">
                      <a:solidFill>
                        <a:srgbClr val="1e3a5f"/>
                      </a:solidFill>
                      <a:prstDash val="solid"/>
                    </a:lnR>
                    <a:lnT w="6480">
                      <a:solidFill>
                        <a:srgbClr val="1e3a5f"/>
                      </a:solidFill>
                      <a:prstDash val="solid"/>
                    </a:lnT>
                    <a:lnB w="6480">
                      <a:solidFill>
                        <a:srgbClr val="1e3a5f"/>
                      </a:solidFill>
                      <a:prstDash val="solid"/>
                    </a:lnB>
                    <a:solidFill>
                      <a:srgbClr val="1b2a3b"/>
                    </a:solidFill>
                  </a:tcPr>
                </a:tc>
              </a:tr>
            </a:tbl>
          </a:graphicData>
        </a:graphic>
      </p:graphicFrame>
      <p:sp>
        <p:nvSpPr>
          <p:cNvPr id="505" name="Text 5"/>
          <p:cNvSpPr/>
          <p:nvPr/>
        </p:nvSpPr>
        <p:spPr>
          <a:xfrm>
            <a:off x="411480" y="4526280"/>
            <a:ext cx="3199680" cy="255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cfd8dc"/>
                </a:solidFill>
                <a:effectLst/>
                <a:uFillTx/>
                <a:latin typeface="Calibri"/>
                <a:ea typeface="Calibri"/>
              </a:rPr>
              <a:t>Riesgo residual post-hardening:</a:t>
            </a:r>
            <a:endParaRPr lang="es-ES" sz="1100" b="0" u="none" strike="noStrike">
              <a:solidFill>
                <a:srgbClr val="ffffff"/>
              </a:solidFill>
              <a:effectLst/>
              <a:uFillTx/>
              <a:latin typeface="Arial"/>
            </a:endParaRPr>
          </a:p>
        </p:txBody>
      </p:sp>
      <p:sp>
        <p:nvSpPr>
          <p:cNvPr id="506" name="Shape 6"/>
          <p:cNvSpPr/>
          <p:nvPr/>
        </p:nvSpPr>
        <p:spPr>
          <a:xfrm>
            <a:off x="3611880" y="4407480"/>
            <a:ext cx="157212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07" name="Text 7"/>
          <p:cNvSpPr/>
          <p:nvPr/>
        </p:nvSpPr>
        <p:spPr>
          <a:xfrm>
            <a:off x="3657600" y="4453200"/>
            <a:ext cx="14806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2e7d32"/>
                </a:solidFill>
                <a:effectLst/>
                <a:uFillTx/>
                <a:latin typeface="Calibri"/>
                <a:ea typeface="Calibri"/>
              </a:rPr>
              <a:t>0</a:t>
            </a:r>
            <a:endParaRPr lang="es-ES" sz="3200" b="0" u="none" strike="noStrike">
              <a:solidFill>
                <a:srgbClr val="ffffff"/>
              </a:solidFill>
              <a:effectLst/>
              <a:uFillTx/>
              <a:latin typeface="Arial"/>
            </a:endParaRPr>
          </a:p>
        </p:txBody>
      </p:sp>
      <p:sp>
        <p:nvSpPr>
          <p:cNvPr id="508" name="Text 8"/>
          <p:cNvSpPr/>
          <p:nvPr/>
        </p:nvSpPr>
        <p:spPr>
          <a:xfrm>
            <a:off x="3657600" y="5001840"/>
            <a:ext cx="1480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CRÍTICO restante</a:t>
            </a:r>
            <a:endParaRPr lang="es-ES" sz="1000" b="0" u="none" strike="noStrike">
              <a:solidFill>
                <a:srgbClr val="ffffff"/>
              </a:solidFill>
              <a:effectLst/>
              <a:uFillTx/>
              <a:latin typeface="Arial"/>
            </a:endParaRPr>
          </a:p>
        </p:txBody>
      </p:sp>
      <p:sp>
        <p:nvSpPr>
          <p:cNvPr id="509" name="Shape 9"/>
          <p:cNvSpPr/>
          <p:nvPr/>
        </p:nvSpPr>
        <p:spPr>
          <a:xfrm>
            <a:off x="5349240" y="4407480"/>
            <a:ext cx="157212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10" name="Text 10"/>
          <p:cNvSpPr/>
          <p:nvPr/>
        </p:nvSpPr>
        <p:spPr>
          <a:xfrm>
            <a:off x="5220000" y="4624560"/>
            <a:ext cx="1800000" cy="180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f9a825"/>
                </a:solidFill>
                <a:effectLst/>
                <a:uFillTx/>
                <a:latin typeface="Calibri"/>
                <a:ea typeface="Calibri"/>
              </a:rPr>
              <a:t>1 pendiente</a:t>
            </a:r>
            <a:endParaRPr lang="es-ES" sz="3200" b="0" u="none" strike="noStrike">
              <a:solidFill>
                <a:srgbClr val="ffffff"/>
              </a:solidFill>
              <a:effectLst/>
              <a:uFillTx/>
              <a:latin typeface="Arial"/>
            </a:endParaRPr>
          </a:p>
        </p:txBody>
      </p:sp>
      <p:sp>
        <p:nvSpPr>
          <p:cNvPr id="511" name="Text 11"/>
          <p:cNvSpPr/>
          <p:nvPr/>
        </p:nvSpPr>
        <p:spPr>
          <a:xfrm>
            <a:off x="5400000" y="5001840"/>
            <a:ext cx="1480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ALTO restante</a:t>
            </a:r>
            <a:endParaRPr lang="es-ES" sz="1000" b="0" u="none" strike="noStrike">
              <a:solidFill>
                <a:srgbClr val="ffffff"/>
              </a:solidFill>
              <a:effectLst/>
              <a:uFillTx/>
              <a:latin typeface="Arial"/>
            </a:endParaRPr>
          </a:p>
        </p:txBody>
      </p:sp>
      <p:sp>
        <p:nvSpPr>
          <p:cNvPr id="512" name="Shape 12"/>
          <p:cNvSpPr/>
          <p:nvPr/>
        </p:nvSpPr>
        <p:spPr>
          <a:xfrm>
            <a:off x="7086600" y="4407480"/>
            <a:ext cx="1572120" cy="1005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13" name="Text 13"/>
          <p:cNvSpPr/>
          <p:nvPr/>
        </p:nvSpPr>
        <p:spPr>
          <a:xfrm>
            <a:off x="6918120" y="4649760"/>
            <a:ext cx="1901880" cy="154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3200" b="1" u="none" strike="noStrike">
                <a:solidFill>
                  <a:srgbClr val="f9a825"/>
                </a:solidFill>
                <a:effectLst/>
                <a:uFillTx/>
                <a:latin typeface="Calibri"/>
                <a:ea typeface="Calibri"/>
              </a:rPr>
              <a:t>1 pendiente</a:t>
            </a:r>
            <a:endParaRPr lang="es-ES" sz="3200" b="0" u="none" strike="noStrike">
              <a:solidFill>
                <a:srgbClr val="ffffff"/>
              </a:solidFill>
              <a:effectLst/>
              <a:uFillTx/>
              <a:latin typeface="Arial"/>
            </a:endParaRPr>
          </a:p>
        </p:txBody>
      </p:sp>
      <p:sp>
        <p:nvSpPr>
          <p:cNvPr id="514" name="Text 14"/>
          <p:cNvSpPr/>
          <p:nvPr/>
        </p:nvSpPr>
        <p:spPr>
          <a:xfrm>
            <a:off x="7132320" y="5001840"/>
            <a:ext cx="1480680" cy="346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90a4ae"/>
                </a:solidFill>
                <a:effectLst/>
                <a:uFillTx/>
                <a:latin typeface="Calibri"/>
                <a:ea typeface="Calibri"/>
              </a:rPr>
              <a:t>MEDIO restante</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515" name="Shape 0"/>
          <p:cNvSpPr/>
          <p:nvPr/>
        </p:nvSpPr>
        <p:spPr>
          <a:xfrm>
            <a:off x="411480" y="713160"/>
            <a:ext cx="8321040" cy="360"/>
          </a:xfrm>
          <a:prstGeom prst="line">
            <a:avLst/>
          </a:prstGeom>
          <a:ln w="6350">
            <a:solidFill>
              <a:srgbClr val="1565c0"/>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16" name="Text 1"/>
          <p:cNvSpPr/>
          <p:nvPr/>
        </p:nvSpPr>
        <p:spPr>
          <a:xfrm>
            <a:off x="411480" y="749880"/>
            <a:ext cx="3656880" cy="200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1e88e5"/>
                </a:solidFill>
                <a:effectLst/>
                <a:uFillTx/>
                <a:latin typeface="Calibri"/>
                <a:ea typeface="Calibri"/>
              </a:rPr>
              <a:t>PLAN ESTRATÉGICO RECOMENDADO</a:t>
            </a:r>
            <a:endParaRPr lang="es-ES" sz="900" b="0" u="none" strike="noStrike">
              <a:solidFill>
                <a:srgbClr val="ffffff"/>
              </a:solidFill>
              <a:effectLst/>
              <a:uFillTx/>
              <a:latin typeface="Arial"/>
            </a:endParaRPr>
          </a:p>
        </p:txBody>
      </p:sp>
      <p:sp>
        <p:nvSpPr>
          <p:cNvPr id="517" name="Text 2"/>
          <p:cNvSpPr/>
          <p:nvPr/>
        </p:nvSpPr>
        <p:spPr>
          <a:xfrm>
            <a:off x="411480" y="841320"/>
            <a:ext cx="832032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800" b="1" u="none" strike="noStrike">
                <a:solidFill>
                  <a:srgbClr val="ffffff"/>
                </a:solidFill>
                <a:effectLst/>
                <a:uFillTx/>
                <a:latin typeface="Calibri"/>
                <a:ea typeface="Calibri"/>
              </a:rPr>
              <a:t>Roadmap GRC: Próximos Pasos</a:t>
            </a:r>
            <a:endParaRPr lang="es-ES" sz="2800" b="0" u="none" strike="noStrike">
              <a:solidFill>
                <a:srgbClr val="ffffff"/>
              </a:solidFill>
              <a:effectLst/>
              <a:uFillTx/>
              <a:latin typeface="Arial"/>
            </a:endParaRPr>
          </a:p>
        </p:txBody>
      </p:sp>
      <p:sp>
        <p:nvSpPr>
          <p:cNvPr id="518" name="Text 3"/>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Febrero 2026</a:t>
            </a:r>
            <a:endParaRPr lang="es-ES" sz="900" b="0" u="none" strike="noStrike">
              <a:solidFill>
                <a:srgbClr val="ffffff"/>
              </a:solidFill>
              <a:effectLst/>
              <a:uFillTx/>
              <a:latin typeface="Arial"/>
            </a:endParaRPr>
          </a:p>
        </p:txBody>
      </p:sp>
      <p:sp>
        <p:nvSpPr>
          <p:cNvPr id="519" name="Text 4"/>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16 / 17</a:t>
            </a:r>
            <a:endParaRPr lang="es-ES" sz="900" b="0" u="none" strike="noStrike">
              <a:solidFill>
                <a:srgbClr val="ffffff"/>
              </a:solidFill>
              <a:effectLst/>
              <a:uFillTx/>
              <a:latin typeface="Arial"/>
            </a:endParaRPr>
          </a:p>
        </p:txBody>
      </p:sp>
      <p:sp>
        <p:nvSpPr>
          <p:cNvPr id="520" name="Shape 5"/>
          <p:cNvSpPr/>
          <p:nvPr/>
        </p:nvSpPr>
        <p:spPr>
          <a:xfrm>
            <a:off x="411480" y="1261800"/>
            <a:ext cx="2742480" cy="3611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21" name="Shape 6"/>
          <p:cNvSpPr/>
          <p:nvPr/>
        </p:nvSpPr>
        <p:spPr>
          <a:xfrm>
            <a:off x="411480" y="1261800"/>
            <a:ext cx="2742480" cy="383400"/>
          </a:xfrm>
          <a:prstGeom prst="rect">
            <a:avLst/>
          </a:prstGeom>
          <a:solidFill>
            <a:srgbClr val="1565c0"/>
          </a:solidFill>
          <a:ln w="12700">
            <a:solidFill>
              <a:srgbClr val="1565c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22" name="Text 7"/>
          <p:cNvSpPr/>
          <p:nvPr/>
        </p:nvSpPr>
        <p:spPr>
          <a:xfrm>
            <a:off x="411480" y="1261800"/>
            <a:ext cx="2742480" cy="200520"/>
          </a:xfrm>
          <a:prstGeom prst="rect">
            <a:avLst/>
          </a:prstGeom>
          <a:noFill/>
          <a:ln w="0">
            <a:noFill/>
          </a:ln>
        </p:spPr>
        <p:style>
          <a:lnRef idx="0"/>
          <a:fillRef idx="0"/>
          <a:effectRef idx="0"/>
          <a:fontRef idx="minor"/>
        </p:style>
        <p:txBody>
          <a:bodyPr lIns="25560" rIns="25560" tIns="25560" bIns="25560" anchor="t">
            <a:noAutofit/>
          </a:bodyPr>
          <a:p>
            <a:pPr algn="ctr" defTabSz="914400">
              <a:lnSpc>
                <a:spcPct val="100000"/>
              </a:lnSpc>
              <a:tabLst>
                <a:tab algn="l" pos="0"/>
              </a:tabLst>
            </a:pPr>
            <a:r>
              <a:rPr lang="en-US" sz="1000" b="1" u="none" spc="99" strike="noStrike">
                <a:solidFill>
                  <a:srgbClr val="ffffff"/>
                </a:solidFill>
                <a:effectLst/>
                <a:uFillTx/>
                <a:latin typeface="Calibri"/>
                <a:ea typeface="Calibri"/>
              </a:rPr>
              <a:t>FASE 1  ·  Formalización</a:t>
            </a:r>
            <a:endParaRPr lang="es-ES" sz="1000" b="0" u="none" strike="noStrike">
              <a:solidFill>
                <a:srgbClr val="ffffff"/>
              </a:solidFill>
              <a:effectLst/>
              <a:uFillTx/>
              <a:latin typeface="Arial"/>
            </a:endParaRPr>
          </a:p>
        </p:txBody>
      </p:sp>
      <p:sp>
        <p:nvSpPr>
          <p:cNvPr id="523" name="Text 8"/>
          <p:cNvSpPr/>
          <p:nvPr/>
        </p:nvSpPr>
        <p:spPr>
          <a:xfrm>
            <a:off x="411480" y="1444680"/>
            <a:ext cx="2742480" cy="200520"/>
          </a:xfrm>
          <a:prstGeom prst="rect">
            <a:avLst/>
          </a:prstGeom>
          <a:noFill/>
          <a:ln w="0">
            <a:noFill/>
          </a:ln>
        </p:spPr>
        <p:style>
          <a:lnRef idx="0"/>
          <a:fillRef idx="0"/>
          <a:effectRef idx="0"/>
          <a:fontRef idx="minor"/>
        </p:style>
        <p:txBody>
          <a:bodyPr lIns="25560" rIns="25560" tIns="25560" bIns="25560" anchor="ctr">
            <a:noAutofit/>
          </a:bodyPr>
          <a:p>
            <a:pPr algn="ctr" defTabSz="914400">
              <a:lnSpc>
                <a:spcPct val="100000"/>
              </a:lnSpc>
              <a:tabLst>
                <a:tab algn="l" pos="0"/>
              </a:tabLst>
            </a:pPr>
            <a:r>
              <a:rPr lang="en-US" sz="900" b="0" u="none" strike="noStrike">
                <a:solidFill>
                  <a:srgbClr val="ffffff"/>
                </a:solidFill>
                <a:effectLst/>
                <a:uFillTx/>
                <a:latin typeface="Calibri"/>
                <a:ea typeface="Calibri"/>
              </a:rPr>
              <a:t>⏱ 1–2 meses</a:t>
            </a:r>
            <a:endParaRPr lang="es-ES" sz="900" b="0" u="none" strike="noStrike">
              <a:solidFill>
                <a:srgbClr val="ffffff"/>
              </a:solidFill>
              <a:effectLst/>
              <a:uFillTx/>
              <a:latin typeface="Arial"/>
            </a:endParaRPr>
          </a:p>
        </p:txBody>
      </p:sp>
      <p:sp>
        <p:nvSpPr>
          <p:cNvPr id="524" name="Shape 9"/>
          <p:cNvSpPr/>
          <p:nvPr/>
        </p:nvSpPr>
        <p:spPr>
          <a:xfrm>
            <a:off x="521280" y="173736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25" name="Text 10"/>
          <p:cNvSpPr/>
          <p:nvPr/>
        </p:nvSpPr>
        <p:spPr>
          <a:xfrm>
            <a:off x="612720" y="178308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565c0"/>
                </a:solidFill>
                <a:effectLst/>
                <a:uFillTx/>
                <a:latin typeface="Calibri"/>
                <a:ea typeface="Calibri"/>
              </a:rPr>
              <a:t>→ </a:t>
            </a:r>
            <a:r>
              <a:rPr lang="en-US" sz="1000" b="0" u="none" strike="noStrike">
                <a:solidFill>
                  <a:srgbClr val="cfd8dc"/>
                </a:solidFill>
                <a:effectLst/>
                <a:uFillTx/>
                <a:latin typeface="Calibri"/>
                <a:ea typeface="Calibri"/>
              </a:rPr>
              <a:t>Crear Política de Seguridad formal</a:t>
            </a:r>
            <a:endParaRPr lang="es-ES" sz="1000" b="0" u="none" strike="noStrike">
              <a:solidFill>
                <a:srgbClr val="ffffff"/>
              </a:solidFill>
              <a:effectLst/>
              <a:uFillTx/>
              <a:latin typeface="Arial"/>
            </a:endParaRPr>
          </a:p>
        </p:txBody>
      </p:sp>
      <p:sp>
        <p:nvSpPr>
          <p:cNvPr id="526" name="Shape 11"/>
          <p:cNvSpPr/>
          <p:nvPr/>
        </p:nvSpPr>
        <p:spPr>
          <a:xfrm>
            <a:off x="521280" y="248724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27" name="Text 12"/>
          <p:cNvSpPr/>
          <p:nvPr/>
        </p:nvSpPr>
        <p:spPr>
          <a:xfrm>
            <a:off x="612720" y="253296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565c0"/>
                </a:solidFill>
                <a:effectLst/>
                <a:uFillTx/>
                <a:latin typeface="Calibri"/>
                <a:ea typeface="Calibri"/>
              </a:rPr>
              <a:t>→ </a:t>
            </a:r>
            <a:r>
              <a:rPr lang="en-US" sz="1000" b="0" u="none" strike="noStrike">
                <a:solidFill>
                  <a:srgbClr val="cfd8dc"/>
                </a:solidFill>
                <a:effectLst/>
                <a:uFillTx/>
                <a:latin typeface="Calibri"/>
                <a:ea typeface="Calibri"/>
              </a:rPr>
              <a:t>Elaborar Análisis de Riesgos (ISO 27005)</a:t>
            </a:r>
            <a:endParaRPr lang="es-ES" sz="1000" b="0" u="none" strike="noStrike">
              <a:solidFill>
                <a:srgbClr val="ffffff"/>
              </a:solidFill>
              <a:effectLst/>
              <a:uFillTx/>
              <a:latin typeface="Arial"/>
            </a:endParaRPr>
          </a:p>
        </p:txBody>
      </p:sp>
      <p:sp>
        <p:nvSpPr>
          <p:cNvPr id="528" name="Shape 13"/>
          <p:cNvSpPr/>
          <p:nvPr/>
        </p:nvSpPr>
        <p:spPr>
          <a:xfrm>
            <a:off x="521280" y="323712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29" name="Text 14"/>
          <p:cNvSpPr/>
          <p:nvPr/>
        </p:nvSpPr>
        <p:spPr>
          <a:xfrm>
            <a:off x="612720" y="328284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565c0"/>
                </a:solidFill>
                <a:effectLst/>
                <a:uFillTx/>
                <a:latin typeface="Calibri"/>
                <a:ea typeface="Calibri"/>
              </a:rPr>
              <a:t>→ </a:t>
            </a:r>
            <a:r>
              <a:rPr lang="en-US" sz="1000" b="0" u="none" strike="noStrike">
                <a:solidFill>
                  <a:srgbClr val="cfd8dc"/>
                </a:solidFill>
                <a:effectLst/>
                <a:uFillTx/>
                <a:latin typeface="Calibri"/>
                <a:ea typeface="Calibri"/>
              </a:rPr>
              <a:t>Clasificar sistema según ENS (nivel MEDIO)</a:t>
            </a:r>
            <a:endParaRPr lang="es-ES" sz="1000" b="0" u="none" strike="noStrike">
              <a:solidFill>
                <a:srgbClr val="ffffff"/>
              </a:solidFill>
              <a:effectLst/>
              <a:uFillTx/>
              <a:latin typeface="Arial"/>
            </a:endParaRPr>
          </a:p>
        </p:txBody>
      </p:sp>
      <p:sp>
        <p:nvSpPr>
          <p:cNvPr id="530" name="Shape 15"/>
          <p:cNvSpPr/>
          <p:nvPr/>
        </p:nvSpPr>
        <p:spPr>
          <a:xfrm>
            <a:off x="521280" y="398664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31" name="Text 16"/>
          <p:cNvSpPr/>
          <p:nvPr/>
        </p:nvSpPr>
        <p:spPr>
          <a:xfrm>
            <a:off x="612720" y="403236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1565c0"/>
                </a:solidFill>
                <a:effectLst/>
                <a:uFillTx/>
                <a:latin typeface="Calibri"/>
                <a:ea typeface="Calibri"/>
              </a:rPr>
              <a:t>→ </a:t>
            </a:r>
            <a:r>
              <a:rPr lang="en-US" sz="1000" b="0" u="none" strike="noStrike">
                <a:solidFill>
                  <a:srgbClr val="cfd8dc"/>
                </a:solidFill>
                <a:effectLst/>
                <a:uFillTx/>
                <a:latin typeface="Calibri"/>
                <a:ea typeface="Calibri"/>
              </a:rPr>
              <a:t>Documentar SoA ISO 27001</a:t>
            </a:r>
            <a:endParaRPr lang="es-ES" sz="1000" b="0" u="none" strike="noStrike">
              <a:solidFill>
                <a:srgbClr val="ffffff"/>
              </a:solidFill>
              <a:effectLst/>
              <a:uFillTx/>
              <a:latin typeface="Arial"/>
            </a:endParaRPr>
          </a:p>
        </p:txBody>
      </p:sp>
      <p:sp>
        <p:nvSpPr>
          <p:cNvPr id="532" name="Shape 17"/>
          <p:cNvSpPr/>
          <p:nvPr/>
        </p:nvSpPr>
        <p:spPr>
          <a:xfrm>
            <a:off x="3364920" y="1261800"/>
            <a:ext cx="2742480" cy="3611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33" name="Shape 18"/>
          <p:cNvSpPr/>
          <p:nvPr/>
        </p:nvSpPr>
        <p:spPr>
          <a:xfrm>
            <a:off x="3364920" y="1261800"/>
            <a:ext cx="2742480" cy="383400"/>
          </a:xfrm>
          <a:prstGeom prst="rect">
            <a:avLst/>
          </a:prstGeom>
          <a:solidFill>
            <a:srgbClr val="e65100"/>
          </a:solidFill>
          <a:ln w="12700">
            <a:solidFill>
              <a:srgbClr val="e65100"/>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34" name="Text 19"/>
          <p:cNvSpPr/>
          <p:nvPr/>
        </p:nvSpPr>
        <p:spPr>
          <a:xfrm>
            <a:off x="3364920" y="1261800"/>
            <a:ext cx="2742480" cy="200520"/>
          </a:xfrm>
          <a:prstGeom prst="rect">
            <a:avLst/>
          </a:prstGeom>
          <a:noFill/>
          <a:ln w="0">
            <a:noFill/>
          </a:ln>
        </p:spPr>
        <p:style>
          <a:lnRef idx="0"/>
          <a:fillRef idx="0"/>
          <a:effectRef idx="0"/>
          <a:fontRef idx="minor"/>
        </p:style>
        <p:txBody>
          <a:bodyPr lIns="25560" rIns="25560" tIns="25560" bIns="25560" anchor="t">
            <a:noAutofit/>
          </a:bodyPr>
          <a:p>
            <a:pPr algn="ctr" defTabSz="914400">
              <a:lnSpc>
                <a:spcPct val="100000"/>
              </a:lnSpc>
              <a:tabLst>
                <a:tab algn="l" pos="0"/>
              </a:tabLst>
            </a:pPr>
            <a:r>
              <a:rPr lang="en-US" sz="1000" b="1" u="none" spc="99" strike="noStrike">
                <a:solidFill>
                  <a:srgbClr val="ffffff"/>
                </a:solidFill>
                <a:effectLst/>
                <a:uFillTx/>
                <a:latin typeface="Calibri"/>
                <a:ea typeface="Calibri"/>
              </a:rPr>
              <a:t>FASE 2  ·  Controles Técnicos</a:t>
            </a:r>
            <a:endParaRPr lang="es-ES" sz="1000" b="0" u="none" strike="noStrike">
              <a:solidFill>
                <a:srgbClr val="ffffff"/>
              </a:solidFill>
              <a:effectLst/>
              <a:uFillTx/>
              <a:latin typeface="Arial"/>
            </a:endParaRPr>
          </a:p>
        </p:txBody>
      </p:sp>
      <p:sp>
        <p:nvSpPr>
          <p:cNvPr id="535" name="Text 20"/>
          <p:cNvSpPr/>
          <p:nvPr/>
        </p:nvSpPr>
        <p:spPr>
          <a:xfrm>
            <a:off x="3364920" y="1444680"/>
            <a:ext cx="2742480" cy="200520"/>
          </a:xfrm>
          <a:prstGeom prst="rect">
            <a:avLst/>
          </a:prstGeom>
          <a:noFill/>
          <a:ln w="0">
            <a:noFill/>
          </a:ln>
        </p:spPr>
        <p:style>
          <a:lnRef idx="0"/>
          <a:fillRef idx="0"/>
          <a:effectRef idx="0"/>
          <a:fontRef idx="minor"/>
        </p:style>
        <p:txBody>
          <a:bodyPr lIns="25560" rIns="25560" tIns="25560" bIns="25560" anchor="ctr">
            <a:noAutofit/>
          </a:bodyPr>
          <a:p>
            <a:pPr algn="ctr" defTabSz="914400">
              <a:lnSpc>
                <a:spcPct val="100000"/>
              </a:lnSpc>
              <a:tabLst>
                <a:tab algn="l" pos="0"/>
              </a:tabLst>
            </a:pPr>
            <a:r>
              <a:rPr lang="en-US" sz="900" b="0" u="none" strike="noStrike">
                <a:solidFill>
                  <a:srgbClr val="ffffff"/>
                </a:solidFill>
                <a:effectLst/>
                <a:uFillTx/>
                <a:latin typeface="Calibri"/>
                <a:ea typeface="Calibri"/>
              </a:rPr>
              <a:t>⏱ 2–4 meses</a:t>
            </a:r>
            <a:endParaRPr lang="es-ES" sz="900" b="0" u="none" strike="noStrike">
              <a:solidFill>
                <a:srgbClr val="ffffff"/>
              </a:solidFill>
              <a:effectLst/>
              <a:uFillTx/>
              <a:latin typeface="Arial"/>
            </a:endParaRPr>
          </a:p>
        </p:txBody>
      </p:sp>
      <p:sp>
        <p:nvSpPr>
          <p:cNvPr id="536" name="Shape 21"/>
          <p:cNvSpPr/>
          <p:nvPr/>
        </p:nvSpPr>
        <p:spPr>
          <a:xfrm>
            <a:off x="3474720" y="173736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37" name="Text 22"/>
          <p:cNvSpPr/>
          <p:nvPr/>
        </p:nvSpPr>
        <p:spPr>
          <a:xfrm>
            <a:off x="3566160" y="178308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Implementar Fail2Ban permanente</a:t>
            </a:r>
            <a:endParaRPr lang="es-ES" sz="1000" b="0" u="none" strike="noStrike">
              <a:solidFill>
                <a:srgbClr val="ffffff"/>
              </a:solidFill>
              <a:effectLst/>
              <a:uFillTx/>
              <a:latin typeface="Arial"/>
            </a:endParaRPr>
          </a:p>
        </p:txBody>
      </p:sp>
      <p:sp>
        <p:nvSpPr>
          <p:cNvPr id="538" name="Shape 23"/>
          <p:cNvSpPr/>
          <p:nvPr/>
        </p:nvSpPr>
        <p:spPr>
          <a:xfrm>
            <a:off x="3474720" y="248724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39" name="Text 24"/>
          <p:cNvSpPr/>
          <p:nvPr/>
        </p:nvSpPr>
        <p:spPr>
          <a:xfrm>
            <a:off x="3566160" y="253296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Configurar WAF (Web App Firewall)</a:t>
            </a:r>
            <a:endParaRPr lang="es-ES" sz="1000" b="0" u="none" strike="noStrike">
              <a:solidFill>
                <a:srgbClr val="ffffff"/>
              </a:solidFill>
              <a:effectLst/>
              <a:uFillTx/>
              <a:latin typeface="Arial"/>
            </a:endParaRPr>
          </a:p>
        </p:txBody>
      </p:sp>
      <p:sp>
        <p:nvSpPr>
          <p:cNvPr id="540" name="Shape 25"/>
          <p:cNvSpPr/>
          <p:nvPr/>
        </p:nvSpPr>
        <p:spPr>
          <a:xfrm>
            <a:off x="3474720" y="323712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41" name="Text 26"/>
          <p:cNvSpPr/>
          <p:nvPr/>
        </p:nvSpPr>
        <p:spPr>
          <a:xfrm>
            <a:off x="3566160" y="328284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Implementar MFA para SSH</a:t>
            </a:r>
            <a:endParaRPr lang="es-ES" sz="1000" b="0" u="none" strike="noStrike">
              <a:solidFill>
                <a:srgbClr val="ffffff"/>
              </a:solidFill>
              <a:effectLst/>
              <a:uFillTx/>
              <a:latin typeface="Arial"/>
            </a:endParaRPr>
          </a:p>
        </p:txBody>
      </p:sp>
      <p:sp>
        <p:nvSpPr>
          <p:cNvPr id="542" name="Shape 27"/>
          <p:cNvSpPr/>
          <p:nvPr/>
        </p:nvSpPr>
        <p:spPr>
          <a:xfrm>
            <a:off x="3474720" y="398664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43" name="Text 28"/>
          <p:cNvSpPr/>
          <p:nvPr/>
        </p:nvSpPr>
        <p:spPr>
          <a:xfrm>
            <a:off x="3566160" y="403236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e65100"/>
                </a:solidFill>
                <a:effectLst/>
                <a:uFillTx/>
                <a:latin typeface="Calibri"/>
                <a:ea typeface="Calibri"/>
              </a:rPr>
              <a:t>→ </a:t>
            </a:r>
            <a:r>
              <a:rPr lang="en-US" sz="1000" b="0" u="none" strike="noStrike">
                <a:solidFill>
                  <a:srgbClr val="cfd8dc"/>
                </a:solidFill>
                <a:effectLst/>
                <a:uFillTx/>
                <a:latin typeface="Calibri"/>
                <a:ea typeface="Calibri"/>
              </a:rPr>
              <a:t>Desplegar SIEM (Wazuh / Elastic Stack)</a:t>
            </a:r>
            <a:endParaRPr lang="es-ES" sz="1000" b="0" u="none" strike="noStrike">
              <a:solidFill>
                <a:srgbClr val="ffffff"/>
              </a:solidFill>
              <a:effectLst/>
              <a:uFillTx/>
              <a:latin typeface="Arial"/>
            </a:endParaRPr>
          </a:p>
        </p:txBody>
      </p:sp>
      <p:sp>
        <p:nvSpPr>
          <p:cNvPr id="544" name="Shape 29"/>
          <p:cNvSpPr/>
          <p:nvPr/>
        </p:nvSpPr>
        <p:spPr>
          <a:xfrm>
            <a:off x="6318360" y="1261800"/>
            <a:ext cx="2742480" cy="361116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45" name="Shape 30"/>
          <p:cNvSpPr/>
          <p:nvPr/>
        </p:nvSpPr>
        <p:spPr>
          <a:xfrm>
            <a:off x="6318360" y="1261800"/>
            <a:ext cx="2742480" cy="38340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46" name="Text 31"/>
          <p:cNvSpPr/>
          <p:nvPr/>
        </p:nvSpPr>
        <p:spPr>
          <a:xfrm>
            <a:off x="6318360" y="1261800"/>
            <a:ext cx="2742480" cy="200520"/>
          </a:xfrm>
          <a:prstGeom prst="rect">
            <a:avLst/>
          </a:prstGeom>
          <a:noFill/>
          <a:ln w="0">
            <a:noFill/>
          </a:ln>
        </p:spPr>
        <p:style>
          <a:lnRef idx="0"/>
          <a:fillRef idx="0"/>
          <a:effectRef idx="0"/>
          <a:fontRef idx="minor"/>
        </p:style>
        <p:txBody>
          <a:bodyPr lIns="25560" rIns="25560" tIns="25560" bIns="25560" anchor="t">
            <a:noAutofit/>
          </a:bodyPr>
          <a:p>
            <a:pPr algn="ctr" defTabSz="914400">
              <a:lnSpc>
                <a:spcPct val="100000"/>
              </a:lnSpc>
              <a:tabLst>
                <a:tab algn="l" pos="0"/>
              </a:tabLst>
            </a:pPr>
            <a:r>
              <a:rPr lang="en-US" sz="1000" b="1" u="none" spc="99" strike="noStrike">
                <a:solidFill>
                  <a:srgbClr val="ffffff"/>
                </a:solidFill>
                <a:effectLst/>
                <a:uFillTx/>
                <a:latin typeface="Calibri"/>
                <a:ea typeface="Calibri"/>
              </a:rPr>
              <a:t>FASE 3  ·  Cumplimiento</a:t>
            </a:r>
            <a:endParaRPr lang="es-ES" sz="1000" b="0" u="none" strike="noStrike">
              <a:solidFill>
                <a:srgbClr val="ffffff"/>
              </a:solidFill>
              <a:effectLst/>
              <a:uFillTx/>
              <a:latin typeface="Arial"/>
            </a:endParaRPr>
          </a:p>
        </p:txBody>
      </p:sp>
      <p:sp>
        <p:nvSpPr>
          <p:cNvPr id="547" name="Text 32"/>
          <p:cNvSpPr/>
          <p:nvPr/>
        </p:nvSpPr>
        <p:spPr>
          <a:xfrm>
            <a:off x="6318360" y="1444680"/>
            <a:ext cx="2742480" cy="200520"/>
          </a:xfrm>
          <a:prstGeom prst="rect">
            <a:avLst/>
          </a:prstGeom>
          <a:noFill/>
          <a:ln w="0">
            <a:noFill/>
          </a:ln>
        </p:spPr>
        <p:style>
          <a:lnRef idx="0"/>
          <a:fillRef idx="0"/>
          <a:effectRef idx="0"/>
          <a:fontRef idx="minor"/>
        </p:style>
        <p:txBody>
          <a:bodyPr lIns="25560" rIns="25560" tIns="25560" bIns="25560" anchor="ctr">
            <a:noAutofit/>
          </a:bodyPr>
          <a:p>
            <a:pPr algn="ctr" defTabSz="914400">
              <a:lnSpc>
                <a:spcPct val="100000"/>
              </a:lnSpc>
              <a:tabLst>
                <a:tab algn="l" pos="0"/>
              </a:tabLst>
            </a:pPr>
            <a:r>
              <a:rPr lang="en-US" sz="900" b="0" u="none" strike="noStrike">
                <a:solidFill>
                  <a:srgbClr val="ffffff"/>
                </a:solidFill>
                <a:effectLst/>
                <a:uFillTx/>
                <a:latin typeface="Calibri"/>
                <a:ea typeface="Calibri"/>
              </a:rPr>
              <a:t>⏱ 4–6 meses</a:t>
            </a:r>
            <a:endParaRPr lang="es-ES" sz="900" b="0" u="none" strike="noStrike">
              <a:solidFill>
                <a:srgbClr val="ffffff"/>
              </a:solidFill>
              <a:effectLst/>
              <a:uFillTx/>
              <a:latin typeface="Arial"/>
            </a:endParaRPr>
          </a:p>
        </p:txBody>
      </p:sp>
      <p:sp>
        <p:nvSpPr>
          <p:cNvPr id="548" name="Shape 33"/>
          <p:cNvSpPr/>
          <p:nvPr/>
        </p:nvSpPr>
        <p:spPr>
          <a:xfrm>
            <a:off x="6428160" y="173736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49" name="Text 34"/>
          <p:cNvSpPr/>
          <p:nvPr/>
        </p:nvSpPr>
        <p:spPr>
          <a:xfrm>
            <a:off x="6519600" y="178308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2e7d32"/>
                </a:solidFill>
                <a:effectLst/>
                <a:uFillTx/>
                <a:latin typeface="Calibri"/>
                <a:ea typeface="Calibri"/>
              </a:rPr>
              <a:t>→ </a:t>
            </a:r>
            <a:r>
              <a:rPr lang="en-US" sz="1000" b="0" u="none" strike="noStrike">
                <a:solidFill>
                  <a:srgbClr val="cfd8dc"/>
                </a:solidFill>
                <a:effectLst/>
                <a:uFillTx/>
                <a:latin typeface="Calibri"/>
                <a:ea typeface="Calibri"/>
              </a:rPr>
              <a:t>Auditoría interna anual estructurada</a:t>
            </a:r>
            <a:endParaRPr lang="es-ES" sz="1000" b="0" u="none" strike="noStrike">
              <a:solidFill>
                <a:srgbClr val="ffffff"/>
              </a:solidFill>
              <a:effectLst/>
              <a:uFillTx/>
              <a:latin typeface="Arial"/>
            </a:endParaRPr>
          </a:p>
        </p:txBody>
      </p:sp>
      <p:sp>
        <p:nvSpPr>
          <p:cNvPr id="550" name="Shape 35"/>
          <p:cNvSpPr/>
          <p:nvPr/>
        </p:nvSpPr>
        <p:spPr>
          <a:xfrm>
            <a:off x="6428160" y="248724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51" name="Text 36"/>
          <p:cNvSpPr/>
          <p:nvPr/>
        </p:nvSpPr>
        <p:spPr>
          <a:xfrm>
            <a:off x="6519600" y="253296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2e7d32"/>
                </a:solidFill>
                <a:effectLst/>
                <a:uFillTx/>
                <a:latin typeface="Calibri"/>
                <a:ea typeface="Calibri"/>
              </a:rPr>
              <a:t>→ </a:t>
            </a:r>
            <a:r>
              <a:rPr lang="en-US" sz="1000" b="0" u="none" strike="noStrike">
                <a:solidFill>
                  <a:srgbClr val="cfd8dc"/>
                </a:solidFill>
                <a:effectLst/>
                <a:uFillTx/>
                <a:latin typeface="Calibri"/>
                <a:ea typeface="Calibri"/>
              </a:rPr>
              <a:t>Procedimiento formal de gestión de incidentes</a:t>
            </a:r>
            <a:endParaRPr lang="es-ES" sz="1000" b="0" u="none" strike="noStrike">
              <a:solidFill>
                <a:srgbClr val="ffffff"/>
              </a:solidFill>
              <a:effectLst/>
              <a:uFillTx/>
              <a:latin typeface="Arial"/>
            </a:endParaRPr>
          </a:p>
        </p:txBody>
      </p:sp>
      <p:sp>
        <p:nvSpPr>
          <p:cNvPr id="552" name="Shape 37"/>
          <p:cNvSpPr/>
          <p:nvPr/>
        </p:nvSpPr>
        <p:spPr>
          <a:xfrm>
            <a:off x="6428160" y="323712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53" name="Text 38"/>
          <p:cNvSpPr/>
          <p:nvPr/>
        </p:nvSpPr>
        <p:spPr>
          <a:xfrm>
            <a:off x="6519600" y="328284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2e7d32"/>
                </a:solidFill>
                <a:effectLst/>
                <a:uFillTx/>
                <a:latin typeface="Calibri"/>
                <a:ea typeface="Calibri"/>
              </a:rPr>
              <a:t>→ </a:t>
            </a:r>
            <a:r>
              <a:rPr lang="en-US" sz="1000" b="0" u="none" strike="noStrike">
                <a:solidFill>
                  <a:srgbClr val="cfd8dc"/>
                </a:solidFill>
                <a:effectLst/>
                <a:uFillTx/>
                <a:latin typeface="Calibri"/>
                <a:ea typeface="Calibri"/>
              </a:rPr>
              <a:t>Registro de evidencias ENS</a:t>
            </a:r>
            <a:endParaRPr lang="es-ES" sz="1000" b="0" u="none" strike="noStrike">
              <a:solidFill>
                <a:srgbClr val="ffffff"/>
              </a:solidFill>
              <a:effectLst/>
              <a:uFillTx/>
              <a:latin typeface="Arial"/>
            </a:endParaRPr>
          </a:p>
        </p:txBody>
      </p:sp>
      <p:sp>
        <p:nvSpPr>
          <p:cNvPr id="554" name="Shape 39"/>
          <p:cNvSpPr/>
          <p:nvPr/>
        </p:nvSpPr>
        <p:spPr>
          <a:xfrm>
            <a:off x="6428160" y="3986640"/>
            <a:ext cx="2541240" cy="657720"/>
          </a:xfrm>
          <a:prstGeom prst="rect">
            <a:avLst/>
          </a:prstGeom>
          <a:solidFill>
            <a:srgbClr val="0a1628"/>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55" name="Text 40"/>
          <p:cNvSpPr/>
          <p:nvPr/>
        </p:nvSpPr>
        <p:spPr>
          <a:xfrm>
            <a:off x="6519600" y="4032360"/>
            <a:ext cx="237672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u="none" strike="noStrike">
                <a:solidFill>
                  <a:srgbClr val="2e7d32"/>
                </a:solidFill>
                <a:effectLst/>
                <a:uFillTx/>
                <a:latin typeface="Calibri"/>
                <a:ea typeface="Calibri"/>
              </a:rPr>
              <a:t>→ </a:t>
            </a:r>
            <a:r>
              <a:rPr lang="en-US" sz="1000" b="0" u="none" strike="noStrike">
                <a:solidFill>
                  <a:srgbClr val="cfd8dc"/>
                </a:solidFill>
                <a:effectLst/>
                <a:uFillTx/>
                <a:latin typeface="Calibri"/>
                <a:ea typeface="Calibri"/>
              </a:rPr>
              <a:t>Evaluación para certificación ISO 27001</a:t>
            </a:r>
            <a:endParaRPr lang="es-ES" sz="1000" b="0" u="none" strike="noStrike">
              <a:solidFill>
                <a:srgbClr val="ffffff"/>
              </a:solidFill>
              <a:effectLst/>
              <a:uFillTx/>
              <a:latin typeface="Arial"/>
            </a:endParaRPr>
          </a:p>
        </p:txBody>
      </p:sp>
      <p:sp>
        <p:nvSpPr>
          <p:cNvPr id="556" name="Text 41"/>
          <p:cNvSpPr/>
          <p:nvPr/>
        </p:nvSpPr>
        <p:spPr>
          <a:xfrm>
            <a:off x="411480" y="4608720"/>
            <a:ext cx="832032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i="1" u="none" strike="noStrike">
                <a:solidFill>
                  <a:srgbClr val="90a4ae"/>
                </a:solidFill>
                <a:effectLst/>
                <a:uFillTx/>
                <a:latin typeface="Calibri"/>
                <a:ea typeface="Calibri"/>
              </a:rPr>
              <a:t>Madurez actual: Nivel 2 (Risk-Informed) según NIST CSF  ·  Objetivo: Nivel 4 (Adaptive) en 12 meses</a:t>
            </a:r>
            <a:endParaRPr lang="es-E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557" name="Shape 0"/>
          <p:cNvSpPr/>
          <p:nvPr/>
        </p:nvSpPr>
        <p:spPr>
          <a:xfrm>
            <a:off x="0" y="0"/>
            <a:ext cx="319320" cy="5142960"/>
          </a:xfrm>
          <a:prstGeom prst="rect">
            <a:avLst/>
          </a:prstGeom>
          <a:solidFill>
            <a:srgbClr val="2e7d32"/>
          </a:solidFill>
          <a:ln w="12700">
            <a:solidFill>
              <a:srgbClr val="2e7d32"/>
            </a:solidFill>
            <a:round/>
          </a:ln>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58" name="Shape 1"/>
          <p:cNvSpPr/>
          <p:nvPr/>
        </p:nvSpPr>
        <p:spPr>
          <a:xfrm>
            <a:off x="0" y="0"/>
            <a:ext cx="9143280" cy="72360"/>
          </a:xfrm>
          <a:prstGeom prst="rect">
            <a:avLst/>
          </a:prstGeom>
          <a:solidFill>
            <a:srgbClr val="43a047"/>
          </a:solidFill>
          <a:ln w="12700">
            <a:solidFill>
              <a:srgbClr val="43a047"/>
            </a:solidFill>
            <a:round/>
          </a:ln>
        </p:spPr>
        <p:style>
          <a:lnRef idx="0"/>
          <a:fillRef idx="0"/>
          <a:effectRef idx="0"/>
          <a:fontRef idx="minor"/>
        </p:style>
        <p:txBody>
          <a:bodyPr lIns="90000" rIns="90000" tIns="28080" bIns="28080" anchor="t">
            <a:noAutofit/>
          </a:bodyPr>
          <a:p>
            <a:pPr>
              <a:lnSpc>
                <a:spcPct val="100000"/>
              </a:lnSpc>
            </a:pPr>
            <a:endParaRPr lang="es-ES" sz="1800" b="0" u="none" strike="noStrike">
              <a:solidFill>
                <a:srgbClr val="ffffff"/>
              </a:solidFill>
              <a:effectLst/>
              <a:uFillTx/>
              <a:latin typeface="Arial"/>
            </a:endParaRPr>
          </a:p>
        </p:txBody>
      </p:sp>
      <p:sp>
        <p:nvSpPr>
          <p:cNvPr id="559" name="Shape 2"/>
          <p:cNvSpPr/>
          <p:nvPr/>
        </p:nvSpPr>
        <p:spPr>
          <a:xfrm>
            <a:off x="0" y="5070240"/>
            <a:ext cx="9143280" cy="72360"/>
          </a:xfrm>
          <a:prstGeom prst="rect">
            <a:avLst/>
          </a:prstGeom>
          <a:solidFill>
            <a:srgbClr val="2e7d32"/>
          </a:solidFill>
          <a:ln w="12700">
            <a:solidFill>
              <a:srgbClr val="2e7d32"/>
            </a:solidFill>
            <a:round/>
          </a:ln>
        </p:spPr>
        <p:style>
          <a:lnRef idx="0"/>
          <a:fillRef idx="0"/>
          <a:effectRef idx="0"/>
          <a:fontRef idx="minor"/>
        </p:style>
        <p:txBody>
          <a:bodyPr lIns="90000" rIns="90000" tIns="28080" bIns="28080" anchor="t">
            <a:noAutofit/>
          </a:bodyPr>
          <a:p>
            <a:pPr>
              <a:lnSpc>
                <a:spcPct val="100000"/>
              </a:lnSpc>
            </a:pPr>
            <a:endParaRPr lang="es-ES" sz="1800" b="0" u="none" strike="noStrike">
              <a:solidFill>
                <a:srgbClr val="ffffff"/>
              </a:solidFill>
              <a:effectLst/>
              <a:uFillTx/>
              <a:latin typeface="Arial"/>
            </a:endParaRPr>
          </a:p>
        </p:txBody>
      </p:sp>
      <p:sp>
        <p:nvSpPr>
          <p:cNvPr id="560" name="Text 3"/>
          <p:cNvSpPr/>
          <p:nvPr/>
        </p:nvSpPr>
        <p:spPr>
          <a:xfrm>
            <a:off x="457200" y="201240"/>
            <a:ext cx="82288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43a047"/>
                </a:solidFill>
                <a:effectLst/>
                <a:uFillTx/>
                <a:latin typeface="Calibri"/>
                <a:ea typeface="Calibri"/>
              </a:rPr>
              <a:t>CONCLUSIONES</a:t>
            </a:r>
            <a:endParaRPr lang="es-ES" sz="1100" b="0" u="none" strike="noStrike">
              <a:solidFill>
                <a:srgbClr val="ffffff"/>
              </a:solidFill>
              <a:effectLst/>
              <a:uFillTx/>
              <a:latin typeface="Arial"/>
            </a:endParaRPr>
          </a:p>
        </p:txBody>
      </p:sp>
      <p:sp>
        <p:nvSpPr>
          <p:cNvPr id="561" name="Text 4"/>
          <p:cNvSpPr/>
          <p:nvPr/>
        </p:nvSpPr>
        <p:spPr>
          <a:xfrm>
            <a:off x="457200" y="567000"/>
            <a:ext cx="822888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0" i="1" u="none" strike="noStrike">
                <a:solidFill>
                  <a:srgbClr val="ffffff"/>
                </a:solidFill>
                <a:effectLst/>
                <a:uFillTx/>
                <a:latin typeface="Calibri"/>
                <a:ea typeface="Calibri"/>
              </a:rPr>
              <a:t>El servidor ha sido endurecido. La base técnica es sólida para iniciar certificación.</a:t>
            </a:r>
            <a:endParaRPr lang="es-ES" sz="1400" b="0" u="none" strike="noStrike">
              <a:solidFill>
                <a:srgbClr val="ffffff"/>
              </a:solidFill>
              <a:effectLst/>
              <a:uFillTx/>
              <a:latin typeface="Arial"/>
            </a:endParaRPr>
          </a:p>
        </p:txBody>
      </p:sp>
      <p:sp>
        <p:nvSpPr>
          <p:cNvPr id="562" name="Shape 5"/>
          <p:cNvSpPr/>
          <p:nvPr/>
        </p:nvSpPr>
        <p:spPr>
          <a:xfrm>
            <a:off x="457200" y="987480"/>
            <a:ext cx="8229600" cy="360"/>
          </a:xfrm>
          <a:prstGeom prst="line">
            <a:avLst/>
          </a:prstGeom>
          <a:ln w="12700">
            <a:solidFill>
              <a:srgbClr val="2e7d32"/>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63" name="Shape 6"/>
          <p:cNvSpPr/>
          <p:nvPr/>
        </p:nvSpPr>
        <p:spPr>
          <a:xfrm>
            <a:off x="457200" y="1097280"/>
            <a:ext cx="4159800" cy="1572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64" name="Text 7"/>
          <p:cNvSpPr/>
          <p:nvPr/>
        </p:nvSpPr>
        <p:spPr>
          <a:xfrm>
            <a:off x="594360" y="1207080"/>
            <a:ext cx="388548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Intrusión Confirmada y Documentada</a:t>
            </a:r>
            <a:endParaRPr lang="es-ES" sz="1100" b="0" u="none" strike="noStrike">
              <a:solidFill>
                <a:srgbClr val="ffffff"/>
              </a:solidFill>
              <a:effectLst/>
              <a:uFillTx/>
              <a:latin typeface="Arial"/>
            </a:endParaRPr>
          </a:p>
        </p:txBody>
      </p:sp>
      <p:sp>
        <p:nvSpPr>
          <p:cNvPr id="565" name="Shape 8"/>
          <p:cNvSpPr/>
          <p:nvPr/>
        </p:nvSpPr>
        <p:spPr>
          <a:xfrm>
            <a:off x="594360" y="1536120"/>
            <a:ext cx="388620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66" name="Text 9"/>
          <p:cNvSpPr/>
          <p:nvPr/>
        </p:nvSpPr>
        <p:spPr>
          <a:xfrm>
            <a:off x="594360" y="1618560"/>
            <a:ext cx="3885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El análisis forense con Autopsy reconstruyó completamente la cadena de ataque desde FTP hasta control root, con evidencias irrefutables.</a:t>
            </a:r>
            <a:endParaRPr lang="es-ES" sz="1000" b="0" u="none" strike="noStrike">
              <a:solidFill>
                <a:srgbClr val="ffffff"/>
              </a:solidFill>
              <a:effectLst/>
              <a:uFillTx/>
              <a:latin typeface="Arial"/>
            </a:endParaRPr>
          </a:p>
        </p:txBody>
      </p:sp>
      <p:sp>
        <p:nvSpPr>
          <p:cNvPr id="567" name="Shape 10"/>
          <p:cNvSpPr/>
          <p:nvPr/>
        </p:nvSpPr>
        <p:spPr>
          <a:xfrm>
            <a:off x="4800600" y="1097280"/>
            <a:ext cx="4159800" cy="1572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68" name="Text 11"/>
          <p:cNvSpPr/>
          <p:nvPr/>
        </p:nvSpPr>
        <p:spPr>
          <a:xfrm>
            <a:off x="4937760" y="1207080"/>
            <a:ext cx="388548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Superficie de Ataque Reducida</a:t>
            </a:r>
            <a:endParaRPr lang="es-ES" sz="1100" b="0" u="none" strike="noStrike">
              <a:solidFill>
                <a:srgbClr val="ffffff"/>
              </a:solidFill>
              <a:effectLst/>
              <a:uFillTx/>
              <a:latin typeface="Arial"/>
            </a:endParaRPr>
          </a:p>
        </p:txBody>
      </p:sp>
      <p:sp>
        <p:nvSpPr>
          <p:cNvPr id="569" name="Shape 12"/>
          <p:cNvSpPr/>
          <p:nvPr/>
        </p:nvSpPr>
        <p:spPr>
          <a:xfrm>
            <a:off x="4937760" y="1536120"/>
            <a:ext cx="388620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70" name="Text 13"/>
          <p:cNvSpPr/>
          <p:nvPr/>
        </p:nvSpPr>
        <p:spPr>
          <a:xfrm>
            <a:off x="4937760" y="1618560"/>
            <a:ext cx="3885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FTP eliminado, SSH endurecido con claves criptográficas, Apache sin directory listing y WordPress protegido.</a:t>
            </a:r>
            <a:endParaRPr lang="es-ES" sz="1000" b="0" u="none" strike="noStrike">
              <a:solidFill>
                <a:srgbClr val="ffffff"/>
              </a:solidFill>
              <a:effectLst/>
              <a:uFillTx/>
              <a:latin typeface="Arial"/>
            </a:endParaRPr>
          </a:p>
        </p:txBody>
      </p:sp>
      <p:sp>
        <p:nvSpPr>
          <p:cNvPr id="571" name="Shape 14"/>
          <p:cNvSpPr/>
          <p:nvPr/>
        </p:nvSpPr>
        <p:spPr>
          <a:xfrm>
            <a:off x="457200" y="2761560"/>
            <a:ext cx="4159800" cy="1572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72" name="Text 15"/>
          <p:cNvSpPr/>
          <p:nvPr/>
        </p:nvSpPr>
        <p:spPr>
          <a:xfrm>
            <a:off x="594360" y="2871360"/>
            <a:ext cx="388548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Cumplimiento Técnico Alcanzado</a:t>
            </a:r>
            <a:endParaRPr lang="es-ES" sz="1100" b="0" u="none" strike="noStrike">
              <a:solidFill>
                <a:srgbClr val="ffffff"/>
              </a:solidFill>
              <a:effectLst/>
              <a:uFillTx/>
              <a:latin typeface="Arial"/>
            </a:endParaRPr>
          </a:p>
        </p:txBody>
      </p:sp>
      <p:sp>
        <p:nvSpPr>
          <p:cNvPr id="573" name="Shape 16"/>
          <p:cNvSpPr/>
          <p:nvPr/>
        </p:nvSpPr>
        <p:spPr>
          <a:xfrm>
            <a:off x="594360" y="3200400"/>
            <a:ext cx="388620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74" name="Text 17"/>
          <p:cNvSpPr/>
          <p:nvPr/>
        </p:nvSpPr>
        <p:spPr>
          <a:xfrm>
            <a:off x="594360" y="3282840"/>
            <a:ext cx="3885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Se han aplicado controles alineados con ISO 27001, NIST CSF y ENS. El riesgo residual se ha reducido a nivel MEDIO-BAJO.</a:t>
            </a:r>
            <a:endParaRPr lang="es-ES" sz="1000" b="0" u="none" strike="noStrike">
              <a:solidFill>
                <a:srgbClr val="ffffff"/>
              </a:solidFill>
              <a:effectLst/>
              <a:uFillTx/>
              <a:latin typeface="Arial"/>
            </a:endParaRPr>
          </a:p>
        </p:txBody>
      </p:sp>
      <p:sp>
        <p:nvSpPr>
          <p:cNvPr id="575" name="Shape 18"/>
          <p:cNvSpPr/>
          <p:nvPr/>
        </p:nvSpPr>
        <p:spPr>
          <a:xfrm>
            <a:off x="4800600" y="2761560"/>
            <a:ext cx="4159800" cy="1572120"/>
          </a:xfrm>
          <a:prstGeom prst="rect">
            <a:avLst/>
          </a:prstGeom>
          <a:solidFill>
            <a:srgbClr val="1b2a3b"/>
          </a:solidFill>
          <a:ln w="12700">
            <a:solidFill>
              <a:srgbClr val="1e3a5f"/>
            </a:solidFill>
            <a:round/>
          </a:ln>
          <a:effectLst>
            <a:outerShdw algn="bl" blurRad="76320" dir="8100000" dist="25455" kx="0" ky="0" rotWithShape="0" sx="100000" sy="100000">
              <a:srgbClr val="000000">
                <a:alpha val="25000"/>
              </a:srgbClr>
            </a:outerShdw>
          </a:effectLst>
        </p:spPr>
        <p:style>
          <a:lnRef idx="0"/>
          <a:fillRef idx="0"/>
          <a:effectRef idx="0"/>
          <a:fontRef idx="minor"/>
        </p:style>
        <p:txBody>
          <a:bodyPr lIns="90000" rIns="90000" tIns="45000" bIns="45000" anchor="t">
            <a:noAutofit/>
          </a:bodyPr>
          <a:p>
            <a:pPr>
              <a:lnSpc>
                <a:spcPct val="100000"/>
              </a:lnSpc>
            </a:pPr>
            <a:endParaRPr lang="es-ES" sz="1800" b="0" u="none" strike="noStrike">
              <a:solidFill>
                <a:srgbClr val="ffffff"/>
              </a:solidFill>
              <a:effectLst/>
              <a:uFillTx/>
              <a:latin typeface="Arial"/>
            </a:endParaRPr>
          </a:p>
        </p:txBody>
      </p:sp>
      <p:sp>
        <p:nvSpPr>
          <p:cNvPr id="576" name="Text 19"/>
          <p:cNvSpPr/>
          <p:nvPr/>
        </p:nvSpPr>
        <p:spPr>
          <a:xfrm>
            <a:off x="4937760" y="2871360"/>
            <a:ext cx="3885480" cy="291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ffffff"/>
                </a:solidFill>
                <a:effectLst/>
                <a:uFillTx/>
                <a:latin typeface="Calibri"/>
                <a:ea typeface="Calibri"/>
              </a:rPr>
              <a:t>🚀  Próximos Pasos Críticos</a:t>
            </a:r>
            <a:endParaRPr lang="es-ES" sz="1100" b="0" u="none" strike="noStrike">
              <a:solidFill>
                <a:srgbClr val="ffffff"/>
              </a:solidFill>
              <a:effectLst/>
              <a:uFillTx/>
              <a:latin typeface="Arial"/>
            </a:endParaRPr>
          </a:p>
        </p:txBody>
      </p:sp>
      <p:sp>
        <p:nvSpPr>
          <p:cNvPr id="577" name="Shape 20"/>
          <p:cNvSpPr/>
          <p:nvPr/>
        </p:nvSpPr>
        <p:spPr>
          <a:xfrm>
            <a:off x="4937760" y="3200400"/>
            <a:ext cx="3886200" cy="360"/>
          </a:xfrm>
          <a:prstGeom prst="line">
            <a:avLst/>
          </a:prstGeom>
          <a:ln w="6350">
            <a:solidFill>
              <a:srgbClr val="1e3a5f"/>
            </a:solidFill>
            <a:round/>
          </a:ln>
        </p:spPr>
        <p:style>
          <a:lnRef idx="0"/>
          <a:fillRef idx="0"/>
          <a:effectRef idx="0"/>
          <a:fontRef idx="minor"/>
        </p:style>
        <p:txBody>
          <a:bodyPr lIns="90000" rIns="90000" tIns="-44640" bIns="-44640" anchor="t" anchorCtr="1">
            <a:noAutofit/>
          </a:bodyPr>
          <a:p>
            <a:endParaRPr lang="es-ES" sz="1800" b="0" u="none" strike="noStrike">
              <a:solidFill>
                <a:srgbClr val="ffffff"/>
              </a:solidFill>
              <a:effectLst/>
              <a:uFillTx/>
              <a:latin typeface="Arial"/>
            </a:endParaRPr>
          </a:p>
        </p:txBody>
      </p:sp>
      <p:sp>
        <p:nvSpPr>
          <p:cNvPr id="578" name="Text 21"/>
          <p:cNvSpPr/>
          <p:nvPr/>
        </p:nvSpPr>
        <p:spPr>
          <a:xfrm>
            <a:off x="4937760" y="3282840"/>
            <a:ext cx="3885480" cy="932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90a4ae"/>
                </a:solidFill>
                <a:effectLst/>
                <a:uFillTx/>
                <a:latin typeface="Calibri"/>
                <a:ea typeface="Calibri"/>
              </a:rPr>
              <a:t>Formalizar política de seguridad, implementar Fail2Ban + WAF + SIEM, actualizar WordPress a ≥ 6.8.3 y planificar auditoría interna.</a:t>
            </a:r>
            <a:endParaRPr lang="es-ES" sz="1000" b="0" u="none" strike="noStrike">
              <a:solidFill>
                <a:srgbClr val="ffffff"/>
              </a:solidFill>
              <a:effectLst/>
              <a:uFillTx/>
              <a:latin typeface="Arial"/>
            </a:endParaRPr>
          </a:p>
        </p:txBody>
      </p:sp>
      <p:sp>
        <p:nvSpPr>
          <p:cNvPr id="579" name="Text 22"/>
          <p:cNvSpPr/>
          <p:nvPr/>
        </p:nvSpPr>
        <p:spPr>
          <a:xfrm>
            <a:off x="411480" y="4846320"/>
            <a:ext cx="7497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90a4ae"/>
                </a:solidFill>
                <a:effectLst/>
                <a:uFillTx/>
                <a:latin typeface="Calibri"/>
                <a:ea typeface="Calibri"/>
              </a:rPr>
              <a:t>CONFIDENCIAL · 4Geeks · Raúl Molina Villalba · Febrero 2026</a:t>
            </a:r>
            <a:endParaRPr lang="es-ES" sz="900" b="0" u="none" strike="noStrike">
              <a:solidFill>
                <a:srgbClr val="ffffff"/>
              </a:solidFill>
              <a:effectLst/>
              <a:uFillTx/>
              <a:latin typeface="Arial"/>
            </a:endParaRPr>
          </a:p>
        </p:txBody>
      </p:sp>
      <p:sp>
        <p:nvSpPr>
          <p:cNvPr id="580" name="Text 23"/>
          <p:cNvSpPr/>
          <p:nvPr/>
        </p:nvSpPr>
        <p:spPr>
          <a:xfrm>
            <a:off x="8046720" y="4846320"/>
            <a:ext cx="776520" cy="182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lang="en-US" sz="900" b="0" u="none" strike="noStrike">
                <a:solidFill>
                  <a:srgbClr val="90a4ae"/>
                </a:solidFill>
                <a:effectLst/>
                <a:uFillTx/>
                <a:latin typeface="Calibri"/>
                <a:ea typeface="Calibri"/>
              </a:rPr>
              <a:t>17 / 17</a:t>
            </a:r>
            <a:endParaRPr lang="es-E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LibreOffice/25.8.4.2$Windows_X86_64 LibreOffice_project/290daaa01b999472f0c7a3890eb6a550fd74c6df</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2026-02-17T23:23:46Z</dcterms:created>
  <dc:creator>Raúl Molina Villalba</dc:creator>
  <dc:description/>
  <dc:language>es-ES</dc:language>
  <cp:lastModifiedBy/>
  <dcterms:modified xsi:type="dcterms:W3CDTF">2026-02-18T01:01:12Z</dcterms:modified>
  <cp:revision>3</cp:revision>
  <dc:subject>PptxGenJS Presentation</dc:subject>
  <dc:title>Informe de Análisis Forense Digital - 4Geeks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17</vt:i4>
  </property>
  <property fmtid="{D5CDD505-2E9C-101B-9397-08002B2CF9AE}" pid="3" name="PresentationFormat">
    <vt:lpwstr>On-screen Show (16:9)</vt:lpwstr>
  </property>
  <property fmtid="{D5CDD505-2E9C-101B-9397-08002B2CF9AE}" pid="4" name="Slides">
    <vt:i4>17</vt:i4>
  </property>
</Properties>
</file>