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731520"/>
            <a:ext cx="1371600" cy="1371600"/>
          </a:xfrm>
          <a:prstGeom prst="ellipse">
            <a:avLst/>
          </a:prstGeom>
          <a:solidFill>
            <a:srgbClr val="F85149">
              <a:alpha val="20000"/>
            </a:srgbClr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960120"/>
            <a:ext cx="914400" cy="914400"/>
          </a:xfrm>
          <a:prstGeom prst="ellipse">
            <a:avLst/>
          </a:prstGeom>
          <a:solidFill>
            <a:srgbClr val="F85149">
              <a:alpha val="4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65760"/>
            <a:ext cx="146304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CONFIDENCIAL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CIBERNÉTICA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no invertir en ciberseguridad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7432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4Geeks  |  </a:t>
            </a:r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2026  |  </a:t>
            </a:r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 </a:t>
            </a:r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85149">
              <a:alpha val="30000"/>
            </a:srgbClr>
          </a:solidFill>
          <a:ln w="12700">
            <a:solidFill>
              <a:srgbClr val="F85149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Debian WordPress · Cliente: 4Geeks · Febrero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CRÍTICO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2560320" cy="411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ORIGEN DEL ATAQUE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60020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habilitado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débiles en SSH y WordPress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gobierno de seguridad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monitorización preventiva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560320" cy="4114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ACCIONES DEL ATACANTE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5848" y="160020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inicial vía FTP anónimo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de fuerza bruta SSH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de privilegios a root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WordPress en texto plano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sistema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RESPUESTA EJECUTADA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27648" y="160020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forense digital (post-mortem)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Pentesting y auditoría ofensiva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Hardening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GRC: ISO 27001 / NIST / ENS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EMPRESARIAL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 tras el compromiso del servidor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1371600"/>
          </a:xfrm>
          <a:prstGeom prst="rect">
            <a:avLst/>
          </a:prstGeom>
          <a:solidFill>
            <a:srgbClr val="1C0A0A"/>
          </a:solidFill>
          <a:ln w="254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ANTES DEL HARDENING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Riesgo Máximo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45720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8A6FF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3840480" cy="1371600"/>
          </a:xfrm>
          <a:prstGeom prst="rect">
            <a:avLst/>
          </a:prstGeom>
          <a:solidFill>
            <a:srgbClr val="0A1C1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DESPUÉS DEL HARDENING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MEDIO-BAJO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Técnico · MEDIO Organizativo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43200"/>
            <a:ext cx="54864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no autorizado a infraestructura crítica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743200"/>
            <a:ext cx="27432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43200"/>
            <a:ext cx="54864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credenciales de base de datos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743200"/>
            <a:ext cx="27432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743200"/>
            <a:ext cx="54864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pérdida o alteración de información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27432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37560"/>
            <a:ext cx="54864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reputacional grave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3337560"/>
            <a:ext cx="27432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337560"/>
            <a:ext cx="54864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servicios (DoS)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337560"/>
            <a:ext cx="27432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337560"/>
            <a:ext cx="54864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337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normativo potencial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El problema no fue una vulnerabilidad zero-day — fue la falta de gobierno de seguridad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6400800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097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modelo de seguridad era </a:t>
            </a:r>
            <a:pPr algn="ctr" indent="0" marL="0">
              <a:buNone/>
            </a:pPr>
            <a:r>
              <a:rPr lang="en-US" sz="1600" b="1" dirty="0">
                <a:solidFill>
                  <a:srgbClr val="E3B341"/>
                </a:solidFill>
              </a:rPr>
              <a:t>REACTIVO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, no preventivo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1680"/>
            <a:ext cx="475488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48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Sin gobierno formal de seguridad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No existía política corporativa, responsables definidos ni procedimientos documentados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475488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Configuraciones por defecto inseguras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319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FTP anónimo activo, PermitRootLogin habilitado, sin restricción de servicios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31920"/>
            <a:ext cx="475488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319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68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Gestión débil de credenciales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2793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Contraseñas simples en SSH y WordPress, credenciales en texto plano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2011680"/>
            <a:ext cx="475488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01168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048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Sin monitoreo continuo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Nula detección de intentos de acceso, sin alertas ni logs analizados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2971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971800"/>
            <a:ext cx="475488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718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Sin análisis de riesgos documentado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319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No se habían identificado ni evaluado los activos críticos ni sus amenazas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¿Cuánto puede costar NO actuar?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097280"/>
            <a:ext cx="3657600" cy="914400"/>
          </a:xfrm>
          <a:prstGeom prst="rect">
            <a:avLst/>
          </a:prstGeom>
          <a:solidFill>
            <a:srgbClr val="1C0A0A"/>
          </a:solidFill>
          <a:ln w="254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5149"/>
                </a:solidFill>
              </a:rPr>
              <a:t>10.000 – 40.000 €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Solo en recuperación técnica (escenario crítico)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94560"/>
            <a:ext cx="4206240" cy="292608"/>
          </a:xfrm>
          <a:prstGeom prst="rect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INTERRUPCIÓN OPERATIVA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52374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del sitio web corporativo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directa de ingresos por hora de inactividad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Penalizaciones por incumplimiento SLA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extraordinarios de soporte externo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94560"/>
            <a:ext cx="4206240" cy="292608"/>
          </a:xfrm>
          <a:prstGeom prst="rect">
            <a:avLst/>
          </a:prstGeom>
          <a:solidFill>
            <a:srgbClr val="E3B341">
              <a:alpha val="8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DAÑO REPUTACIONAL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252374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confianza de clientes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Deterioro de imagen de marca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de contratos activos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en captación de nuevos clientes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66160"/>
            <a:ext cx="4206240" cy="292608"/>
          </a:xfrm>
          <a:prstGeom prst="rect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66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RIESGO LEGAL Y SANCIONES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89534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4% de facturación anual global (AEPD)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bajo normativa ENS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civiles y reclamaciones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legales y periciales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56616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566160"/>
            <a:ext cx="4206240" cy="29260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566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RIESGO ESTRATÉGICO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389534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en licitaciones públicas (ENS)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Imposibilidad de certificación ISO 27001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clientes enterprise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ventaja competitiva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vs. REACCIÓN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El coste de recuperación puede ser entre 5 y 10 veces superior al coste de prevención — NIST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1051560"/>
            <a:ext cx="1645920" cy="16459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49040" y="1051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5x – 10x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0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más caro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3291840" cy="3566160"/>
          </a:xfrm>
          <a:prstGeom prst="rect">
            <a:avLst/>
          </a:prstGeom>
          <a:solidFill>
            <a:srgbClr val="E8F5E9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329184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MODELO PREVENTIVO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y gobierno de seguridad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(Wazuh / Elastic)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permanente activo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configurado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obligatorio en accesos admin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continua de 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formal de riesgos (ISO 27005)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internas periódicas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4297680"/>
            <a:ext cx="3291840" cy="320040"/>
          </a:xfrm>
          <a:prstGeom prst="rect">
            <a:avLst/>
          </a:prstGeom>
          <a:solidFill>
            <a:srgbClr val="3FB950">
              <a:alpha val="7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2A"/>
                </a:solidFill>
              </a:rPr>
              <a:t>💰 COSTE: INVERSIÓN CONTROLADA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005840"/>
            <a:ext cx="3291840" cy="3566160"/>
          </a:xfrm>
          <a:prstGeom prst="rect">
            <a:avLst/>
          </a:prstGeom>
          <a:solidFill>
            <a:srgbClr val="FFEBEE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1005840"/>
            <a:ext cx="3291840" cy="411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MODELO REACTIVO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150876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 externo especializado urgente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 desde backups (si existen)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Reconfiguración total de infraestructura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legal obligatoria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de crisis corporativa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de identidad clientes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 no recuperables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inactividad no planificado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4297680"/>
            <a:ext cx="3291840" cy="320040"/>
          </a:xfrm>
          <a:prstGeom prst="rect">
            <a:avLst/>
          </a:prstGeom>
          <a:solidFill>
            <a:srgbClr val="F85149">
              <a:alpha val="7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💸 COSTE: 5–10x MÁS CARO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DE SEGURIDAD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Evaluación comparativa antes y después del hardening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"/>
            <a:ext cx="2468880" cy="640080"/>
          </a:xfrm>
          <a:prstGeom prst="rect">
            <a:avLst/>
          </a:prstGeom>
          <a:solidFill>
            <a:srgbClr val="58A6FF">
              <a:alpha val="80000"/>
            </a:srgbClr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82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Nivel 2 – </a:t>
            </a:r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Risk Informed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530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Madurez global NIST estimada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DIMENSIÓN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43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ANTES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143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DESPUÉS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PROGRESO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8412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819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Seguridad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15819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</a:rPr>
              <a:t>Inexistente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5819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Básico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783080"/>
            <a:ext cx="1371600" cy="16459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1783080"/>
            <a:ext cx="411480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58191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30%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240280"/>
            <a:ext cx="8412480" cy="566928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402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2240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</a:rPr>
              <a:t>Reactiva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240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Formalizable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2441448"/>
            <a:ext cx="1371600" cy="16459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441448"/>
            <a:ext cx="617220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2402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45%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898648"/>
            <a:ext cx="8412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986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Técnicos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66160" y="28986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</a:rPr>
              <a:t>Críticamente débiles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8986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Endurecidos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3099816"/>
            <a:ext cx="1371600" cy="16459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3099816"/>
            <a:ext cx="891540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8986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65%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57016"/>
            <a:ext cx="8412480" cy="566928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5701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566160" y="35570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</a:rPr>
              <a:t>Nula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35570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Básica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0" y="3758184"/>
            <a:ext cx="1371600" cy="16459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3758184"/>
            <a:ext cx="342900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35570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25%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15384"/>
            <a:ext cx="8412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21538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566160" y="421538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</a:rPr>
              <a:t>Bajo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421538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Medio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0" y="4416552"/>
            <a:ext cx="1371600" cy="164592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0" y="4416552"/>
            <a:ext cx="685800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42153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50%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ESTRATÉGICO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Hoja de ruta hacia un modelo de seguridad estructurado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7772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EE"/>
                </a:solidFill>
              </a:rPr>
              <a:t>FASE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Formalización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1901952"/>
            <a:ext cx="1645920" cy="256032"/>
          </a:xfrm>
          <a:prstGeom prst="rect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01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0–3 meses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Corporativa de Seguridad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Formal de Riesgos (ISO 27005)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responsables y segregación de funciones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oficial del sistema (ENS)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743200" cy="7772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EE"/>
                </a:solidFill>
              </a:rPr>
              <a:t>FASE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Controles Avanzados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94760" y="1901952"/>
            <a:ext cx="1645920" cy="256032"/>
          </a:xfrm>
          <a:prstGeom prst="rect">
            <a:avLst/>
          </a:prstGeom>
          <a:solidFill>
            <a:srgbClr val="E3B341">
              <a:alpha val="8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901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3–6 meses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Wazuh / Elastic Stack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permanente + WAF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obligatorio en accesos 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continua de logs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097280"/>
            <a:ext cx="2743200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EE"/>
                </a:solidFill>
              </a:rPr>
              <a:t>FASE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Cumplimiento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1901952"/>
            <a:ext cx="1645920" cy="256032"/>
          </a:xfrm>
          <a:prstGeom prst="rect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901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6–12 meses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28600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Applicability (SoA)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interna anual documentada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formal de incidentes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certificación ISO 27001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4360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Incidente de Seguridad · 4Geeks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ESTRATÉGICA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La dirección debe elegir el camino a seguir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49040" cy="2926080"/>
          </a:xfrm>
          <a:prstGeom prst="rect">
            <a:avLst/>
          </a:prstGeom>
          <a:solidFill>
            <a:srgbClr val="1C0A0A"/>
          </a:solidFill>
          <a:ln w="254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374904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OPCIÓN A – ENFOQUE REACTIVO MÍNIMO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429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invierte en seguridad estructurada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gobierno ni política formal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nuevos incidentes elevado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de recuperación 5–10x mayores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sanción regulatoria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reputacional permanente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certificaciones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3749040" cy="274320"/>
          </a:xfrm>
          <a:prstGeom prst="rect">
            <a:avLst/>
          </a:prstGeom>
          <a:solidFill>
            <a:srgbClr val="F85149">
              <a:alpha val="6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⚠ NO RECOMENDADA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9E"/>
                </a:solidFill>
              </a:rPr>
              <a:t>VS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1325880"/>
            <a:ext cx="3749040" cy="2926080"/>
          </a:xfrm>
          <a:prstGeom prst="rect">
            <a:avLst/>
          </a:prstGeom>
          <a:solidFill>
            <a:srgbClr val="0A1C1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325880"/>
            <a:ext cx="374904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OPCIÓN B – MODELO ESTRUCTURADO ISO 27001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1874520"/>
            <a:ext cx="3429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formal de seguridad implementado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y detección continua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técnico y organizativo controlado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previsibles e inversión planificada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demostrable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Habilitador comercial para clientes enterprise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hacia certificación ISO 27001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977640"/>
            <a:ext cx="3749040" cy="274320"/>
          </a:xfrm>
          <a:prstGeom prst="rect">
            <a:avLst/>
          </a:prstGeom>
          <a:solidFill>
            <a:srgbClr val="3FB950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✓ RECOMENDADA POR EL CONSULTOR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"No actuar no implica ahorro — </a:t>
            </a:r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implica trasladar el coste al futuro con multiplicador de riesgo"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Seguridad - Impacto de no Invertir en Ciberseguridad</dc:title>
  <dc:subject>PptxGenJS Presentation</dc:subject>
  <dc:creator>Consultor de Seguridad</dc:creator>
  <cp:lastModifiedBy>Consultor de Seguridad</cp:lastModifiedBy>
  <cp:revision>1</cp:revision>
  <dcterms:created xsi:type="dcterms:W3CDTF">2026-02-18T15:45:35Z</dcterms:created>
  <dcterms:modified xsi:type="dcterms:W3CDTF">2026-02-18T15:45:35Z</dcterms:modified>
</cp:coreProperties>
</file>